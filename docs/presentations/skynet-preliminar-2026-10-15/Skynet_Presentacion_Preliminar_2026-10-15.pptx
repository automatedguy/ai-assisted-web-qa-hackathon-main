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reunión: mostrar lo que ya funciona, explicar cómo está construido y acordar las prioridades. El nombre Autonomous se refiere a la ejecución de las comprobaciones: la decisión final sigue siendo humana. No se aplican correcciones al sitio automáticamente. Presentación sugerida: 15–20 minutos más preguntas; las dos últimas diapositivas son anexos.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Tenemos un prototipo funcional que cubre ocho categorías con seis módulos especializados. La corrida observada duró 62,536 segundos y produjo 22 hallazgos. Se visitaron tres páginas válidas y una respuesta HTML 404. Esto demuestra funcionamiento, no precisión/recall ni desempeño representativo. El despliegue y la persistencia aún requieren trabajo.
Fuente de verificación: Auditoría f5c05166 · 15/10/2026; código actual
Repositorio: commit 7c89229. Estado relevado el 15/10/2026.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desafío es auditar un sitio estático diferente cambiando entradas, sin modificar el código. Se verifican condiciones lingüísticas, editoriales, locales y de medios. No es hoy un sistema de pruebas funcionales de formularios ni de comparación visual de layouts. La plataforma conserva evidencia para que una persona decida.
Fuente de verificación: README.md; platform-template/README.md
Repositorio: commit 7c89229. Estado relevado el 15/10/2026.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perfil se carga en cada auditoría. SITE_URL, LINGUISTIC_ASSET_PATH, REFERENCE_CONTENT_PATH e ISSUE_SCHEMA_PATH definen las entradas. Las referencias se mapean por página. Los archivos montados se tratan como solo lectura. Reglas opcionales ausentes no se inventan; campos desconocidos no crean nuevas comprobaciones automáticamente. Las evidencias se conservan en su idioma original y se solicitan explicaciones en inglés.
Fuente de verificación: src/config.ts; reference-content.ts; docs/ISSUE_SCHEMA.json
Repositorio: commit 7c89229. Estado relevado el 15/10/2026.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versiones mostradas son las declaradas en package.json, no un inventario exacto de dependencias resueltas. El contenedor usa Node 22 slim. El frontend es HTML, CSS y JavaScript nativo; no React. No usamos un framework de agentes ni una base de datos. La integración OpenAI está en el backend; gpt-6-astra es el modelo configurado en la corrida observada, no un requisito fijo.
Fuente de verificación: package.json; Dockerfiles; src/server.ts
Repositorio: commit 7c89229. Estado relevado el 15/10/2026.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navegador llama a Express. POST /api/audits responde 202 y continúa en segundo plano dentro del mismo proceso Node. El coordinador carga entradas y ejecuta el crawler, luego despacha módulos especializados. Cinco tipos de agentes pueden usar el cliente compartido de modelos; Links es determinista. El estado queda en memoria. El dashboard consulta el último estado; no hay cola distribuida ni event bus.
Fuente de verificación: src/server.ts; src/orchestrator/audit.ts; src/agents/
Repositorio: commit 7c89229. Estado relevado el 15/10/2026.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audit inicia la ejecución. El perfil y schema se cargan primero; sin páginas HTML válidas el run falla. El crawler descubre páginas y recursos. El registro de agentes genera tareas por sitio o página. Se validan y deduplican hallazgos; el navegador ve actualizaciones por polling cada segundo. La revisión humana está disponible al terminar. Clear results elimina los resultados del servidor y sus decisiones de revisión.
Fuente de verificación: src/orchestrator/audit.ts; src/dashboard/public/app.js
Repositorio: commit 7c89229. Estado relevado el 15/10/2026.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plan es explícito: no hay un modelo que decida libremente qué agente usar. Links corre una vez para todo el sitio y los otros cinco agentes se despachan por página aplicable. Para tres páginas, esto genera 16 workers: 1 + 5×3. Como máximo corren dos simultáneamente. Un fallo no cancela los demás. Se preservan hallazgos deterministas válidos ante fallos del modelo. El cliente de IA tiene 60 segundos de timeout por intento y un reintento para errores transitorios.
Fuente de verificación: src/orchestrator/audit.ts; src/agents/model-check.ts
Repositorio: commit 7c89229. Estado relevado el 15/10/2026.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Agente y categoría no son lo mismo. Locale/Formatting agrupa dos categorías y Brand/Terminology otras dos. Links es determinista. Language, Brand y Translation usan modelo; Locale y Media mezclan comprobaciones deterministas con modelo. La fuente de cada verificación debe estar configurada o disponible. Cobertura implementada no implica que cada check se ejecute en cada página.
Fuente de verificación: src/agents/; registro en src/orchestrator/audit.ts
Repositorio: commit 7c89229. Estado relevado el 15/10/2026.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modelo devuelve estructura, pero no se confía ciegamente en ella. El coordinador valida schema y categorías. Los agentes de texto exigen citas presentes en sus entradas; Translation valida ambas fuentes por separado. La visión no se puede verificar como una subcadena de píxeles y se etiqueta como observación del modelo. La confianza es una estimación de la salida, no precisión calibrada. Verified confirma la existencia del problema, no su corrección.
Fuente de verificación: docs/ISSUE_SCHEMA.json; model-check.ts; translation-quality.ts; media.ts
Repositorio: commit 7c89229. Estado relevado el 15/10/2026.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primero el flujo visible: Run audit, crawl solo enlaces y Clear results. La barra resume estado, duración y hallazgos; el panel de actividad se abre bajo demanda. Pages distingue páginas exitosas de destinos rotos. Findings permite filtrar y revisar. La identidad visual utiliza cabecera oscura, superficie clara y acentos rojos. Captura de resultados existentes: no es una maqueta.
Fuente de verificación: Captura real del dashboard · localhost:3000
Repositorio: commit 7c89229. Estado relevado el 15/10/2026.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panel agrupa estados por agente y muestra los últimos 60 cambios observados en la pestaña. Las marcas horarias son de observación, no un log durable del servidor. Puede perder transiciones muy breves entre polls. Technical details contiene tiempos, intentos, tokens, costos y checks de medios. Los costos son desconocidos si faltan tarifas o uso; no se muestran como cero. La ausencia de imágenes o videos es no aplicable; otros skips y fallos conservan su significado.
Fuente de verificación: activity.js; polling de GET /api/audits/latest
Repositorio: commit 7c89229. Estado relevado el 15/10/2026.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tarjeta separa severidad, categoría y estado. La evidencia mantiene las citas originales. Expected y Suggested fix se agrupan, Details contiene confianza y selector. Las acciones guardan estado sin reconstruir la tarjeta ni cerrar los bloques expandidos. Un error de guardado se muestra dentro de la tarjeta. Las decisiones persisten solo en la sesión actual del servidor.
Fuente de verificación: issues-view.js; captura real de Translation Quality
Repositorio: commit 7c89229. Estado relevado el 15/10/2026.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About, sección Conoce al equipo, el primer video tiene un track con srclang es y etiqueta Español. La lectura real del WebVTT encontró cues en inglés. El agente reporta el XPath, URL del recurso y texto de evidencia. La corrección propuesta es español. La tarjeta está Verified porque el hallazgo se confirmó, pero no se ha editado el archivo de práctica. Mostrar en la demo activando los subtítulos Español.
Fuente de verificación: about.html:68; video/captions.vtt; hallazgo media-e3c90b8d03179145
Repositorio: commit 7c89229. Estado relevado el 15/10/2026.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corrida completada tiene 22 issues y duró 62,536 segundos. Las categorías suman 1 Links, 1 Language, 4 Locale, 1 Formatting, 3 Terminology, 2 Brand, 4 Translation y 6 Media. Se despacharon 16 workers y 15 completaron; Media/Pricing fue no aplicable. No confundir 4 respuestas HTML con 4 páginas válidas: una era un 404. No hay costo en dólares validado porque las tarifas no estaban configuradas.
Fuente de verificación: GET /api/audits/latest · 15/10/2026 13:57 ART
Repositorio: commit 7c89229. Estado relevado el 15/10/2026.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ejecutó la suite actual durante la preparación: 57 entradas TAP aprobadas, incluyendo grupos. Las pruebas usan sitios y APIs simuladas, no llamadas pagas. El typecheck pasó. Las comprobaciones de navegador cubrieron móvil, teclado, actualizaciones, filtros, expansión de evidencia y guardado/error de revisión. El smoke test real demuestra integración. Ninguno de estos reemplaza un benchmark humano de precisión y recall con ground truth.
Fuente de verificación: npm test + typecheck; pruebas de navegador; smoke test real
Repositorio: commit 7c89229. Estado relevado el 15/10/2026.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local, el sitio debe estar disponible en el puerto 8080 y el dashboard en 3000. npm run dev carga ../.env. El API key se mantiene en backend. Docker Compose define ambos servicios y montajes de solo lectura, pero todavía falta validación end to end de ese camino. El modelo y las tarifas se configuran por entorno. Ejecutar Run audit envía texto, referencias y medios a OpenAI y consume API.
Fuente de verificación: platform-template/README.md; docker-compose.yml; .env.example
Repositorio: commit 7c89229. Estado relevado el 15/10/2026.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servidor conserva solo el último run en memoria; reiniciar borra resultados. Links no cubre externos, locale de destino ni semántica de anclas. El crawler no ejecuta JavaScript ni valida layout. El límite de visitas es 50 y texto de página mayor a 24.000 caracteres falla el paso de modelo sin chunking. Media está limitado al mismo origen y formatos raster admitidos; verifica disponibilidad de video, no audio, frames ni sincronización. La calidad semántica requiere juicio humano.
Fuente de verificación: README: Current limits; crawler; media-resources; server.ts
Repositorio: commit 7c89229. Estado relevado el 15/10/2026.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siguiente tarea registrada es persistencia. Proponemos mantenerla como prioridad: runs, workers, findings y decisiones con timestamps, más pruebas de recuperación. Después validar Docker y la permanencia de datos. Ampliar Links para el catálogo completo. Ensayar con un sitio/perfil desconocido y medir precisión y recall sobre anotaciones humanas. Robustez adicional: chunking y consistencia de explicaciones. No se comprometen fechas ni esfuerzo estimado en esta presentación.
Fuente de verificación: docs/HANDOFF.md: Next Task; README: milestones
Repositorio: commit 7c89229. Estado relevado el 15/10/2026.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Propuesta de demo en cinco minutos: abrir el dashboard con resultados existentes, explicar el resumen, mostrar actividad y su detalle, revisar el hallazgo de subtítulos y ubicarlo en About, luego explicar los estados. Si se ejecuta una auditoría nueva, advertir que consume API y esperar aproximadamente un minuto en este sitio, sin prometer el mismo tiempo. No usar Clear results antes de mostrar los hallazgos. Decisiones: prioridad de persistencia, responsable del ensayo y criterios de calidad.
Fuente de verificación: Aplicación local; funcionalidades implementadas
Repositorio: commit 7c89229. Estado relevado el 15/10/2026.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endpoints existen hoy. Se permiten una auditoría o crawl activos; solicitudes concurrentes se rechazan con 409. DELETE results también rechaza durante ejecución. La revisión valida los estados admitidos. No hay API de historial durable, exportación de resultados ni cancelación de auditoría.
Fuente de verificación: src/server.ts
Repositorio: commit 7c89229. Estado relevado el 15/10/2026.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diagramas y las cifras se basan en el código, no solo en documentación histórica. AGENTS y partes del README raíz todavía describen el scaffold original; para el estado actual usar platform-template/README y src. La captura corresponde a una corrida real del 15 de octubre. Los archivos de esta presentación incluyen notas del expositor y capturas para reutilización.
Fuente de verificación: Repositorio 7c89229 · documentación y captura actual
Repositorio: commit 7c89229. Estado relevado el 15/10/2026.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pic>
        <p:nvPicPr>
          <p:cNvPr id="2" name="Image 0" descr="/Users/gabrielcespedes/customers/endava/ai-assisted-web-qa-hackathon-main/docs/presentations/skynet-preliminar-2026-10-15/assets/skynet-logo.png">    </p:cNvPr>
          <p:cNvPicPr>
            <a:picLocks noChangeAspect="1"/>
          </p:cNvPicPr>
          <p:nvPr/>
        </p:nvPicPr>
        <p:blipFill>
          <a:blip r:embed="rId1"/>
          <a:stretch>
            <a:fillRect/>
          </a:stretch>
        </p:blipFill>
        <p:spPr>
          <a:xfrm>
            <a:off x="685800" y="1223010"/>
            <a:ext cx="4023360" cy="2263140"/>
          </a:xfrm>
          <a:prstGeom prst="rect">
            <a:avLst/>
          </a:prstGeom>
        </p:spPr>
      </p:pic>
      <p:sp>
        <p:nvSpPr>
          <p:cNvPr id="3" name="Shape 0"/>
          <p:cNvSpPr/>
          <p:nvPr/>
        </p:nvSpPr>
        <p:spPr>
          <a:xfrm>
            <a:off x="5074920" y="960120"/>
            <a:ext cx="50292" cy="4434840"/>
          </a:xfrm>
          <a:prstGeom prst="rect">
            <a:avLst/>
          </a:prstGeom>
          <a:solidFill>
            <a:srgbClr val="A80000"/>
          </a:solidFill>
          <a:ln w="8890">
            <a:solidFill>
              <a:srgbClr val="A80000"/>
            </a:solidFill>
            <a:prstDash val="solid"/>
          </a:ln>
        </p:spPr>
      </p:sp>
      <p:sp>
        <p:nvSpPr>
          <p:cNvPr id="4" name="Text 1"/>
          <p:cNvSpPr/>
          <p:nvPr/>
        </p:nvSpPr>
        <p:spPr>
          <a:xfrm>
            <a:off x="5532120" y="1097280"/>
            <a:ext cx="5852160" cy="1600200"/>
          </a:xfrm>
          <a:prstGeom prst="rect">
            <a:avLst/>
          </a:prstGeom>
          <a:noFill/>
          <a:ln/>
        </p:spPr>
        <p:txBody>
          <a:bodyPr wrap="square" lIns="0" tIns="0" rIns="0" bIns="0" rtlCol="0" anchor="t">
            <a:normAutofit/>
          </a:bodyPr>
          <a:lstStyle/>
          <a:p>
            <a:pPr indent="0" marL="0">
              <a:buNone/>
            </a:pPr>
            <a:r>
              <a:rPr lang="en-US" sz="3900" b="1" dirty="0">
                <a:solidFill>
                  <a:srgbClr val="E5E5E7"/>
                </a:solidFill>
                <a:latin typeface="Arial" pitchFamily="34" charset="0"/>
                <a:ea typeface="Arial" pitchFamily="34" charset="-122"/>
                <a:cs typeface="Arial" pitchFamily="34" charset="-120"/>
              </a:rPr>
              <a:t>AUTONOMOUS</a:t>
            </a:r>
            <a:endParaRPr lang="en-US" sz="3900" dirty="0"/>
          </a:p>
          <a:p>
            <a:pPr indent="0" marL="0">
              <a:buNone/>
            </a:pPr>
            <a:r>
              <a:rPr lang="en-US" sz="3900" b="1" dirty="0">
                <a:solidFill>
                  <a:srgbClr val="E5E5E7"/>
                </a:solidFill>
                <a:latin typeface="Arial" pitchFamily="34" charset="0"/>
                <a:ea typeface="Arial" pitchFamily="34" charset="-122"/>
                <a:cs typeface="Arial" pitchFamily="34" charset="-120"/>
              </a:rPr>
              <a:t>QA PLATFORM</a:t>
            </a:r>
            <a:endParaRPr lang="en-US" sz="3900" dirty="0"/>
          </a:p>
        </p:txBody>
      </p:sp>
      <p:sp>
        <p:nvSpPr>
          <p:cNvPr id="5" name="Text 2"/>
          <p:cNvSpPr/>
          <p:nvPr/>
        </p:nvSpPr>
        <p:spPr>
          <a:xfrm>
            <a:off x="5559552" y="2999232"/>
            <a:ext cx="5486400" cy="914400"/>
          </a:xfrm>
          <a:prstGeom prst="rect">
            <a:avLst/>
          </a:prstGeom>
          <a:noFill/>
          <a:ln/>
        </p:spPr>
        <p:txBody>
          <a:bodyPr wrap="square" lIns="0" tIns="0" rIns="0" bIns="0" rtlCol="0" anchor="t">
            <a:normAutofit/>
          </a:bodyPr>
          <a:lstStyle/>
          <a:p>
            <a:pPr indent="0" marL="0">
              <a:buNone/>
            </a:pPr>
            <a:r>
              <a:rPr lang="en-US" sz="2500" dirty="0">
                <a:solidFill>
                  <a:srgbClr val="BDBDC4"/>
                </a:solidFill>
                <a:latin typeface="Arial" pitchFamily="34" charset="0"/>
                <a:ea typeface="Arial" pitchFamily="34" charset="-122"/>
                <a:cs typeface="Arial" pitchFamily="34" charset="-120"/>
              </a:rPr>
              <a:t>Auditoría web multiagente</a:t>
            </a:r>
            <a:endParaRPr lang="en-US" sz="2500" dirty="0"/>
          </a:p>
          <a:p>
            <a:pPr indent="0" marL="0">
              <a:buNone/>
            </a:pPr>
            <a:r>
              <a:rPr lang="en-US" sz="2500" dirty="0">
                <a:solidFill>
                  <a:srgbClr val="BDBDC4"/>
                </a:solidFill>
                <a:latin typeface="Arial" pitchFamily="34" charset="0"/>
                <a:ea typeface="Arial" pitchFamily="34" charset="-122"/>
                <a:cs typeface="Arial" pitchFamily="34" charset="-120"/>
              </a:rPr>
              <a:t>con revisión humana</a:t>
            </a:r>
            <a:endParaRPr lang="en-US" sz="2500" dirty="0"/>
          </a:p>
        </p:txBody>
      </p:sp>
      <p:sp>
        <p:nvSpPr>
          <p:cNvPr id="6" name="Text 3"/>
          <p:cNvSpPr/>
          <p:nvPr/>
        </p:nvSpPr>
        <p:spPr>
          <a:xfrm>
            <a:off x="5559552" y="4315968"/>
            <a:ext cx="5486400" cy="411480"/>
          </a:xfrm>
          <a:prstGeom prst="rect">
            <a:avLst/>
          </a:prstGeom>
          <a:noFill/>
          <a:ln/>
        </p:spPr>
        <p:txBody>
          <a:bodyPr wrap="square" lIns="0" tIns="0" rIns="0" bIns="0" rtlCol="0" anchor="t">
            <a:normAutofit/>
          </a:bodyPr>
          <a:lstStyle/>
          <a:p>
            <a:pPr indent="0" marL="0">
              <a:buNone/>
            </a:pPr>
            <a:r>
              <a:rPr lang="en-US" sz="1900" dirty="0">
                <a:solidFill>
                  <a:srgbClr val="FFFFFF"/>
                </a:solidFill>
                <a:latin typeface="Arial" pitchFamily="34" charset="0"/>
                <a:ea typeface="Arial" pitchFamily="34" charset="-122"/>
                <a:cs typeface="Arial" pitchFamily="34" charset="-120"/>
              </a:rPr>
              <a:t>Presentación preliminar para el equipo</a:t>
            </a:r>
            <a:endParaRPr lang="en-US" sz="1900" dirty="0"/>
          </a:p>
        </p:txBody>
      </p:sp>
      <p:sp>
        <p:nvSpPr>
          <p:cNvPr id="7" name="Text 4"/>
          <p:cNvSpPr/>
          <p:nvPr/>
        </p:nvSpPr>
        <p:spPr>
          <a:xfrm>
            <a:off x="5559552" y="4892040"/>
            <a:ext cx="5486400" cy="548640"/>
          </a:xfrm>
          <a:prstGeom prst="rect">
            <a:avLst/>
          </a:prstGeom>
          <a:noFill/>
          <a:ln/>
        </p:spPr>
        <p:txBody>
          <a:bodyPr wrap="square" lIns="0" tIns="0" rIns="0" bIns="0" rtlCol="0" anchor="t">
            <a:normAutofit/>
          </a:bodyPr>
          <a:lstStyle/>
          <a:p>
            <a:pPr indent="0" marL="0">
              <a:buNone/>
            </a:pPr>
            <a:r>
              <a:rPr lang="en-US" sz="1500" dirty="0">
                <a:solidFill>
                  <a:srgbClr val="AAAAAF"/>
                </a:solidFill>
                <a:latin typeface="Arial" pitchFamily="34" charset="0"/>
                <a:ea typeface="Arial" pitchFamily="34" charset="-122"/>
                <a:cs typeface="Arial" pitchFamily="34" charset="-120"/>
              </a:rPr>
              <a:t>15 de octubre de 2026  ·  Estado: prototipo funcional</a:t>
            </a:r>
            <a:endParaRPr lang="en-US" sz="1500" dirty="0"/>
          </a:p>
        </p:txBody>
      </p:sp>
      <p:sp>
        <p:nvSpPr>
          <p:cNvPr id="8" name="Shape 5"/>
          <p:cNvSpPr/>
          <p:nvPr/>
        </p:nvSpPr>
        <p:spPr>
          <a:xfrm>
            <a:off x="0" y="6492240"/>
            <a:ext cx="12192000" cy="45720"/>
          </a:xfrm>
          <a:prstGeom prst="rect">
            <a:avLst/>
          </a:prstGeom>
          <a:solidFill>
            <a:srgbClr val="A80000"/>
          </a:solidFill>
          <a:ln w="8890">
            <a:solidFill>
              <a:srgbClr val="A80000"/>
            </a:solidFill>
            <a:prstDash val="solid"/>
          </a:ln>
        </p:spPr>
      </p:sp>
      <p:sp>
        <p:nvSpPr>
          <p:cNvPr id="9" name="Text 6"/>
          <p:cNvSpPr/>
          <p:nvPr/>
        </p:nvSpPr>
        <p:spPr>
          <a:xfrm>
            <a:off x="685800" y="6080760"/>
            <a:ext cx="3657600" cy="228600"/>
          </a:xfrm>
          <a:prstGeom prst="rect">
            <a:avLst/>
          </a:prstGeom>
          <a:noFill/>
          <a:ln/>
        </p:spPr>
        <p:txBody>
          <a:bodyPr wrap="square" lIns="0" tIns="0" rIns="0" bIns="0" rtlCol="0" anchor="t">
            <a:normAutofit/>
          </a:bodyPr>
          <a:lstStyle/>
          <a:p>
            <a:pPr indent="0" marL="0">
              <a:buNone/>
            </a:pPr>
            <a:r>
              <a:rPr lang="en-US" sz="1100" dirty="0">
                <a:solidFill>
                  <a:srgbClr val="AAAAAF"/>
                </a:solidFill>
                <a:latin typeface="Arial" pitchFamily="34" charset="0"/>
                <a:ea typeface="Arial" pitchFamily="34" charset="-122"/>
                <a:cs typeface="Arial" pitchFamily="34" charset="-120"/>
              </a:rPr>
              <a:t>ENDAVA / HACKATHON</a:t>
            </a:r>
            <a:endParaRPr lang="en-US" sz="1100" dirty="0"/>
          </a:p>
        </p:txBody>
      </p:sp>
      <p:sp>
        <p:nvSpPr>
          <p:cNvPr id="10" name="Text 7"/>
          <p:cNvSpPr/>
          <p:nvPr/>
        </p:nvSpPr>
        <p:spPr>
          <a:xfrm>
            <a:off x="8321040" y="6080760"/>
            <a:ext cx="3108960" cy="228600"/>
          </a:xfrm>
          <a:prstGeom prst="rect">
            <a:avLst/>
          </a:prstGeom>
          <a:noFill/>
          <a:ln/>
        </p:spPr>
        <p:txBody>
          <a:bodyPr wrap="square" lIns="0" tIns="0" rIns="0" bIns="0" rtlCol="0" anchor="t">
            <a:normAutofit/>
          </a:bodyPr>
          <a:lstStyle/>
          <a:p>
            <a:pPr algn="r" indent="0" marL="0">
              <a:buNone/>
            </a:pPr>
            <a:r>
              <a:rPr lang="en-US" sz="1100" dirty="0">
                <a:solidFill>
                  <a:srgbClr val="AAAAAF"/>
                </a:solidFill>
                <a:latin typeface="Arial" pitchFamily="34" charset="0"/>
                <a:ea typeface="Arial" pitchFamily="34" charset="-122"/>
                <a:cs typeface="Arial" pitchFamily="34" charset="-120"/>
              </a:rPr>
              <a:t>Base de código: 7c89229</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4F5"/>
        </a:solidFill>
      </p:bgPr>
    </p:bg>
    <p:spTree>
      <p:nvGrpSpPr>
        <p:cNvPr id="1" name=""/>
        <p:cNvGrpSpPr/>
        <p:nvPr/>
      </p:nvGrpSpPr>
      <p:grpSpPr>
        <a:xfrm>
          <a:off x="0" y="0"/>
          <a:ext cx="0" cy="0"/>
          <a:chOff x="0" y="0"/>
          <a:chExt cx="0" cy="0"/>
        </a:xfrm>
      </p:grpSpPr>
      <p:sp>
        <p:nvSpPr>
          <p:cNvPr id="2" name="Shape 0"/>
          <p:cNvSpPr/>
          <p:nvPr/>
        </p:nvSpPr>
        <p:spPr>
          <a:xfrm>
            <a:off x="0" y="0"/>
            <a:ext cx="12192000" cy="68580"/>
          </a:xfrm>
          <a:prstGeom prst="rect">
            <a:avLst/>
          </a:prstGeom>
          <a:solidFill>
            <a:srgbClr val="A80000"/>
          </a:solidFill>
          <a:ln w="8890">
            <a:solidFill>
              <a:srgbClr val="A80000"/>
            </a:solidFill>
            <a:prstDash val="solid"/>
          </a:ln>
        </p:spPr>
      </p:sp>
      <p:sp>
        <p:nvSpPr>
          <p:cNvPr id="3" name="Text 1"/>
          <p:cNvSpPr/>
          <p:nvPr/>
        </p:nvSpPr>
        <p:spPr>
          <a:xfrm>
            <a:off x="594360" y="274320"/>
            <a:ext cx="10058400" cy="219456"/>
          </a:xfrm>
          <a:prstGeom prst="rect">
            <a:avLst/>
          </a:prstGeom>
          <a:noFill/>
          <a:ln/>
        </p:spPr>
        <p:txBody>
          <a:bodyPr wrap="square" lIns="0" tIns="0" rIns="0" bIns="0" rtlCol="0" anchor="t">
            <a:normAutofit/>
          </a:bodyPr>
          <a:lstStyle/>
          <a:p>
            <a:pPr indent="0" marL="0">
              <a:buNone/>
            </a:pPr>
            <a:r>
              <a:rPr lang="en-US" sz="1000" b="1" dirty="0">
                <a:solidFill>
                  <a:srgbClr val="A80000"/>
                </a:solidFill>
                <a:latin typeface="Arial" pitchFamily="34" charset="0"/>
                <a:ea typeface="Arial" pitchFamily="34" charset="-122"/>
                <a:cs typeface="Arial" pitchFamily="34" charset="-120"/>
              </a:rPr>
              <a:t>RESUMEN EJECUTIVO</a:t>
            </a:r>
            <a:endParaRPr lang="en-US" sz="1000" dirty="0"/>
          </a:p>
        </p:txBody>
      </p:sp>
      <p:sp>
        <p:nvSpPr>
          <p:cNvPr id="4" name="Text 2"/>
          <p:cNvSpPr/>
          <p:nvPr/>
        </p:nvSpPr>
        <p:spPr>
          <a:xfrm>
            <a:off x="594360" y="667512"/>
            <a:ext cx="10972800" cy="594360"/>
          </a:xfrm>
          <a:prstGeom prst="rect">
            <a:avLst/>
          </a:prstGeom>
          <a:noFill/>
          <a:ln/>
        </p:spPr>
        <p:txBody>
          <a:bodyPr wrap="square" lIns="0" tIns="0" rIns="0" bIns="0" rtlCol="0" anchor="t">
            <a:normAutofit/>
          </a:bodyPr>
          <a:lstStyle/>
          <a:p>
            <a:pPr indent="0" marL="0">
              <a:buNone/>
            </a:pPr>
            <a:r>
              <a:rPr lang="en-US" sz="3000" b="1" dirty="0">
                <a:solidFill>
                  <a:srgbClr val="242426"/>
                </a:solidFill>
                <a:latin typeface="Arial" pitchFamily="34" charset="0"/>
                <a:ea typeface="Arial" pitchFamily="34" charset="-122"/>
                <a:cs typeface="Arial" pitchFamily="34" charset="-120"/>
              </a:rPr>
              <a:t>Qué tenemos hoy</a:t>
            </a:r>
            <a:endParaRPr lang="en-US" sz="3000" dirty="0"/>
          </a:p>
        </p:txBody>
      </p:sp>
      <p:sp>
        <p:nvSpPr>
          <p:cNvPr id="5" name="Shape 3"/>
          <p:cNvSpPr/>
          <p:nvPr/>
        </p:nvSpPr>
        <p:spPr>
          <a:xfrm>
            <a:off x="594360" y="6428232"/>
            <a:ext cx="10972800" cy="0"/>
          </a:xfrm>
          <a:prstGeom prst="line">
            <a:avLst/>
          </a:prstGeom>
          <a:noFill/>
          <a:ln w="17780">
            <a:solidFill>
              <a:srgbClr val="DEDEE2"/>
            </a:solidFill>
            <a:prstDash val="solid"/>
          </a:ln>
        </p:spPr>
      </p:sp>
      <p:sp>
        <p:nvSpPr>
          <p:cNvPr id="6" name="Text 4"/>
          <p:cNvSpPr/>
          <p:nvPr/>
        </p:nvSpPr>
        <p:spPr>
          <a:xfrm>
            <a:off x="594360" y="6547104"/>
            <a:ext cx="3749040" cy="164592"/>
          </a:xfrm>
          <a:prstGeom prst="rect">
            <a:avLst/>
          </a:prstGeom>
          <a:noFill/>
          <a:ln/>
        </p:spPr>
        <p:txBody>
          <a:bodyPr wrap="square" lIns="0" tIns="0" rIns="0" bIns="0" rtlCol="0" anchor="t">
            <a:normAutofit/>
          </a:bodyPr>
          <a:lstStyle/>
          <a:p>
            <a:pPr indent="0" marL="0">
              <a:buNone/>
            </a:pPr>
            <a:r>
              <a:rPr lang="en-US" sz="900" dirty="0">
                <a:solidFill>
                  <a:srgbClr val="626269"/>
                </a:solidFill>
                <a:latin typeface="Arial" pitchFamily="34" charset="0"/>
                <a:ea typeface="Arial" pitchFamily="34" charset="-122"/>
                <a:cs typeface="Arial" pitchFamily="34" charset="-120"/>
              </a:rPr>
              <a:t>SKYNET · 15 OCT 2026 · PRELIMINAR</a:t>
            </a:r>
            <a:endParaRPr lang="en-US" sz="900" dirty="0"/>
          </a:p>
        </p:txBody>
      </p:sp>
      <p:sp>
        <p:nvSpPr>
          <p:cNvPr id="7" name="Text 5"/>
          <p:cNvSpPr/>
          <p:nvPr/>
        </p:nvSpPr>
        <p:spPr>
          <a:xfrm>
            <a:off x="3931920" y="6547104"/>
            <a:ext cx="7178040" cy="164592"/>
          </a:xfrm>
          <a:prstGeom prst="rect">
            <a:avLst/>
          </a:prstGeom>
          <a:noFill/>
          <a:ln/>
        </p:spPr>
        <p:txBody>
          <a:bodyPr wrap="square" lIns="0" tIns="0" rIns="0" bIns="0" rtlCol="0" anchor="t">
            <a:normAutofit/>
          </a:bodyPr>
          <a:lstStyle/>
          <a:p>
            <a:pPr algn="r" indent="0" marL="0">
              <a:buNone/>
            </a:pPr>
            <a:r>
              <a:rPr lang="en-US" sz="850" dirty="0">
                <a:solidFill>
                  <a:srgbClr val="626269"/>
                </a:solidFill>
                <a:latin typeface="Arial" pitchFamily="34" charset="0"/>
                <a:ea typeface="Arial" pitchFamily="34" charset="-122"/>
                <a:cs typeface="Arial" pitchFamily="34" charset="-120"/>
              </a:rPr>
              <a:t>Auditoría f5c05166 · 15/10/2026; código actual</a:t>
            </a:r>
            <a:endParaRPr lang="en-US" sz="850" dirty="0"/>
          </a:p>
        </p:txBody>
      </p:sp>
      <p:sp>
        <p:nvSpPr>
          <p:cNvPr id="8" name="Text 6"/>
          <p:cNvSpPr/>
          <p:nvPr/>
        </p:nvSpPr>
        <p:spPr>
          <a:xfrm>
            <a:off x="11292840" y="6510528"/>
            <a:ext cx="320040" cy="228600"/>
          </a:xfrm>
          <a:prstGeom prst="rect">
            <a:avLst/>
          </a:prstGeom>
          <a:noFill/>
          <a:ln/>
        </p:spPr>
        <p:txBody>
          <a:bodyPr wrap="square" lIns="0" tIns="0" rIns="0" bIns="0" rtlCol="0" anchor="t">
            <a:normAutofit/>
          </a:bodyPr>
          <a:lstStyle/>
          <a:p>
            <a:pPr algn="r" indent="0" marL="0">
              <a:buNone/>
            </a:pPr>
            <a:r>
              <a:rPr lang="en-US" sz="1100" b="1" dirty="0">
                <a:solidFill>
                  <a:srgbClr val="A80000"/>
                </a:solidFill>
                <a:latin typeface="Arial" pitchFamily="34" charset="0"/>
                <a:ea typeface="Arial" pitchFamily="34" charset="-122"/>
                <a:cs typeface="Arial" pitchFamily="34" charset="-120"/>
              </a:rPr>
              <a:t>02</a:t>
            </a:r>
            <a:endParaRPr lang="en-US" sz="1100" dirty="0"/>
          </a:p>
        </p:txBody>
      </p:sp>
      <p:sp>
        <p:nvSpPr>
          <p:cNvPr id="10" name="Text 7"/>
          <p:cNvSpPr/>
          <p:nvPr/>
        </p:nvSpPr>
        <p:spPr>
          <a:xfrm>
            <a:off x="594360" y="1280160"/>
            <a:ext cx="10972800" cy="457200"/>
          </a:xfrm>
          <a:prstGeom prst="rect">
            <a:avLst/>
          </a:prstGeom>
          <a:noFill/>
          <a:ln/>
        </p:spPr>
        <p:txBody>
          <a:bodyPr wrap="square" lIns="0" tIns="0" rIns="0" bIns="0" rtlCol="0" anchor="t">
            <a:normAutofit/>
          </a:bodyPr>
          <a:lstStyle/>
          <a:p>
            <a:pPr indent="0" marL="0">
              <a:buNone/>
            </a:pPr>
            <a:r>
              <a:rPr lang="en-US" sz="1700" dirty="0">
                <a:solidFill>
                  <a:srgbClr val="626269"/>
                </a:solidFill>
                <a:latin typeface="Arial" pitchFamily="34" charset="0"/>
                <a:ea typeface="Arial" pitchFamily="34" charset="-122"/>
                <a:cs typeface="Arial" pitchFamily="34" charset="-120"/>
              </a:rPr>
              <a:t>Un flujo completo: sitio + reglas → hallazgos con evidencia → revisión del equipo.</a:t>
            </a:r>
            <a:endParaRPr lang="en-US" sz="1700" dirty="0"/>
          </a:p>
        </p:txBody>
      </p:sp>
      <p:sp>
        <p:nvSpPr>
          <p:cNvPr id="11" name="Shape 8"/>
          <p:cNvSpPr/>
          <p:nvPr/>
        </p:nvSpPr>
        <p:spPr>
          <a:xfrm>
            <a:off x="594360" y="1874520"/>
            <a:ext cx="2578608" cy="1508760"/>
          </a:xfrm>
          <a:prstGeom prst="rect">
            <a:avLst/>
          </a:prstGeom>
          <a:solidFill>
            <a:srgbClr val="FFFFFF"/>
          </a:solidFill>
          <a:ln w="8890">
            <a:solidFill>
              <a:srgbClr val="DEDEE2"/>
            </a:solidFill>
            <a:prstDash val="solid"/>
          </a:ln>
        </p:spPr>
      </p:sp>
      <p:sp>
        <p:nvSpPr>
          <p:cNvPr id="12" name="Text 9"/>
          <p:cNvSpPr/>
          <p:nvPr/>
        </p:nvSpPr>
        <p:spPr>
          <a:xfrm>
            <a:off x="795528" y="2084832"/>
            <a:ext cx="2194560" cy="594360"/>
          </a:xfrm>
          <a:prstGeom prst="rect">
            <a:avLst/>
          </a:prstGeom>
          <a:noFill/>
          <a:ln/>
        </p:spPr>
        <p:txBody>
          <a:bodyPr wrap="square" lIns="0" tIns="0" rIns="0" bIns="0" rtlCol="0" anchor="t">
            <a:normAutofit/>
          </a:bodyPr>
          <a:lstStyle/>
          <a:p>
            <a:pPr indent="0" marL="0">
              <a:buNone/>
            </a:pPr>
            <a:r>
              <a:rPr lang="en-US" sz="3900" b="1" dirty="0">
                <a:solidFill>
                  <a:srgbClr val="A80000"/>
                </a:solidFill>
                <a:latin typeface="Arial" pitchFamily="34" charset="0"/>
                <a:ea typeface="Arial" pitchFamily="34" charset="-122"/>
                <a:cs typeface="Arial" pitchFamily="34" charset="-120"/>
              </a:rPr>
              <a:t>6</a:t>
            </a:r>
            <a:endParaRPr lang="en-US" sz="3900" dirty="0"/>
          </a:p>
        </p:txBody>
      </p:sp>
      <p:sp>
        <p:nvSpPr>
          <p:cNvPr id="13" name="Text 10"/>
          <p:cNvSpPr/>
          <p:nvPr/>
        </p:nvSpPr>
        <p:spPr>
          <a:xfrm>
            <a:off x="795528" y="2816352"/>
            <a:ext cx="2194560" cy="329184"/>
          </a:xfrm>
          <a:prstGeom prst="rect">
            <a:avLst/>
          </a:prstGeom>
          <a:noFill/>
          <a:ln/>
        </p:spPr>
        <p:txBody>
          <a:bodyPr wrap="square" lIns="0" tIns="0" rIns="0" bIns="0" rtlCol="0" anchor="t">
            <a:normAutofit/>
          </a:bodyPr>
          <a:lstStyle/>
          <a:p>
            <a:pPr indent="0" marL="0">
              <a:buNone/>
            </a:pPr>
            <a:r>
              <a:rPr lang="en-US" sz="1600" dirty="0">
                <a:solidFill>
                  <a:srgbClr val="626269"/>
                </a:solidFill>
                <a:latin typeface="Arial" pitchFamily="34" charset="0"/>
                <a:ea typeface="Arial" pitchFamily="34" charset="-122"/>
                <a:cs typeface="Arial" pitchFamily="34" charset="-120"/>
              </a:rPr>
              <a:t>agentes especializados</a:t>
            </a:r>
            <a:endParaRPr lang="en-US" sz="1600" dirty="0"/>
          </a:p>
        </p:txBody>
      </p:sp>
      <p:sp>
        <p:nvSpPr>
          <p:cNvPr id="14" name="Shape 11"/>
          <p:cNvSpPr/>
          <p:nvPr/>
        </p:nvSpPr>
        <p:spPr>
          <a:xfrm>
            <a:off x="3392424" y="1874520"/>
            <a:ext cx="2578608" cy="1508760"/>
          </a:xfrm>
          <a:prstGeom prst="rect">
            <a:avLst/>
          </a:prstGeom>
          <a:solidFill>
            <a:srgbClr val="FFFFFF"/>
          </a:solidFill>
          <a:ln w="8890">
            <a:solidFill>
              <a:srgbClr val="DEDEE2"/>
            </a:solidFill>
            <a:prstDash val="solid"/>
          </a:ln>
        </p:spPr>
      </p:sp>
      <p:sp>
        <p:nvSpPr>
          <p:cNvPr id="15" name="Text 12"/>
          <p:cNvSpPr/>
          <p:nvPr/>
        </p:nvSpPr>
        <p:spPr>
          <a:xfrm>
            <a:off x="3593592" y="2084832"/>
            <a:ext cx="2194560" cy="594360"/>
          </a:xfrm>
          <a:prstGeom prst="rect">
            <a:avLst/>
          </a:prstGeom>
          <a:noFill/>
          <a:ln/>
        </p:spPr>
        <p:txBody>
          <a:bodyPr wrap="square" lIns="0" tIns="0" rIns="0" bIns="0" rtlCol="0" anchor="t">
            <a:normAutofit/>
          </a:bodyPr>
          <a:lstStyle/>
          <a:p>
            <a:pPr indent="0" marL="0">
              <a:buNone/>
            </a:pPr>
            <a:r>
              <a:rPr lang="en-US" sz="3900" b="1" dirty="0">
                <a:solidFill>
                  <a:srgbClr val="A80000"/>
                </a:solidFill>
                <a:latin typeface="Arial" pitchFamily="34" charset="0"/>
                <a:ea typeface="Arial" pitchFamily="34" charset="-122"/>
                <a:cs typeface="Arial" pitchFamily="34" charset="-120"/>
              </a:rPr>
              <a:t>8</a:t>
            </a:r>
            <a:endParaRPr lang="en-US" sz="3900" dirty="0"/>
          </a:p>
        </p:txBody>
      </p:sp>
      <p:sp>
        <p:nvSpPr>
          <p:cNvPr id="16" name="Text 13"/>
          <p:cNvSpPr/>
          <p:nvPr/>
        </p:nvSpPr>
        <p:spPr>
          <a:xfrm>
            <a:off x="3593592" y="2816352"/>
            <a:ext cx="2194560" cy="329184"/>
          </a:xfrm>
          <a:prstGeom prst="rect">
            <a:avLst/>
          </a:prstGeom>
          <a:noFill/>
          <a:ln/>
        </p:spPr>
        <p:txBody>
          <a:bodyPr wrap="square" lIns="0" tIns="0" rIns="0" bIns="0" rtlCol="0" anchor="t">
            <a:normAutofit/>
          </a:bodyPr>
          <a:lstStyle/>
          <a:p>
            <a:pPr indent="0" marL="0">
              <a:buNone/>
            </a:pPr>
            <a:r>
              <a:rPr lang="en-US" sz="1600" dirty="0">
                <a:solidFill>
                  <a:srgbClr val="626269"/>
                </a:solidFill>
                <a:latin typeface="Arial" pitchFamily="34" charset="0"/>
                <a:ea typeface="Arial" pitchFamily="34" charset="-122"/>
                <a:cs typeface="Arial" pitchFamily="34" charset="-120"/>
              </a:rPr>
              <a:t>categorías implementadas</a:t>
            </a:r>
            <a:endParaRPr lang="en-US" sz="1600" dirty="0"/>
          </a:p>
        </p:txBody>
      </p:sp>
      <p:sp>
        <p:nvSpPr>
          <p:cNvPr id="17" name="Shape 14"/>
          <p:cNvSpPr/>
          <p:nvPr/>
        </p:nvSpPr>
        <p:spPr>
          <a:xfrm>
            <a:off x="6190488" y="1874520"/>
            <a:ext cx="2578608" cy="1508760"/>
          </a:xfrm>
          <a:prstGeom prst="rect">
            <a:avLst/>
          </a:prstGeom>
          <a:solidFill>
            <a:srgbClr val="FFFFFF"/>
          </a:solidFill>
          <a:ln w="8890">
            <a:solidFill>
              <a:srgbClr val="DEDEE2"/>
            </a:solidFill>
            <a:prstDash val="solid"/>
          </a:ln>
        </p:spPr>
      </p:sp>
      <p:sp>
        <p:nvSpPr>
          <p:cNvPr id="18" name="Text 15"/>
          <p:cNvSpPr/>
          <p:nvPr/>
        </p:nvSpPr>
        <p:spPr>
          <a:xfrm>
            <a:off x="6391656" y="2084832"/>
            <a:ext cx="2194560" cy="594360"/>
          </a:xfrm>
          <a:prstGeom prst="rect">
            <a:avLst/>
          </a:prstGeom>
          <a:noFill/>
          <a:ln/>
        </p:spPr>
        <p:txBody>
          <a:bodyPr wrap="square" lIns="0" tIns="0" rIns="0" bIns="0" rtlCol="0" anchor="t">
            <a:normAutofit/>
          </a:bodyPr>
          <a:lstStyle/>
          <a:p>
            <a:pPr indent="0" marL="0">
              <a:buNone/>
            </a:pPr>
            <a:r>
              <a:rPr lang="en-US" sz="3900" b="1" dirty="0">
                <a:solidFill>
                  <a:srgbClr val="A80000"/>
                </a:solidFill>
                <a:latin typeface="Arial" pitchFamily="34" charset="0"/>
                <a:ea typeface="Arial" pitchFamily="34" charset="-122"/>
                <a:cs typeface="Arial" pitchFamily="34" charset="-120"/>
              </a:rPr>
              <a:t>22</a:t>
            </a:r>
            <a:endParaRPr lang="en-US" sz="3900" dirty="0"/>
          </a:p>
        </p:txBody>
      </p:sp>
      <p:sp>
        <p:nvSpPr>
          <p:cNvPr id="19" name="Text 16"/>
          <p:cNvSpPr/>
          <p:nvPr/>
        </p:nvSpPr>
        <p:spPr>
          <a:xfrm>
            <a:off x="6391656" y="2816352"/>
            <a:ext cx="2194560" cy="329184"/>
          </a:xfrm>
          <a:prstGeom prst="rect">
            <a:avLst/>
          </a:prstGeom>
          <a:noFill/>
          <a:ln/>
        </p:spPr>
        <p:txBody>
          <a:bodyPr wrap="square" lIns="0" tIns="0" rIns="0" bIns="0" rtlCol="0" anchor="t">
            <a:normAutofit/>
          </a:bodyPr>
          <a:lstStyle/>
          <a:p>
            <a:pPr indent="0" marL="0">
              <a:buNone/>
            </a:pPr>
            <a:r>
              <a:rPr lang="en-US" sz="1600" dirty="0">
                <a:solidFill>
                  <a:srgbClr val="626269"/>
                </a:solidFill>
                <a:latin typeface="Arial" pitchFamily="34" charset="0"/>
                <a:ea typeface="Arial" pitchFamily="34" charset="-122"/>
                <a:cs typeface="Arial" pitchFamily="34" charset="-120"/>
              </a:rPr>
              <a:t>hallazgos en la demo</a:t>
            </a:r>
            <a:endParaRPr lang="en-US" sz="1600" dirty="0"/>
          </a:p>
        </p:txBody>
      </p:sp>
      <p:sp>
        <p:nvSpPr>
          <p:cNvPr id="20" name="Shape 17"/>
          <p:cNvSpPr/>
          <p:nvPr/>
        </p:nvSpPr>
        <p:spPr>
          <a:xfrm>
            <a:off x="8988552" y="1874520"/>
            <a:ext cx="2578608" cy="1508760"/>
          </a:xfrm>
          <a:prstGeom prst="rect">
            <a:avLst/>
          </a:prstGeom>
          <a:solidFill>
            <a:srgbClr val="FFFFFF"/>
          </a:solidFill>
          <a:ln w="8890">
            <a:solidFill>
              <a:srgbClr val="DEDEE2"/>
            </a:solidFill>
            <a:prstDash val="solid"/>
          </a:ln>
        </p:spPr>
      </p:sp>
      <p:sp>
        <p:nvSpPr>
          <p:cNvPr id="21" name="Text 18"/>
          <p:cNvSpPr/>
          <p:nvPr/>
        </p:nvSpPr>
        <p:spPr>
          <a:xfrm>
            <a:off x="9189720" y="2084832"/>
            <a:ext cx="2194560" cy="594360"/>
          </a:xfrm>
          <a:prstGeom prst="rect">
            <a:avLst/>
          </a:prstGeom>
          <a:noFill/>
          <a:ln/>
        </p:spPr>
        <p:txBody>
          <a:bodyPr wrap="square" lIns="0" tIns="0" rIns="0" bIns="0" rtlCol="0" anchor="t">
            <a:normAutofit/>
          </a:bodyPr>
          <a:lstStyle/>
          <a:p>
            <a:pPr indent="0" marL="0">
              <a:buNone/>
            </a:pPr>
            <a:r>
              <a:rPr lang="en-US" sz="3900" b="1" dirty="0">
                <a:solidFill>
                  <a:srgbClr val="A80000"/>
                </a:solidFill>
                <a:latin typeface="Arial" pitchFamily="34" charset="0"/>
                <a:ea typeface="Arial" pitchFamily="34" charset="-122"/>
                <a:cs typeface="Arial" pitchFamily="34" charset="-120"/>
              </a:rPr>
              <a:t>62,5 s</a:t>
            </a:r>
            <a:endParaRPr lang="en-US" sz="3900" dirty="0"/>
          </a:p>
        </p:txBody>
      </p:sp>
      <p:sp>
        <p:nvSpPr>
          <p:cNvPr id="22" name="Text 19"/>
          <p:cNvSpPr/>
          <p:nvPr/>
        </p:nvSpPr>
        <p:spPr>
          <a:xfrm>
            <a:off x="9189720" y="2816352"/>
            <a:ext cx="2194560" cy="329184"/>
          </a:xfrm>
          <a:prstGeom prst="rect">
            <a:avLst/>
          </a:prstGeom>
          <a:noFill/>
          <a:ln/>
        </p:spPr>
        <p:txBody>
          <a:bodyPr wrap="square" lIns="0" tIns="0" rIns="0" bIns="0" rtlCol="0" anchor="t">
            <a:normAutofit/>
          </a:bodyPr>
          <a:lstStyle/>
          <a:p>
            <a:pPr indent="0" marL="0">
              <a:buNone/>
            </a:pPr>
            <a:r>
              <a:rPr lang="en-US" sz="1600" dirty="0">
                <a:solidFill>
                  <a:srgbClr val="626269"/>
                </a:solidFill>
                <a:latin typeface="Arial" pitchFamily="34" charset="0"/>
                <a:ea typeface="Arial" pitchFamily="34" charset="-122"/>
                <a:cs typeface="Arial" pitchFamily="34" charset="-120"/>
              </a:rPr>
              <a:t>duración observada</a:t>
            </a:r>
            <a:endParaRPr lang="en-US" sz="1600" dirty="0"/>
          </a:p>
        </p:txBody>
      </p:sp>
      <p:sp>
        <p:nvSpPr>
          <p:cNvPr id="23" name="Shape 20"/>
          <p:cNvSpPr/>
          <p:nvPr/>
        </p:nvSpPr>
        <p:spPr>
          <a:xfrm>
            <a:off x="594360" y="3730752"/>
            <a:ext cx="5349240" cy="1691640"/>
          </a:xfrm>
          <a:prstGeom prst="rect">
            <a:avLst/>
          </a:prstGeom>
          <a:solidFill>
            <a:srgbClr val="FFFFFF"/>
          </a:solidFill>
          <a:ln w="8890">
            <a:solidFill>
              <a:srgbClr val="DEDEE2"/>
            </a:solidFill>
            <a:prstDash val="solid"/>
          </a:ln>
        </p:spPr>
      </p:sp>
      <p:sp>
        <p:nvSpPr>
          <p:cNvPr id="24" name="Shape 21"/>
          <p:cNvSpPr/>
          <p:nvPr/>
        </p:nvSpPr>
        <p:spPr>
          <a:xfrm>
            <a:off x="594360" y="3730752"/>
            <a:ext cx="50292" cy="1691640"/>
          </a:xfrm>
          <a:prstGeom prst="rect">
            <a:avLst/>
          </a:prstGeom>
          <a:solidFill>
            <a:srgbClr val="A80000"/>
          </a:solidFill>
          <a:ln w="8890">
            <a:solidFill>
              <a:srgbClr val="A80000"/>
            </a:solidFill>
            <a:prstDash val="solid"/>
          </a:ln>
        </p:spPr>
      </p:sp>
      <p:sp>
        <p:nvSpPr>
          <p:cNvPr id="25" name="Text 22"/>
          <p:cNvSpPr/>
          <p:nvPr/>
        </p:nvSpPr>
        <p:spPr>
          <a:xfrm>
            <a:off x="777240" y="3895344"/>
            <a:ext cx="4983480" cy="457200"/>
          </a:xfrm>
          <a:prstGeom prst="rect">
            <a:avLst/>
          </a:prstGeom>
          <a:noFill/>
          <a:ln/>
        </p:spPr>
        <p:txBody>
          <a:bodyPr wrap="square" lIns="0" tIns="0" rIns="0" bIns="0" rtlCol="0" anchor="t">
            <a:normAutofit/>
          </a:bodyPr>
          <a:lstStyle/>
          <a:p>
            <a:pPr indent="0" marL="0">
              <a:buNone/>
            </a:pPr>
            <a:r>
              <a:rPr lang="en-US" sz="2100" b="1" dirty="0">
                <a:solidFill>
                  <a:srgbClr val="242426"/>
                </a:solidFill>
                <a:latin typeface="Arial" pitchFamily="34" charset="0"/>
                <a:ea typeface="Arial" pitchFamily="34" charset="-122"/>
                <a:cs typeface="Arial" pitchFamily="34" charset="-120"/>
              </a:rPr>
              <a:t>Ya implementado</a:t>
            </a:r>
            <a:endParaRPr lang="en-US" sz="2100" dirty="0"/>
          </a:p>
        </p:txBody>
      </p:sp>
      <p:sp>
        <p:nvSpPr>
          <p:cNvPr id="26" name="Text 23"/>
          <p:cNvSpPr/>
          <p:nvPr/>
        </p:nvSpPr>
        <p:spPr>
          <a:xfrm>
            <a:off x="777240" y="4535424"/>
            <a:ext cx="4983480" cy="749808"/>
          </a:xfrm>
          <a:prstGeom prst="rect">
            <a:avLst/>
          </a:prstGeom>
          <a:noFill/>
          <a:ln/>
        </p:spPr>
        <p:txBody>
          <a:bodyPr wrap="square" lIns="0" tIns="0" rIns="0" bIns="0" rtlCol="0" anchor="t">
            <a:normAutofit/>
          </a:bodyPr>
          <a:lstStyle/>
          <a:p>
            <a:pPr indent="0" marL="0">
              <a:buNone/>
            </a:pPr>
            <a:r>
              <a:rPr lang="en-US" sz="2000" dirty="0">
                <a:solidFill>
                  <a:srgbClr val="626269"/>
                </a:solidFill>
                <a:latin typeface="Arial" pitchFamily="34" charset="0"/>
                <a:ea typeface="Arial" pitchFamily="34" charset="-122"/>
                <a:cs typeface="Arial" pitchFamily="34" charset="-120"/>
              </a:rPr>
              <a:t>Auditoría, revisión, actividad visible y configuración por archivos.</a:t>
            </a:r>
            <a:endParaRPr lang="en-US" sz="2000" dirty="0"/>
          </a:p>
        </p:txBody>
      </p:sp>
      <p:sp>
        <p:nvSpPr>
          <p:cNvPr id="27" name="Shape 24"/>
          <p:cNvSpPr/>
          <p:nvPr/>
        </p:nvSpPr>
        <p:spPr>
          <a:xfrm>
            <a:off x="6217920" y="3730752"/>
            <a:ext cx="5349240" cy="1691640"/>
          </a:xfrm>
          <a:prstGeom prst="rect">
            <a:avLst/>
          </a:prstGeom>
          <a:solidFill>
            <a:srgbClr val="FFFFFF"/>
          </a:solidFill>
          <a:ln w="8890">
            <a:solidFill>
              <a:srgbClr val="DEDEE2"/>
            </a:solidFill>
            <a:prstDash val="solid"/>
          </a:ln>
        </p:spPr>
      </p:sp>
      <p:sp>
        <p:nvSpPr>
          <p:cNvPr id="28" name="Shape 25"/>
          <p:cNvSpPr/>
          <p:nvPr/>
        </p:nvSpPr>
        <p:spPr>
          <a:xfrm>
            <a:off x="6217920" y="3730752"/>
            <a:ext cx="50292" cy="1691640"/>
          </a:xfrm>
          <a:prstGeom prst="rect">
            <a:avLst/>
          </a:prstGeom>
          <a:solidFill>
            <a:srgbClr val="85520E"/>
          </a:solidFill>
          <a:ln w="8890">
            <a:solidFill>
              <a:srgbClr val="85520E"/>
            </a:solidFill>
            <a:prstDash val="solid"/>
          </a:ln>
        </p:spPr>
      </p:sp>
      <p:sp>
        <p:nvSpPr>
          <p:cNvPr id="29" name="Text 26"/>
          <p:cNvSpPr/>
          <p:nvPr/>
        </p:nvSpPr>
        <p:spPr>
          <a:xfrm>
            <a:off x="6400800" y="3895344"/>
            <a:ext cx="4983480" cy="457200"/>
          </a:xfrm>
          <a:prstGeom prst="rect">
            <a:avLst/>
          </a:prstGeom>
          <a:noFill/>
          <a:ln/>
        </p:spPr>
        <p:txBody>
          <a:bodyPr wrap="square" lIns="0" tIns="0" rIns="0" bIns="0" rtlCol="0" anchor="t">
            <a:normAutofit/>
          </a:bodyPr>
          <a:lstStyle/>
          <a:p>
            <a:pPr indent="0" marL="0">
              <a:buNone/>
            </a:pPr>
            <a:r>
              <a:rPr lang="en-US" sz="2100" b="1" dirty="0">
                <a:solidFill>
                  <a:srgbClr val="242426"/>
                </a:solidFill>
                <a:latin typeface="Arial" pitchFamily="34" charset="0"/>
                <a:ea typeface="Arial" pitchFamily="34" charset="-122"/>
                <a:cs typeface="Arial" pitchFamily="34" charset="-120"/>
              </a:rPr>
              <a:t>Próximo foco</a:t>
            </a:r>
            <a:endParaRPr lang="en-US" sz="2100" dirty="0"/>
          </a:p>
        </p:txBody>
      </p:sp>
      <p:sp>
        <p:nvSpPr>
          <p:cNvPr id="30" name="Text 27"/>
          <p:cNvSpPr/>
          <p:nvPr/>
        </p:nvSpPr>
        <p:spPr>
          <a:xfrm>
            <a:off x="6400800" y="4535424"/>
            <a:ext cx="4983480" cy="749808"/>
          </a:xfrm>
          <a:prstGeom prst="rect">
            <a:avLst/>
          </a:prstGeom>
          <a:noFill/>
          <a:ln/>
        </p:spPr>
        <p:txBody>
          <a:bodyPr wrap="square" lIns="0" tIns="0" rIns="0" bIns="0" rtlCol="0" anchor="t">
            <a:normAutofit/>
          </a:bodyPr>
          <a:lstStyle/>
          <a:p>
            <a:pPr indent="0" marL="0">
              <a:buNone/>
            </a:pPr>
            <a:r>
              <a:rPr lang="en-US" sz="2000" dirty="0">
                <a:solidFill>
                  <a:srgbClr val="626269"/>
                </a:solidFill>
                <a:latin typeface="Arial" pitchFamily="34" charset="0"/>
                <a:ea typeface="Arial" pitchFamily="34" charset="-122"/>
                <a:cs typeface="Arial" pitchFamily="34" charset="-120"/>
              </a:rPr>
              <a:t>Persistencia, Docker integral y ensayo con entradas desconocidas.</a:t>
            </a:r>
            <a:endParaRPr lang="en-US" sz="2000" dirty="0"/>
          </a:p>
        </p:txBody>
      </p:sp>
      <p:sp>
        <p:nvSpPr>
          <p:cNvPr id="31" name="Text 28"/>
          <p:cNvSpPr/>
          <p:nvPr/>
        </p:nvSpPr>
        <p:spPr>
          <a:xfrm>
            <a:off x="594360" y="5760720"/>
            <a:ext cx="10972800" cy="320040"/>
          </a:xfrm>
          <a:prstGeom prst="rect">
            <a:avLst/>
          </a:prstGeom>
          <a:noFill/>
          <a:ln/>
        </p:spPr>
        <p:txBody>
          <a:bodyPr wrap="square" lIns="0" tIns="0" rIns="0" bIns="0" rtlCol="0" anchor="t">
            <a:normAutofit/>
          </a:bodyPr>
          <a:lstStyle/>
          <a:p>
            <a:pPr indent="0" marL="0">
              <a:buNone/>
            </a:pPr>
            <a:r>
              <a:rPr lang="en-US" sz="1600" dirty="0">
                <a:solidFill>
                  <a:srgbClr val="626269"/>
                </a:solidFill>
                <a:latin typeface="Arial" pitchFamily="34" charset="0"/>
                <a:ea typeface="Arial" pitchFamily="34" charset="-122"/>
                <a:cs typeface="Arial" pitchFamily="34" charset="-120"/>
              </a:rPr>
              <a:t>Corrida de práctica: 3 páginas válidas + 1 destino roto. No es un benchmark de calidad.</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4F5"/>
        </a:solidFill>
      </p:bgPr>
    </p:bg>
    <p:spTree>
      <p:nvGrpSpPr>
        <p:cNvPr id="1" name=""/>
        <p:cNvGrpSpPr/>
        <p:nvPr/>
      </p:nvGrpSpPr>
      <p:grpSpPr>
        <a:xfrm>
          <a:off x="0" y="0"/>
          <a:ext cx="0" cy="0"/>
          <a:chOff x="0" y="0"/>
          <a:chExt cx="0" cy="0"/>
        </a:xfrm>
      </p:grpSpPr>
      <p:sp>
        <p:nvSpPr>
          <p:cNvPr id="2" name="Shape 0"/>
          <p:cNvSpPr/>
          <p:nvPr/>
        </p:nvSpPr>
        <p:spPr>
          <a:xfrm>
            <a:off x="0" y="0"/>
            <a:ext cx="12192000" cy="68580"/>
          </a:xfrm>
          <a:prstGeom prst="rect">
            <a:avLst/>
          </a:prstGeom>
          <a:solidFill>
            <a:srgbClr val="A80000"/>
          </a:solidFill>
          <a:ln w="8890">
            <a:solidFill>
              <a:srgbClr val="A80000"/>
            </a:solidFill>
            <a:prstDash val="solid"/>
          </a:ln>
        </p:spPr>
      </p:sp>
      <p:sp>
        <p:nvSpPr>
          <p:cNvPr id="3" name="Text 1"/>
          <p:cNvSpPr/>
          <p:nvPr/>
        </p:nvSpPr>
        <p:spPr>
          <a:xfrm>
            <a:off x="594360" y="274320"/>
            <a:ext cx="10058400" cy="219456"/>
          </a:xfrm>
          <a:prstGeom prst="rect">
            <a:avLst/>
          </a:prstGeom>
          <a:noFill/>
          <a:ln/>
        </p:spPr>
        <p:txBody>
          <a:bodyPr wrap="square" lIns="0" tIns="0" rIns="0" bIns="0" rtlCol="0" anchor="t">
            <a:normAutofit/>
          </a:bodyPr>
          <a:lstStyle/>
          <a:p>
            <a:pPr indent="0" marL="0">
              <a:buNone/>
            </a:pPr>
            <a:r>
              <a:rPr lang="en-US" sz="1000" b="1" dirty="0">
                <a:solidFill>
                  <a:srgbClr val="A80000"/>
                </a:solidFill>
                <a:latin typeface="Arial" pitchFamily="34" charset="0"/>
                <a:ea typeface="Arial" pitchFamily="34" charset="-122"/>
                <a:cs typeface="Arial" pitchFamily="34" charset="-120"/>
              </a:rPr>
              <a:t>PROPÓSITO Y ALCANCE</a:t>
            </a:r>
            <a:endParaRPr lang="en-US" sz="1000" dirty="0"/>
          </a:p>
        </p:txBody>
      </p:sp>
      <p:sp>
        <p:nvSpPr>
          <p:cNvPr id="4" name="Text 2"/>
          <p:cNvSpPr/>
          <p:nvPr/>
        </p:nvSpPr>
        <p:spPr>
          <a:xfrm>
            <a:off x="594360" y="667512"/>
            <a:ext cx="10972800" cy="594360"/>
          </a:xfrm>
          <a:prstGeom prst="rect">
            <a:avLst/>
          </a:prstGeom>
          <a:noFill/>
          <a:ln/>
        </p:spPr>
        <p:txBody>
          <a:bodyPr wrap="square" lIns="0" tIns="0" rIns="0" bIns="0" rtlCol="0" anchor="t">
            <a:normAutofit/>
          </a:bodyPr>
          <a:lstStyle/>
          <a:p>
            <a:pPr indent="0" marL="0">
              <a:buNone/>
            </a:pPr>
            <a:r>
              <a:rPr lang="en-US" sz="3000" b="1" dirty="0">
                <a:solidFill>
                  <a:srgbClr val="242426"/>
                </a:solidFill>
                <a:latin typeface="Arial" pitchFamily="34" charset="0"/>
                <a:ea typeface="Arial" pitchFamily="34" charset="-122"/>
                <a:cs typeface="Arial" pitchFamily="34" charset="-120"/>
              </a:rPr>
              <a:t>El objetivo: QA de contenido reutilizable</a:t>
            </a:r>
            <a:endParaRPr lang="en-US" sz="3000" dirty="0"/>
          </a:p>
        </p:txBody>
      </p:sp>
      <p:sp>
        <p:nvSpPr>
          <p:cNvPr id="5" name="Shape 3"/>
          <p:cNvSpPr/>
          <p:nvPr/>
        </p:nvSpPr>
        <p:spPr>
          <a:xfrm>
            <a:off x="594360" y="6428232"/>
            <a:ext cx="10972800" cy="0"/>
          </a:xfrm>
          <a:prstGeom prst="line">
            <a:avLst/>
          </a:prstGeom>
          <a:noFill/>
          <a:ln w="17780">
            <a:solidFill>
              <a:srgbClr val="DEDEE2"/>
            </a:solidFill>
            <a:prstDash val="solid"/>
          </a:ln>
        </p:spPr>
      </p:sp>
      <p:sp>
        <p:nvSpPr>
          <p:cNvPr id="6" name="Text 4"/>
          <p:cNvSpPr/>
          <p:nvPr/>
        </p:nvSpPr>
        <p:spPr>
          <a:xfrm>
            <a:off x="594360" y="6547104"/>
            <a:ext cx="3749040" cy="164592"/>
          </a:xfrm>
          <a:prstGeom prst="rect">
            <a:avLst/>
          </a:prstGeom>
          <a:noFill/>
          <a:ln/>
        </p:spPr>
        <p:txBody>
          <a:bodyPr wrap="square" lIns="0" tIns="0" rIns="0" bIns="0" rtlCol="0" anchor="t">
            <a:normAutofit/>
          </a:bodyPr>
          <a:lstStyle/>
          <a:p>
            <a:pPr indent="0" marL="0">
              <a:buNone/>
            </a:pPr>
            <a:r>
              <a:rPr lang="en-US" sz="900" dirty="0">
                <a:solidFill>
                  <a:srgbClr val="626269"/>
                </a:solidFill>
                <a:latin typeface="Arial" pitchFamily="34" charset="0"/>
                <a:ea typeface="Arial" pitchFamily="34" charset="-122"/>
                <a:cs typeface="Arial" pitchFamily="34" charset="-120"/>
              </a:rPr>
              <a:t>SKYNET · 15 OCT 2026 · PRELIMINAR</a:t>
            </a:r>
            <a:endParaRPr lang="en-US" sz="900" dirty="0"/>
          </a:p>
        </p:txBody>
      </p:sp>
      <p:sp>
        <p:nvSpPr>
          <p:cNvPr id="7" name="Text 5"/>
          <p:cNvSpPr/>
          <p:nvPr/>
        </p:nvSpPr>
        <p:spPr>
          <a:xfrm>
            <a:off x="3931920" y="6547104"/>
            <a:ext cx="7178040" cy="164592"/>
          </a:xfrm>
          <a:prstGeom prst="rect">
            <a:avLst/>
          </a:prstGeom>
          <a:noFill/>
          <a:ln/>
        </p:spPr>
        <p:txBody>
          <a:bodyPr wrap="square" lIns="0" tIns="0" rIns="0" bIns="0" rtlCol="0" anchor="t">
            <a:normAutofit/>
          </a:bodyPr>
          <a:lstStyle/>
          <a:p>
            <a:pPr algn="r" indent="0" marL="0">
              <a:buNone/>
            </a:pPr>
            <a:r>
              <a:rPr lang="en-US" sz="850" dirty="0">
                <a:solidFill>
                  <a:srgbClr val="626269"/>
                </a:solidFill>
                <a:latin typeface="Arial" pitchFamily="34" charset="0"/>
                <a:ea typeface="Arial" pitchFamily="34" charset="-122"/>
                <a:cs typeface="Arial" pitchFamily="34" charset="-120"/>
              </a:rPr>
              <a:t>README.md; platform-template/README.md</a:t>
            </a:r>
            <a:endParaRPr lang="en-US" sz="850" dirty="0"/>
          </a:p>
        </p:txBody>
      </p:sp>
      <p:sp>
        <p:nvSpPr>
          <p:cNvPr id="8" name="Text 6"/>
          <p:cNvSpPr/>
          <p:nvPr/>
        </p:nvSpPr>
        <p:spPr>
          <a:xfrm>
            <a:off x="11292840" y="6510528"/>
            <a:ext cx="320040" cy="228600"/>
          </a:xfrm>
          <a:prstGeom prst="rect">
            <a:avLst/>
          </a:prstGeom>
          <a:noFill/>
          <a:ln/>
        </p:spPr>
        <p:txBody>
          <a:bodyPr wrap="square" lIns="0" tIns="0" rIns="0" bIns="0" rtlCol="0" anchor="t">
            <a:normAutofit/>
          </a:bodyPr>
          <a:lstStyle/>
          <a:p>
            <a:pPr algn="r" indent="0" marL="0">
              <a:buNone/>
            </a:pPr>
            <a:r>
              <a:rPr lang="en-US" sz="1100" b="1" dirty="0">
                <a:solidFill>
                  <a:srgbClr val="A80000"/>
                </a:solidFill>
                <a:latin typeface="Arial" pitchFamily="34" charset="0"/>
                <a:ea typeface="Arial" pitchFamily="34" charset="-122"/>
                <a:cs typeface="Arial" pitchFamily="34" charset="-120"/>
              </a:rPr>
              <a:t>03</a:t>
            </a:r>
            <a:endParaRPr lang="en-US" sz="1100" dirty="0"/>
          </a:p>
        </p:txBody>
      </p:sp>
      <p:sp>
        <p:nvSpPr>
          <p:cNvPr id="10" name="Text 7"/>
          <p:cNvSpPr/>
          <p:nvPr/>
        </p:nvSpPr>
        <p:spPr>
          <a:xfrm>
            <a:off x="594360" y="1280160"/>
            <a:ext cx="10972800" cy="457200"/>
          </a:xfrm>
          <a:prstGeom prst="rect">
            <a:avLst/>
          </a:prstGeom>
          <a:noFill/>
          <a:ln/>
        </p:spPr>
        <p:txBody>
          <a:bodyPr wrap="square" lIns="0" tIns="0" rIns="0" bIns="0" rtlCol="0" anchor="t">
            <a:normAutofit/>
          </a:bodyPr>
          <a:lstStyle/>
          <a:p>
            <a:pPr indent="0" marL="0">
              <a:buNone/>
            </a:pPr>
            <a:r>
              <a:rPr lang="en-US" sz="1700" dirty="0">
                <a:solidFill>
                  <a:srgbClr val="626269"/>
                </a:solidFill>
                <a:latin typeface="Arial" pitchFamily="34" charset="0"/>
                <a:ea typeface="Arial" pitchFamily="34" charset="-122"/>
                <a:cs typeface="Arial" pitchFamily="34" charset="-120"/>
              </a:rPr>
              <a:t>Detectar problemas de contenido sin depender de la marca ni del idioma del sitio de práctica.</a:t>
            </a:r>
            <a:endParaRPr lang="en-US" sz="1700" dirty="0"/>
          </a:p>
        </p:txBody>
      </p:sp>
      <p:sp>
        <p:nvSpPr>
          <p:cNvPr id="11" name="Shape 8"/>
          <p:cNvSpPr/>
          <p:nvPr/>
        </p:nvSpPr>
        <p:spPr>
          <a:xfrm>
            <a:off x="594360" y="1874520"/>
            <a:ext cx="3474720" cy="3246120"/>
          </a:xfrm>
          <a:prstGeom prst="rect">
            <a:avLst/>
          </a:prstGeom>
          <a:solidFill>
            <a:srgbClr val="FFFFFF"/>
          </a:solidFill>
          <a:ln w="8890">
            <a:solidFill>
              <a:srgbClr val="DEDEE2"/>
            </a:solidFill>
            <a:prstDash val="solid"/>
          </a:ln>
        </p:spPr>
      </p:sp>
      <p:sp>
        <p:nvSpPr>
          <p:cNvPr id="12" name="Shape 9"/>
          <p:cNvSpPr/>
          <p:nvPr/>
        </p:nvSpPr>
        <p:spPr>
          <a:xfrm>
            <a:off x="594360" y="1874520"/>
            <a:ext cx="50292" cy="3246120"/>
          </a:xfrm>
          <a:prstGeom prst="rect">
            <a:avLst/>
          </a:prstGeom>
          <a:solidFill>
            <a:srgbClr val="A80000"/>
          </a:solidFill>
          <a:ln w="8890">
            <a:solidFill>
              <a:srgbClr val="A80000"/>
            </a:solidFill>
            <a:prstDash val="solid"/>
          </a:ln>
        </p:spPr>
      </p:sp>
      <p:sp>
        <p:nvSpPr>
          <p:cNvPr id="13" name="Text 10"/>
          <p:cNvSpPr/>
          <p:nvPr/>
        </p:nvSpPr>
        <p:spPr>
          <a:xfrm>
            <a:off x="777240" y="2039112"/>
            <a:ext cx="3108960" cy="457200"/>
          </a:xfrm>
          <a:prstGeom prst="rect">
            <a:avLst/>
          </a:prstGeom>
          <a:noFill/>
          <a:ln/>
        </p:spPr>
        <p:txBody>
          <a:bodyPr wrap="square" lIns="0" tIns="0" rIns="0" bIns="0" rtlCol="0" anchor="t">
            <a:normAutofit/>
          </a:bodyPr>
          <a:lstStyle/>
          <a:p>
            <a:pPr indent="0" marL="0">
              <a:buNone/>
            </a:pPr>
            <a:r>
              <a:rPr lang="en-US" sz="2100" b="1" dirty="0">
                <a:solidFill>
                  <a:srgbClr val="242426"/>
                </a:solidFill>
                <a:latin typeface="Arial" pitchFamily="34" charset="0"/>
                <a:ea typeface="Arial" pitchFamily="34" charset="-122"/>
                <a:cs typeface="Arial" pitchFamily="34" charset="-120"/>
              </a:rPr>
              <a:t>Entrada</a:t>
            </a:r>
            <a:endParaRPr lang="en-US" sz="2100" dirty="0"/>
          </a:p>
        </p:txBody>
      </p:sp>
      <p:sp>
        <p:nvSpPr>
          <p:cNvPr id="14" name="Text 11"/>
          <p:cNvSpPr/>
          <p:nvPr/>
        </p:nvSpPr>
        <p:spPr>
          <a:xfrm>
            <a:off x="777240" y="2679192"/>
            <a:ext cx="3108960" cy="2304288"/>
          </a:xfrm>
          <a:prstGeom prst="rect">
            <a:avLst/>
          </a:prstGeom>
          <a:noFill/>
          <a:ln/>
        </p:spPr>
        <p:txBody>
          <a:bodyPr wrap="square" lIns="0" tIns="0" rIns="0" bIns="0" rtlCol="0" anchor="t">
            <a:normAutofit/>
          </a:bodyPr>
          <a:lstStyle/>
          <a:p>
            <a:pPr indent="0" marL="0">
              <a:buNone/>
            </a:pPr>
            <a:r>
              <a:rPr lang="en-US" sz="2000" dirty="0">
                <a:solidFill>
                  <a:srgbClr val="626269"/>
                </a:solidFill>
                <a:latin typeface="Arial" pitchFamily="34" charset="0"/>
                <a:ea typeface="Arial" pitchFamily="34" charset="-122"/>
                <a:cs typeface="Arial" pitchFamily="34" charset="-120"/>
              </a:rPr>
              <a:t>URL del sitio</a:t>
            </a:r>
            <a:endParaRPr lang="en-US" sz="2000" dirty="0"/>
          </a:p>
          <a:p>
            <a:pPr indent="0" marL="0">
              <a:buNone/>
            </a:pPr>
            <a:endParaRPr lang="en-US" sz="2000" dirty="0"/>
          </a:p>
          <a:p>
            <a:pPr indent="0" marL="0">
              <a:buNone/>
            </a:pPr>
            <a:r>
              <a:rPr lang="en-US" sz="2000" dirty="0">
                <a:solidFill>
                  <a:srgbClr val="626269"/>
                </a:solidFill>
                <a:latin typeface="Arial" pitchFamily="34" charset="0"/>
                <a:ea typeface="Arial" pitchFamily="34" charset="-122"/>
                <a:cs typeface="Arial" pitchFamily="34" charset="-120"/>
              </a:rPr>
              <a:t>Perfil lingüístico YAML</a:t>
            </a:r>
            <a:endParaRPr lang="en-US" sz="2000" dirty="0"/>
          </a:p>
          <a:p>
            <a:pPr indent="0" marL="0">
              <a:buNone/>
            </a:pPr>
            <a:endParaRPr lang="en-US" sz="2000" dirty="0"/>
          </a:p>
          <a:p>
            <a:pPr indent="0" marL="0">
              <a:buNone/>
            </a:pPr>
            <a:r>
              <a:rPr lang="en-US" sz="2000" dirty="0">
                <a:solidFill>
                  <a:srgbClr val="626269"/>
                </a:solidFill>
                <a:latin typeface="Arial" pitchFamily="34" charset="0"/>
                <a:ea typeface="Arial" pitchFamily="34" charset="-122"/>
                <a:cs typeface="Arial" pitchFamily="34" charset="-120"/>
              </a:rPr>
              <a:t>Referencias Markdown</a:t>
            </a:r>
            <a:endParaRPr lang="en-US" sz="2000" dirty="0"/>
          </a:p>
        </p:txBody>
      </p:sp>
      <p:sp>
        <p:nvSpPr>
          <p:cNvPr id="15" name="Shape 12"/>
          <p:cNvSpPr/>
          <p:nvPr/>
        </p:nvSpPr>
        <p:spPr>
          <a:xfrm>
            <a:off x="4343400" y="1874520"/>
            <a:ext cx="3474720" cy="3246120"/>
          </a:xfrm>
          <a:prstGeom prst="rect">
            <a:avLst/>
          </a:prstGeom>
          <a:solidFill>
            <a:srgbClr val="FFFFFF"/>
          </a:solidFill>
          <a:ln w="8890">
            <a:solidFill>
              <a:srgbClr val="DEDEE2"/>
            </a:solidFill>
            <a:prstDash val="solid"/>
          </a:ln>
        </p:spPr>
      </p:sp>
      <p:sp>
        <p:nvSpPr>
          <p:cNvPr id="16" name="Shape 13"/>
          <p:cNvSpPr/>
          <p:nvPr/>
        </p:nvSpPr>
        <p:spPr>
          <a:xfrm>
            <a:off x="4343400" y="1874520"/>
            <a:ext cx="50292" cy="3246120"/>
          </a:xfrm>
          <a:prstGeom prst="rect">
            <a:avLst/>
          </a:prstGeom>
          <a:solidFill>
            <a:srgbClr val="A80000"/>
          </a:solidFill>
          <a:ln w="8890">
            <a:solidFill>
              <a:srgbClr val="A80000"/>
            </a:solidFill>
            <a:prstDash val="solid"/>
          </a:ln>
        </p:spPr>
      </p:sp>
      <p:sp>
        <p:nvSpPr>
          <p:cNvPr id="17" name="Text 14"/>
          <p:cNvSpPr/>
          <p:nvPr/>
        </p:nvSpPr>
        <p:spPr>
          <a:xfrm>
            <a:off x="4526280" y="2039112"/>
            <a:ext cx="3108960" cy="457200"/>
          </a:xfrm>
          <a:prstGeom prst="rect">
            <a:avLst/>
          </a:prstGeom>
          <a:noFill/>
          <a:ln/>
        </p:spPr>
        <p:txBody>
          <a:bodyPr wrap="square" lIns="0" tIns="0" rIns="0" bIns="0" rtlCol="0" anchor="t">
            <a:normAutofit/>
          </a:bodyPr>
          <a:lstStyle/>
          <a:p>
            <a:pPr indent="0" marL="0">
              <a:buNone/>
            </a:pPr>
            <a:r>
              <a:rPr lang="en-US" sz="2100" b="1" dirty="0">
                <a:solidFill>
                  <a:srgbClr val="242426"/>
                </a:solidFill>
                <a:latin typeface="Arial" pitchFamily="34" charset="0"/>
                <a:ea typeface="Arial" pitchFamily="34" charset="-122"/>
                <a:cs typeface="Arial" pitchFamily="34" charset="-120"/>
              </a:rPr>
              <a:t>Análisis</a:t>
            </a:r>
            <a:endParaRPr lang="en-US" sz="2100" dirty="0"/>
          </a:p>
        </p:txBody>
      </p:sp>
      <p:sp>
        <p:nvSpPr>
          <p:cNvPr id="18" name="Text 15"/>
          <p:cNvSpPr/>
          <p:nvPr/>
        </p:nvSpPr>
        <p:spPr>
          <a:xfrm>
            <a:off x="4526280" y="2679192"/>
            <a:ext cx="3108960" cy="2304288"/>
          </a:xfrm>
          <a:prstGeom prst="rect">
            <a:avLst/>
          </a:prstGeom>
          <a:noFill/>
          <a:ln/>
        </p:spPr>
        <p:txBody>
          <a:bodyPr wrap="square" lIns="0" tIns="0" rIns="0" bIns="0" rtlCol="0" anchor="t">
            <a:normAutofit/>
          </a:bodyPr>
          <a:lstStyle/>
          <a:p>
            <a:pPr indent="0" marL="0">
              <a:buNone/>
            </a:pPr>
            <a:r>
              <a:rPr lang="en-US" sz="2000" dirty="0">
                <a:solidFill>
                  <a:srgbClr val="626269"/>
                </a:solidFill>
                <a:latin typeface="Arial" pitchFamily="34" charset="0"/>
                <a:ea typeface="Arial" pitchFamily="34" charset="-122"/>
                <a:cs typeface="Arial" pitchFamily="34" charset="-120"/>
              </a:rPr>
              <a:t>Reglas deterministas</a:t>
            </a:r>
            <a:endParaRPr lang="en-US" sz="2000" dirty="0"/>
          </a:p>
          <a:p>
            <a:pPr indent="0" marL="0">
              <a:buNone/>
            </a:pPr>
            <a:endParaRPr lang="en-US" sz="2000" dirty="0"/>
          </a:p>
          <a:p>
            <a:pPr indent="0" marL="0">
              <a:buNone/>
            </a:pPr>
            <a:r>
              <a:rPr lang="en-US" sz="2000" dirty="0">
                <a:solidFill>
                  <a:srgbClr val="626269"/>
                </a:solidFill>
                <a:latin typeface="Arial" pitchFamily="34" charset="0"/>
                <a:ea typeface="Arial" pitchFamily="34" charset="-122"/>
                <a:cs typeface="Arial" pitchFamily="34" charset="-120"/>
              </a:rPr>
              <a:t>Modelos con contexto</a:t>
            </a:r>
            <a:endParaRPr lang="en-US" sz="2000" dirty="0"/>
          </a:p>
          <a:p>
            <a:pPr indent="0" marL="0">
              <a:buNone/>
            </a:pPr>
            <a:endParaRPr lang="en-US" sz="2000" dirty="0"/>
          </a:p>
          <a:p>
            <a:pPr indent="0" marL="0">
              <a:buNone/>
            </a:pPr>
            <a:r>
              <a:rPr lang="en-US" sz="2000" dirty="0">
                <a:solidFill>
                  <a:srgbClr val="626269"/>
                </a:solidFill>
                <a:latin typeface="Arial" pitchFamily="34" charset="0"/>
                <a:ea typeface="Arial" pitchFamily="34" charset="-122"/>
                <a:cs typeface="Arial" pitchFamily="34" charset="-120"/>
              </a:rPr>
              <a:t>Validación de evidencias</a:t>
            </a:r>
            <a:endParaRPr lang="en-US" sz="2000" dirty="0"/>
          </a:p>
        </p:txBody>
      </p:sp>
      <p:sp>
        <p:nvSpPr>
          <p:cNvPr id="19" name="Shape 16"/>
          <p:cNvSpPr/>
          <p:nvPr/>
        </p:nvSpPr>
        <p:spPr>
          <a:xfrm>
            <a:off x="8092440" y="1874520"/>
            <a:ext cx="3474720" cy="3246120"/>
          </a:xfrm>
          <a:prstGeom prst="rect">
            <a:avLst/>
          </a:prstGeom>
          <a:solidFill>
            <a:srgbClr val="FFFFFF"/>
          </a:solidFill>
          <a:ln w="8890">
            <a:solidFill>
              <a:srgbClr val="DEDEE2"/>
            </a:solidFill>
            <a:prstDash val="solid"/>
          </a:ln>
        </p:spPr>
      </p:sp>
      <p:sp>
        <p:nvSpPr>
          <p:cNvPr id="20" name="Shape 17"/>
          <p:cNvSpPr/>
          <p:nvPr/>
        </p:nvSpPr>
        <p:spPr>
          <a:xfrm>
            <a:off x="8092440" y="1874520"/>
            <a:ext cx="50292" cy="3246120"/>
          </a:xfrm>
          <a:prstGeom prst="rect">
            <a:avLst/>
          </a:prstGeom>
          <a:solidFill>
            <a:srgbClr val="A80000"/>
          </a:solidFill>
          <a:ln w="8890">
            <a:solidFill>
              <a:srgbClr val="A80000"/>
            </a:solidFill>
            <a:prstDash val="solid"/>
          </a:ln>
        </p:spPr>
      </p:sp>
      <p:sp>
        <p:nvSpPr>
          <p:cNvPr id="21" name="Text 18"/>
          <p:cNvSpPr/>
          <p:nvPr/>
        </p:nvSpPr>
        <p:spPr>
          <a:xfrm>
            <a:off x="8275320" y="2039112"/>
            <a:ext cx="3108960" cy="457200"/>
          </a:xfrm>
          <a:prstGeom prst="rect">
            <a:avLst/>
          </a:prstGeom>
          <a:noFill/>
          <a:ln/>
        </p:spPr>
        <p:txBody>
          <a:bodyPr wrap="square" lIns="0" tIns="0" rIns="0" bIns="0" rtlCol="0" anchor="t">
            <a:normAutofit/>
          </a:bodyPr>
          <a:lstStyle/>
          <a:p>
            <a:pPr indent="0" marL="0">
              <a:buNone/>
            </a:pPr>
            <a:r>
              <a:rPr lang="en-US" sz="2100" b="1" dirty="0">
                <a:solidFill>
                  <a:srgbClr val="242426"/>
                </a:solidFill>
                <a:latin typeface="Arial" pitchFamily="34" charset="0"/>
                <a:ea typeface="Arial" pitchFamily="34" charset="-122"/>
                <a:cs typeface="Arial" pitchFamily="34" charset="-120"/>
              </a:rPr>
              <a:t>Salida</a:t>
            </a:r>
            <a:endParaRPr lang="en-US" sz="2100" dirty="0"/>
          </a:p>
        </p:txBody>
      </p:sp>
      <p:sp>
        <p:nvSpPr>
          <p:cNvPr id="22" name="Text 19"/>
          <p:cNvSpPr/>
          <p:nvPr/>
        </p:nvSpPr>
        <p:spPr>
          <a:xfrm>
            <a:off x="8275320" y="2679192"/>
            <a:ext cx="3108960" cy="2304288"/>
          </a:xfrm>
          <a:prstGeom prst="rect">
            <a:avLst/>
          </a:prstGeom>
          <a:noFill/>
          <a:ln/>
        </p:spPr>
        <p:txBody>
          <a:bodyPr wrap="square" lIns="0" tIns="0" rIns="0" bIns="0" rtlCol="0" anchor="t">
            <a:normAutofit/>
          </a:bodyPr>
          <a:lstStyle/>
          <a:p>
            <a:pPr indent="0" marL="0">
              <a:buNone/>
            </a:pPr>
            <a:r>
              <a:rPr lang="en-US" sz="2000" dirty="0">
                <a:solidFill>
                  <a:srgbClr val="626269"/>
                </a:solidFill>
                <a:latin typeface="Arial" pitchFamily="34" charset="0"/>
                <a:ea typeface="Arial" pitchFamily="34" charset="-122"/>
                <a:cs typeface="Arial" pitchFamily="34" charset="-120"/>
              </a:rPr>
              <a:t>Issues estructurados</a:t>
            </a:r>
            <a:endParaRPr lang="en-US" sz="2000" dirty="0"/>
          </a:p>
          <a:p>
            <a:pPr indent="0" marL="0">
              <a:buNone/>
            </a:pPr>
            <a:endParaRPr lang="en-US" sz="2000" dirty="0"/>
          </a:p>
          <a:p>
            <a:pPr indent="0" marL="0">
              <a:buNone/>
            </a:pPr>
            <a:r>
              <a:rPr lang="en-US" sz="2000" dirty="0">
                <a:solidFill>
                  <a:srgbClr val="626269"/>
                </a:solidFill>
                <a:latin typeface="Arial" pitchFamily="34" charset="0"/>
                <a:ea typeface="Arial" pitchFamily="34" charset="-122"/>
                <a:cs typeface="Arial" pitchFamily="34" charset="-120"/>
              </a:rPr>
              <a:t>Ubicación y corrección sugerida</a:t>
            </a:r>
            <a:endParaRPr lang="en-US" sz="2000" dirty="0"/>
          </a:p>
          <a:p>
            <a:pPr indent="0" marL="0">
              <a:buNone/>
            </a:pPr>
            <a:endParaRPr lang="en-US" sz="2000" dirty="0"/>
          </a:p>
          <a:p>
            <a:pPr indent="0" marL="0">
              <a:buNone/>
            </a:pPr>
            <a:r>
              <a:rPr lang="en-US" sz="2000" dirty="0">
                <a:solidFill>
                  <a:srgbClr val="626269"/>
                </a:solidFill>
                <a:latin typeface="Arial" pitchFamily="34" charset="0"/>
                <a:ea typeface="Arial" pitchFamily="34" charset="-122"/>
                <a:cs typeface="Arial" pitchFamily="34" charset="-120"/>
              </a:rPr>
              <a:t>Revisión humana</a:t>
            </a:r>
            <a:endParaRPr lang="en-US" sz="2000" dirty="0"/>
          </a:p>
        </p:txBody>
      </p:sp>
      <p:sp>
        <p:nvSpPr>
          <p:cNvPr id="23" name="Shape 20"/>
          <p:cNvSpPr/>
          <p:nvPr/>
        </p:nvSpPr>
        <p:spPr>
          <a:xfrm>
            <a:off x="594360" y="5760720"/>
            <a:ext cx="10972800" cy="438912"/>
          </a:xfrm>
          <a:prstGeom prst="rect">
            <a:avLst/>
          </a:prstGeom>
          <a:solidFill>
            <a:srgbClr val="151515"/>
          </a:solidFill>
          <a:ln w="8890">
            <a:solidFill>
              <a:srgbClr val="151515"/>
            </a:solidFill>
            <a:prstDash val="solid"/>
          </a:ln>
        </p:spPr>
      </p:sp>
      <p:sp>
        <p:nvSpPr>
          <p:cNvPr id="24" name="Text 21"/>
          <p:cNvSpPr/>
          <p:nvPr/>
        </p:nvSpPr>
        <p:spPr>
          <a:xfrm>
            <a:off x="777240" y="5852160"/>
            <a:ext cx="10607040" cy="274320"/>
          </a:xfrm>
          <a:prstGeom prst="rect">
            <a:avLst/>
          </a:prstGeom>
          <a:noFill/>
          <a:ln/>
        </p:spPr>
        <p:txBody>
          <a:bodyPr wrap="square" lIns="0" tIns="0" rIns="0" bIns="0" rtlCol="0" anchor="t">
            <a:normAutofit/>
          </a:bodyPr>
          <a:lstStyle/>
          <a:p>
            <a:pPr indent="0" marL="0">
              <a:buNone/>
            </a:pPr>
            <a:r>
              <a:rPr lang="en-US" sz="1500" b="1" dirty="0">
                <a:solidFill>
                  <a:srgbClr val="FFFFFF"/>
                </a:solidFill>
                <a:latin typeface="Arial" pitchFamily="34" charset="0"/>
                <a:ea typeface="Arial" pitchFamily="34" charset="-122"/>
                <a:cs typeface="Arial" pitchFamily="34" charset="-120"/>
              </a:rPr>
              <a:t>Alcance actual: calidad de contenido de sitios estáticos; sin corrección automática.</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4F5"/>
        </a:solidFill>
      </p:bgPr>
    </p:bg>
    <p:spTree>
      <p:nvGrpSpPr>
        <p:cNvPr id="1" name=""/>
        <p:cNvGrpSpPr/>
        <p:nvPr/>
      </p:nvGrpSpPr>
      <p:grpSpPr>
        <a:xfrm>
          <a:off x="0" y="0"/>
          <a:ext cx="0" cy="0"/>
          <a:chOff x="0" y="0"/>
          <a:chExt cx="0" cy="0"/>
        </a:xfrm>
      </p:grpSpPr>
      <p:sp>
        <p:nvSpPr>
          <p:cNvPr id="2" name="Shape 0"/>
          <p:cNvSpPr/>
          <p:nvPr/>
        </p:nvSpPr>
        <p:spPr>
          <a:xfrm>
            <a:off x="0" y="0"/>
            <a:ext cx="12192000" cy="68580"/>
          </a:xfrm>
          <a:prstGeom prst="rect">
            <a:avLst/>
          </a:prstGeom>
          <a:solidFill>
            <a:srgbClr val="A80000"/>
          </a:solidFill>
          <a:ln w="8890">
            <a:solidFill>
              <a:srgbClr val="A80000"/>
            </a:solidFill>
            <a:prstDash val="solid"/>
          </a:ln>
        </p:spPr>
      </p:sp>
      <p:sp>
        <p:nvSpPr>
          <p:cNvPr id="3" name="Text 1"/>
          <p:cNvSpPr/>
          <p:nvPr/>
        </p:nvSpPr>
        <p:spPr>
          <a:xfrm>
            <a:off x="594360" y="274320"/>
            <a:ext cx="10058400" cy="219456"/>
          </a:xfrm>
          <a:prstGeom prst="rect">
            <a:avLst/>
          </a:prstGeom>
          <a:noFill/>
          <a:ln/>
        </p:spPr>
        <p:txBody>
          <a:bodyPr wrap="square" lIns="0" tIns="0" rIns="0" bIns="0" rtlCol="0" anchor="t">
            <a:normAutofit/>
          </a:bodyPr>
          <a:lstStyle/>
          <a:p>
            <a:pPr indent="0" marL="0">
              <a:buNone/>
            </a:pPr>
            <a:r>
              <a:rPr lang="en-US" sz="1000" b="1" dirty="0">
                <a:solidFill>
                  <a:srgbClr val="A80000"/>
                </a:solidFill>
                <a:latin typeface="Arial" pitchFamily="34" charset="0"/>
                <a:ea typeface="Arial" pitchFamily="34" charset="-122"/>
                <a:cs typeface="Arial" pitchFamily="34" charset="-120"/>
              </a:rPr>
              <a:t>CONFIGURACIÓN</a:t>
            </a:r>
            <a:endParaRPr lang="en-US" sz="1000" dirty="0"/>
          </a:p>
        </p:txBody>
      </p:sp>
      <p:sp>
        <p:nvSpPr>
          <p:cNvPr id="4" name="Text 2"/>
          <p:cNvSpPr/>
          <p:nvPr/>
        </p:nvSpPr>
        <p:spPr>
          <a:xfrm>
            <a:off x="594360" y="667512"/>
            <a:ext cx="10972800" cy="594360"/>
          </a:xfrm>
          <a:prstGeom prst="rect">
            <a:avLst/>
          </a:prstGeom>
          <a:noFill/>
          <a:ln/>
        </p:spPr>
        <p:txBody>
          <a:bodyPr wrap="square" lIns="0" tIns="0" rIns="0" bIns="0" rtlCol="0" anchor="t">
            <a:normAutofit/>
          </a:bodyPr>
          <a:lstStyle/>
          <a:p>
            <a:pPr indent="0" marL="0">
              <a:buNone/>
            </a:pPr>
            <a:r>
              <a:rPr lang="en-US" sz="3000" b="1" dirty="0">
                <a:solidFill>
                  <a:srgbClr val="242426"/>
                </a:solidFill>
                <a:latin typeface="Arial" pitchFamily="34" charset="0"/>
                <a:ea typeface="Arial" pitchFamily="34" charset="-122"/>
                <a:cs typeface="Arial" pitchFamily="34" charset="-120"/>
              </a:rPr>
              <a:t>Entradas y contrato de salida</a:t>
            </a:r>
            <a:endParaRPr lang="en-US" sz="3000" dirty="0"/>
          </a:p>
        </p:txBody>
      </p:sp>
      <p:sp>
        <p:nvSpPr>
          <p:cNvPr id="5" name="Shape 3"/>
          <p:cNvSpPr/>
          <p:nvPr/>
        </p:nvSpPr>
        <p:spPr>
          <a:xfrm>
            <a:off x="594360" y="6428232"/>
            <a:ext cx="10972800" cy="0"/>
          </a:xfrm>
          <a:prstGeom prst="line">
            <a:avLst/>
          </a:prstGeom>
          <a:noFill/>
          <a:ln w="17780">
            <a:solidFill>
              <a:srgbClr val="DEDEE2"/>
            </a:solidFill>
            <a:prstDash val="solid"/>
          </a:ln>
        </p:spPr>
      </p:sp>
      <p:sp>
        <p:nvSpPr>
          <p:cNvPr id="6" name="Text 4"/>
          <p:cNvSpPr/>
          <p:nvPr/>
        </p:nvSpPr>
        <p:spPr>
          <a:xfrm>
            <a:off x="594360" y="6547104"/>
            <a:ext cx="3749040" cy="164592"/>
          </a:xfrm>
          <a:prstGeom prst="rect">
            <a:avLst/>
          </a:prstGeom>
          <a:noFill/>
          <a:ln/>
        </p:spPr>
        <p:txBody>
          <a:bodyPr wrap="square" lIns="0" tIns="0" rIns="0" bIns="0" rtlCol="0" anchor="t">
            <a:normAutofit/>
          </a:bodyPr>
          <a:lstStyle/>
          <a:p>
            <a:pPr indent="0" marL="0">
              <a:buNone/>
            </a:pPr>
            <a:r>
              <a:rPr lang="en-US" sz="900" dirty="0">
                <a:solidFill>
                  <a:srgbClr val="626269"/>
                </a:solidFill>
                <a:latin typeface="Arial" pitchFamily="34" charset="0"/>
                <a:ea typeface="Arial" pitchFamily="34" charset="-122"/>
                <a:cs typeface="Arial" pitchFamily="34" charset="-120"/>
              </a:rPr>
              <a:t>SKYNET · 15 OCT 2026 · PRELIMINAR</a:t>
            </a:r>
            <a:endParaRPr lang="en-US" sz="900" dirty="0"/>
          </a:p>
        </p:txBody>
      </p:sp>
      <p:sp>
        <p:nvSpPr>
          <p:cNvPr id="7" name="Text 5"/>
          <p:cNvSpPr/>
          <p:nvPr/>
        </p:nvSpPr>
        <p:spPr>
          <a:xfrm>
            <a:off x="3931920" y="6547104"/>
            <a:ext cx="7178040" cy="164592"/>
          </a:xfrm>
          <a:prstGeom prst="rect">
            <a:avLst/>
          </a:prstGeom>
          <a:noFill/>
          <a:ln/>
        </p:spPr>
        <p:txBody>
          <a:bodyPr wrap="square" lIns="0" tIns="0" rIns="0" bIns="0" rtlCol="0" anchor="t">
            <a:normAutofit/>
          </a:bodyPr>
          <a:lstStyle/>
          <a:p>
            <a:pPr algn="r" indent="0" marL="0">
              <a:buNone/>
            </a:pPr>
            <a:r>
              <a:rPr lang="en-US" sz="850" dirty="0">
                <a:solidFill>
                  <a:srgbClr val="626269"/>
                </a:solidFill>
                <a:latin typeface="Arial" pitchFamily="34" charset="0"/>
                <a:ea typeface="Arial" pitchFamily="34" charset="-122"/>
                <a:cs typeface="Arial" pitchFamily="34" charset="-120"/>
              </a:rPr>
              <a:t>src/config.ts; reference-content.ts; docs/ISSUE_SCHEMA.json</a:t>
            </a:r>
            <a:endParaRPr lang="en-US" sz="850" dirty="0"/>
          </a:p>
        </p:txBody>
      </p:sp>
      <p:sp>
        <p:nvSpPr>
          <p:cNvPr id="8" name="Text 6"/>
          <p:cNvSpPr/>
          <p:nvPr/>
        </p:nvSpPr>
        <p:spPr>
          <a:xfrm>
            <a:off x="11292840" y="6510528"/>
            <a:ext cx="320040" cy="228600"/>
          </a:xfrm>
          <a:prstGeom prst="rect">
            <a:avLst/>
          </a:prstGeom>
          <a:noFill/>
          <a:ln/>
        </p:spPr>
        <p:txBody>
          <a:bodyPr wrap="square" lIns="0" tIns="0" rIns="0" bIns="0" rtlCol="0" anchor="t">
            <a:normAutofit/>
          </a:bodyPr>
          <a:lstStyle/>
          <a:p>
            <a:pPr algn="r" indent="0" marL="0">
              <a:buNone/>
            </a:pPr>
            <a:r>
              <a:rPr lang="en-US" sz="1100" b="1" dirty="0">
                <a:solidFill>
                  <a:srgbClr val="A80000"/>
                </a:solidFill>
                <a:latin typeface="Arial" pitchFamily="34" charset="0"/>
                <a:ea typeface="Arial" pitchFamily="34" charset="-122"/>
                <a:cs typeface="Arial" pitchFamily="34" charset="-120"/>
              </a:rPr>
              <a:t>04</a:t>
            </a:r>
            <a:endParaRPr lang="en-US" sz="1100" dirty="0"/>
          </a:p>
        </p:txBody>
      </p:sp>
      <p:sp>
        <p:nvSpPr>
          <p:cNvPr id="10" name="Shape 7"/>
          <p:cNvSpPr/>
          <p:nvPr/>
        </p:nvSpPr>
        <p:spPr>
          <a:xfrm>
            <a:off x="594360" y="1783080"/>
            <a:ext cx="5349240" cy="3611880"/>
          </a:xfrm>
          <a:prstGeom prst="rect">
            <a:avLst/>
          </a:prstGeom>
          <a:solidFill>
            <a:srgbClr val="FFFFFF"/>
          </a:solidFill>
          <a:ln w="8890">
            <a:solidFill>
              <a:srgbClr val="DEDEE2"/>
            </a:solidFill>
            <a:prstDash val="solid"/>
          </a:ln>
        </p:spPr>
      </p:sp>
      <p:sp>
        <p:nvSpPr>
          <p:cNvPr id="11" name="Shape 8"/>
          <p:cNvSpPr/>
          <p:nvPr/>
        </p:nvSpPr>
        <p:spPr>
          <a:xfrm>
            <a:off x="594360" y="1783080"/>
            <a:ext cx="50292" cy="3611880"/>
          </a:xfrm>
          <a:prstGeom prst="rect">
            <a:avLst/>
          </a:prstGeom>
          <a:solidFill>
            <a:srgbClr val="A80000"/>
          </a:solidFill>
          <a:ln w="8890">
            <a:solidFill>
              <a:srgbClr val="A80000"/>
            </a:solidFill>
            <a:prstDash val="solid"/>
          </a:ln>
        </p:spPr>
      </p:sp>
      <p:sp>
        <p:nvSpPr>
          <p:cNvPr id="12" name="Text 9"/>
          <p:cNvSpPr/>
          <p:nvPr/>
        </p:nvSpPr>
        <p:spPr>
          <a:xfrm>
            <a:off x="777240" y="1947672"/>
            <a:ext cx="4983480" cy="457200"/>
          </a:xfrm>
          <a:prstGeom prst="rect">
            <a:avLst/>
          </a:prstGeom>
          <a:noFill/>
          <a:ln/>
        </p:spPr>
        <p:txBody>
          <a:bodyPr wrap="square" lIns="0" tIns="0" rIns="0" bIns="0" rtlCol="0" anchor="t">
            <a:normAutofit/>
          </a:bodyPr>
          <a:lstStyle/>
          <a:p>
            <a:pPr indent="0" marL="0">
              <a:buNone/>
            </a:pPr>
            <a:r>
              <a:rPr lang="en-US" sz="2100" b="1" dirty="0">
                <a:solidFill>
                  <a:srgbClr val="242426"/>
                </a:solidFill>
                <a:latin typeface="Arial" pitchFamily="34" charset="0"/>
                <a:ea typeface="Arial" pitchFamily="34" charset="-122"/>
                <a:cs typeface="Arial" pitchFamily="34" charset="-120"/>
              </a:rPr>
              <a:t>Perfil del sitio</a:t>
            </a:r>
            <a:endParaRPr lang="en-US" sz="2100" dirty="0"/>
          </a:p>
        </p:txBody>
      </p:sp>
      <p:sp>
        <p:nvSpPr>
          <p:cNvPr id="13" name="Text 10"/>
          <p:cNvSpPr/>
          <p:nvPr/>
        </p:nvSpPr>
        <p:spPr>
          <a:xfrm>
            <a:off x="777240" y="2587752"/>
            <a:ext cx="4983480" cy="2670048"/>
          </a:xfrm>
          <a:prstGeom prst="rect">
            <a:avLst/>
          </a:prstGeom>
          <a:noFill/>
          <a:ln/>
        </p:spPr>
        <p:txBody>
          <a:bodyPr wrap="square" lIns="0" tIns="0" rIns="0" bIns="0" rtlCol="0" anchor="t">
            <a:normAutofit/>
          </a:bodyPr>
          <a:lstStyle/>
          <a:p>
            <a:pPr indent="0" marL="0">
              <a:buNone/>
            </a:pPr>
            <a:r>
              <a:rPr lang="en-US" sz="1900" dirty="0">
                <a:solidFill>
                  <a:srgbClr val="626269"/>
                </a:solidFill>
                <a:latin typeface="Arial" pitchFamily="34" charset="0"/>
                <a:ea typeface="Arial" pitchFamily="34" charset="-122"/>
                <a:cs typeface="Arial" pitchFamily="34" charset="-120"/>
              </a:rPr>
              <a:t>Locale objetivo y de origen</a:t>
            </a:r>
            <a:endParaRPr lang="en-US" sz="1900" dirty="0"/>
          </a:p>
          <a:p>
            <a:pPr indent="0" marL="0">
              <a:buNone/>
            </a:pPr>
            <a:r>
              <a:rPr lang="en-US" sz="1900" dirty="0">
                <a:solidFill>
                  <a:srgbClr val="626269"/>
                </a:solidFill>
                <a:latin typeface="Arial" pitchFamily="34" charset="0"/>
                <a:ea typeface="Arial" pitchFamily="34" charset="-122"/>
                <a:cs typeface="Arial" pitchFamily="34" charset="-120"/>
              </a:rPr>
              <a:t>Formatos de fecha, moneda y unidades</a:t>
            </a:r>
            <a:endParaRPr lang="en-US" sz="1900" dirty="0"/>
          </a:p>
          <a:p>
            <a:pPr indent="0" marL="0">
              <a:buNone/>
            </a:pPr>
            <a:r>
              <a:rPr lang="en-US" sz="1900" dirty="0">
                <a:solidFill>
                  <a:srgbClr val="626269"/>
                </a:solidFill>
                <a:latin typeface="Arial" pitchFamily="34" charset="0"/>
                <a:ea typeface="Arial" pitchFamily="34" charset="-122"/>
                <a:cs typeface="Arial" pitchFamily="34" charset="-120"/>
              </a:rPr>
              <a:t>Voz de marca y reglas de estilo</a:t>
            </a:r>
            <a:endParaRPr lang="en-US" sz="1900" dirty="0"/>
          </a:p>
          <a:p>
            <a:pPr indent="0" marL="0">
              <a:buNone/>
            </a:pPr>
            <a:r>
              <a:rPr lang="en-US" sz="1900" dirty="0">
                <a:solidFill>
                  <a:srgbClr val="626269"/>
                </a:solidFill>
                <a:latin typeface="Arial" pitchFamily="34" charset="0"/>
                <a:ea typeface="Arial" pitchFamily="34" charset="-122"/>
                <a:cs typeface="Arial" pitchFamily="34" charset="-120"/>
              </a:rPr>
              <a:t>Glosario: términos preferidos y prohibidos</a:t>
            </a:r>
            <a:endParaRPr lang="en-US" sz="1900" dirty="0"/>
          </a:p>
          <a:p>
            <a:pPr indent="0" marL="0">
              <a:buNone/>
            </a:pPr>
            <a:r>
              <a:rPr lang="en-US" sz="1900" dirty="0">
                <a:solidFill>
                  <a:srgbClr val="626269"/>
                </a:solidFill>
                <a:latin typeface="Arial" pitchFamily="34" charset="0"/>
                <a:ea typeface="Arial" pitchFamily="34" charset="-122"/>
                <a:cs typeface="Arial" pitchFamily="34" charset="-120"/>
              </a:rPr>
              <a:t>Referencias vinculadas a cada página</a:t>
            </a:r>
            <a:endParaRPr lang="en-US" sz="1900" dirty="0"/>
          </a:p>
        </p:txBody>
      </p:sp>
      <p:sp>
        <p:nvSpPr>
          <p:cNvPr id="14" name="Shape 11"/>
          <p:cNvSpPr/>
          <p:nvPr/>
        </p:nvSpPr>
        <p:spPr>
          <a:xfrm>
            <a:off x="6217920" y="1783080"/>
            <a:ext cx="5349240" cy="3611880"/>
          </a:xfrm>
          <a:prstGeom prst="rect">
            <a:avLst/>
          </a:prstGeom>
          <a:solidFill>
            <a:srgbClr val="FFFFFF"/>
          </a:solidFill>
          <a:ln w="8890">
            <a:solidFill>
              <a:srgbClr val="DEDEE2"/>
            </a:solidFill>
            <a:prstDash val="solid"/>
          </a:ln>
        </p:spPr>
      </p:sp>
      <p:sp>
        <p:nvSpPr>
          <p:cNvPr id="15" name="Shape 12"/>
          <p:cNvSpPr/>
          <p:nvPr/>
        </p:nvSpPr>
        <p:spPr>
          <a:xfrm>
            <a:off x="6217920" y="1783080"/>
            <a:ext cx="50292" cy="3611880"/>
          </a:xfrm>
          <a:prstGeom prst="rect">
            <a:avLst/>
          </a:prstGeom>
          <a:solidFill>
            <a:srgbClr val="A80000"/>
          </a:solidFill>
          <a:ln w="8890">
            <a:solidFill>
              <a:srgbClr val="A80000"/>
            </a:solidFill>
            <a:prstDash val="solid"/>
          </a:ln>
        </p:spPr>
      </p:sp>
      <p:sp>
        <p:nvSpPr>
          <p:cNvPr id="16" name="Text 13"/>
          <p:cNvSpPr/>
          <p:nvPr/>
        </p:nvSpPr>
        <p:spPr>
          <a:xfrm>
            <a:off x="6400800" y="1947672"/>
            <a:ext cx="4983480" cy="457200"/>
          </a:xfrm>
          <a:prstGeom prst="rect">
            <a:avLst/>
          </a:prstGeom>
          <a:noFill/>
          <a:ln/>
        </p:spPr>
        <p:txBody>
          <a:bodyPr wrap="square" lIns="0" tIns="0" rIns="0" bIns="0" rtlCol="0" anchor="t">
            <a:normAutofit/>
          </a:bodyPr>
          <a:lstStyle/>
          <a:p>
            <a:pPr indent="0" marL="0">
              <a:buNone/>
            </a:pPr>
            <a:r>
              <a:rPr lang="en-US" sz="2100" b="1" dirty="0">
                <a:solidFill>
                  <a:srgbClr val="242426"/>
                </a:solidFill>
                <a:latin typeface="Arial" pitchFamily="34" charset="0"/>
                <a:ea typeface="Arial" pitchFamily="34" charset="-122"/>
                <a:cs typeface="Arial" pitchFamily="34" charset="-120"/>
              </a:rPr>
              <a:t>Cada hallazgo incluye</a:t>
            </a:r>
            <a:endParaRPr lang="en-US" sz="2100" dirty="0"/>
          </a:p>
        </p:txBody>
      </p:sp>
      <p:sp>
        <p:nvSpPr>
          <p:cNvPr id="17" name="Text 14"/>
          <p:cNvSpPr/>
          <p:nvPr/>
        </p:nvSpPr>
        <p:spPr>
          <a:xfrm>
            <a:off x="6400800" y="2587752"/>
            <a:ext cx="4983480" cy="2670048"/>
          </a:xfrm>
          <a:prstGeom prst="rect">
            <a:avLst/>
          </a:prstGeom>
          <a:noFill/>
          <a:ln/>
        </p:spPr>
        <p:txBody>
          <a:bodyPr wrap="square" lIns="0" tIns="0" rIns="0" bIns="0" rtlCol="0" anchor="t">
            <a:normAutofit/>
          </a:bodyPr>
          <a:lstStyle/>
          <a:p>
            <a:pPr indent="0" marL="0">
              <a:buNone/>
            </a:pPr>
            <a:r>
              <a:rPr lang="en-US" sz="1900" dirty="0">
                <a:solidFill>
                  <a:srgbClr val="626269"/>
                </a:solidFill>
                <a:latin typeface="Arial" pitchFamily="34" charset="0"/>
                <a:ea typeface="Arial" pitchFamily="34" charset="-122"/>
                <a:cs typeface="Arial" pitchFamily="34" charset="-120"/>
              </a:rPr>
              <a:t>Categoría y severidad</a:t>
            </a:r>
            <a:endParaRPr lang="en-US" sz="1900" dirty="0"/>
          </a:p>
          <a:p>
            <a:pPr indent="0" marL="0">
              <a:buNone/>
            </a:pPr>
            <a:r>
              <a:rPr lang="en-US" sz="1900" dirty="0">
                <a:solidFill>
                  <a:srgbClr val="626269"/>
                </a:solidFill>
                <a:latin typeface="Arial" pitchFamily="34" charset="0"/>
                <a:ea typeface="Arial" pitchFamily="34" charset="-122"/>
                <a:cs typeface="Arial" pitchFamily="34" charset="-120"/>
              </a:rPr>
              <a:t>Página + tipo de elemento / selector</a:t>
            </a:r>
            <a:endParaRPr lang="en-US" sz="1900" dirty="0"/>
          </a:p>
          <a:p>
            <a:pPr indent="0" marL="0">
              <a:buNone/>
            </a:pPr>
            <a:r>
              <a:rPr lang="en-US" sz="1900" dirty="0">
                <a:solidFill>
                  <a:srgbClr val="626269"/>
                </a:solidFill>
                <a:latin typeface="Arial" pitchFamily="34" charset="0"/>
                <a:ea typeface="Arial" pitchFamily="34" charset="-122"/>
                <a:cs typeface="Arial" pitchFamily="34" charset="-120"/>
              </a:rPr>
              <a:t>Descripción y evidencia</a:t>
            </a:r>
            <a:endParaRPr lang="en-US" sz="1900" dirty="0"/>
          </a:p>
          <a:p>
            <a:pPr indent="0" marL="0">
              <a:buNone/>
            </a:pPr>
            <a:r>
              <a:rPr lang="en-US" sz="1900" dirty="0">
                <a:solidFill>
                  <a:srgbClr val="626269"/>
                </a:solidFill>
                <a:latin typeface="Arial" pitchFamily="34" charset="0"/>
                <a:ea typeface="Arial" pitchFamily="34" charset="-122"/>
                <a:cs typeface="Arial" pitchFamily="34" charset="-120"/>
              </a:rPr>
              <a:t>Resultado esperado + sugerencia</a:t>
            </a:r>
            <a:endParaRPr lang="en-US" sz="1900" dirty="0"/>
          </a:p>
          <a:p>
            <a:pPr indent="0" marL="0">
              <a:buNone/>
            </a:pPr>
            <a:r>
              <a:rPr lang="en-US" sz="1900" dirty="0">
                <a:solidFill>
                  <a:srgbClr val="626269"/>
                </a:solidFill>
                <a:latin typeface="Arial" pitchFamily="34" charset="0"/>
                <a:ea typeface="Arial" pitchFamily="34" charset="-122"/>
                <a:cs typeface="Arial" pitchFamily="34" charset="-120"/>
              </a:rPr>
              <a:t>Confianza y estado de revisión</a:t>
            </a:r>
            <a:endParaRPr lang="en-US" sz="1900" dirty="0"/>
          </a:p>
        </p:txBody>
      </p:sp>
      <p:sp>
        <p:nvSpPr>
          <p:cNvPr id="18" name="Shape 15"/>
          <p:cNvSpPr/>
          <p:nvPr/>
        </p:nvSpPr>
        <p:spPr>
          <a:xfrm>
            <a:off x="594360" y="5760720"/>
            <a:ext cx="10972800" cy="438912"/>
          </a:xfrm>
          <a:prstGeom prst="rect">
            <a:avLst/>
          </a:prstGeom>
          <a:solidFill>
            <a:srgbClr val="151515"/>
          </a:solidFill>
          <a:ln w="8890">
            <a:solidFill>
              <a:srgbClr val="151515"/>
            </a:solidFill>
            <a:prstDash val="solid"/>
          </a:ln>
        </p:spPr>
      </p:sp>
      <p:sp>
        <p:nvSpPr>
          <p:cNvPr id="19" name="Text 16"/>
          <p:cNvSpPr/>
          <p:nvPr/>
        </p:nvSpPr>
        <p:spPr>
          <a:xfrm>
            <a:off x="777240" y="5852160"/>
            <a:ext cx="10607040" cy="274320"/>
          </a:xfrm>
          <a:prstGeom prst="rect">
            <a:avLst/>
          </a:prstGeom>
          <a:noFill/>
          <a:ln/>
        </p:spPr>
        <p:txBody>
          <a:bodyPr wrap="square" lIns="0" tIns="0" rIns="0" bIns="0" rtlCol="0" anchor="t">
            <a:normAutofit/>
          </a:bodyPr>
          <a:lstStyle/>
          <a:p>
            <a:pPr indent="0" marL="0">
              <a:buNone/>
            </a:pPr>
            <a:r>
              <a:rPr lang="en-US" sz="1500" b="1" dirty="0">
                <a:solidFill>
                  <a:srgbClr val="FFFFFF"/>
                </a:solidFill>
                <a:latin typeface="Arial" pitchFamily="34" charset="0"/>
                <a:ea typeface="Arial" pitchFamily="34" charset="-122"/>
                <a:cs typeface="Arial" pitchFamily="34" charset="-120"/>
              </a:rPr>
              <a:t>Los valores se leen de las entradas: cambiar de sitio no debe requerir cambiar código.</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4F5"/>
        </a:solidFill>
      </p:bgPr>
    </p:bg>
    <p:spTree>
      <p:nvGrpSpPr>
        <p:cNvPr id="1" name=""/>
        <p:cNvGrpSpPr/>
        <p:nvPr/>
      </p:nvGrpSpPr>
      <p:grpSpPr>
        <a:xfrm>
          <a:off x="0" y="0"/>
          <a:ext cx="0" cy="0"/>
          <a:chOff x="0" y="0"/>
          <a:chExt cx="0" cy="0"/>
        </a:xfrm>
      </p:grpSpPr>
      <p:sp>
        <p:nvSpPr>
          <p:cNvPr id="2" name="Shape 0"/>
          <p:cNvSpPr/>
          <p:nvPr/>
        </p:nvSpPr>
        <p:spPr>
          <a:xfrm>
            <a:off x="0" y="0"/>
            <a:ext cx="12192000" cy="68580"/>
          </a:xfrm>
          <a:prstGeom prst="rect">
            <a:avLst/>
          </a:prstGeom>
          <a:solidFill>
            <a:srgbClr val="A80000"/>
          </a:solidFill>
          <a:ln w="8890">
            <a:solidFill>
              <a:srgbClr val="A80000"/>
            </a:solidFill>
            <a:prstDash val="solid"/>
          </a:ln>
        </p:spPr>
      </p:sp>
      <p:sp>
        <p:nvSpPr>
          <p:cNvPr id="3" name="Text 1"/>
          <p:cNvSpPr/>
          <p:nvPr/>
        </p:nvSpPr>
        <p:spPr>
          <a:xfrm>
            <a:off x="594360" y="274320"/>
            <a:ext cx="10058400" cy="219456"/>
          </a:xfrm>
          <a:prstGeom prst="rect">
            <a:avLst/>
          </a:prstGeom>
          <a:noFill/>
          <a:ln/>
        </p:spPr>
        <p:txBody>
          <a:bodyPr wrap="square" lIns="0" tIns="0" rIns="0" bIns="0" rtlCol="0" anchor="t">
            <a:normAutofit/>
          </a:bodyPr>
          <a:lstStyle/>
          <a:p>
            <a:pPr indent="0" marL="0">
              <a:buNone/>
            </a:pPr>
            <a:r>
              <a:rPr lang="en-US" sz="1000" b="1" dirty="0">
                <a:solidFill>
                  <a:srgbClr val="A80000"/>
                </a:solidFill>
                <a:latin typeface="Arial" pitchFamily="34" charset="0"/>
                <a:ea typeface="Arial" pitchFamily="34" charset="-122"/>
                <a:cs typeface="Arial" pitchFamily="34" charset="-120"/>
              </a:rPr>
              <a:t>IMPLEMENTACIÓN</a:t>
            </a:r>
            <a:endParaRPr lang="en-US" sz="1000" dirty="0"/>
          </a:p>
        </p:txBody>
      </p:sp>
      <p:sp>
        <p:nvSpPr>
          <p:cNvPr id="4" name="Text 2"/>
          <p:cNvSpPr/>
          <p:nvPr/>
        </p:nvSpPr>
        <p:spPr>
          <a:xfrm>
            <a:off x="594360" y="667512"/>
            <a:ext cx="10972800" cy="594360"/>
          </a:xfrm>
          <a:prstGeom prst="rect">
            <a:avLst/>
          </a:prstGeom>
          <a:noFill/>
          <a:ln/>
        </p:spPr>
        <p:txBody>
          <a:bodyPr wrap="square" lIns="0" tIns="0" rIns="0" bIns="0" rtlCol="0" anchor="t">
            <a:normAutofit/>
          </a:bodyPr>
          <a:lstStyle/>
          <a:p>
            <a:pPr indent="0" marL="0">
              <a:buNone/>
            </a:pPr>
            <a:r>
              <a:rPr lang="en-US" sz="3000" b="1" dirty="0">
                <a:solidFill>
                  <a:srgbClr val="242426"/>
                </a:solidFill>
                <a:latin typeface="Arial" pitchFamily="34" charset="0"/>
                <a:ea typeface="Arial" pitchFamily="34" charset="-122"/>
                <a:cs typeface="Arial" pitchFamily="34" charset="-120"/>
              </a:rPr>
              <a:t>Stack: simple y explícito</a:t>
            </a:r>
            <a:endParaRPr lang="en-US" sz="3000" dirty="0"/>
          </a:p>
        </p:txBody>
      </p:sp>
      <p:sp>
        <p:nvSpPr>
          <p:cNvPr id="5" name="Shape 3"/>
          <p:cNvSpPr/>
          <p:nvPr/>
        </p:nvSpPr>
        <p:spPr>
          <a:xfrm>
            <a:off x="594360" y="6428232"/>
            <a:ext cx="10972800" cy="0"/>
          </a:xfrm>
          <a:prstGeom prst="line">
            <a:avLst/>
          </a:prstGeom>
          <a:noFill/>
          <a:ln w="17780">
            <a:solidFill>
              <a:srgbClr val="DEDEE2"/>
            </a:solidFill>
            <a:prstDash val="solid"/>
          </a:ln>
        </p:spPr>
      </p:sp>
      <p:sp>
        <p:nvSpPr>
          <p:cNvPr id="6" name="Text 4"/>
          <p:cNvSpPr/>
          <p:nvPr/>
        </p:nvSpPr>
        <p:spPr>
          <a:xfrm>
            <a:off x="594360" y="6547104"/>
            <a:ext cx="3749040" cy="164592"/>
          </a:xfrm>
          <a:prstGeom prst="rect">
            <a:avLst/>
          </a:prstGeom>
          <a:noFill/>
          <a:ln/>
        </p:spPr>
        <p:txBody>
          <a:bodyPr wrap="square" lIns="0" tIns="0" rIns="0" bIns="0" rtlCol="0" anchor="t">
            <a:normAutofit/>
          </a:bodyPr>
          <a:lstStyle/>
          <a:p>
            <a:pPr indent="0" marL="0">
              <a:buNone/>
            </a:pPr>
            <a:r>
              <a:rPr lang="en-US" sz="900" dirty="0">
                <a:solidFill>
                  <a:srgbClr val="626269"/>
                </a:solidFill>
                <a:latin typeface="Arial" pitchFamily="34" charset="0"/>
                <a:ea typeface="Arial" pitchFamily="34" charset="-122"/>
                <a:cs typeface="Arial" pitchFamily="34" charset="-120"/>
              </a:rPr>
              <a:t>SKYNET · 15 OCT 2026 · PRELIMINAR</a:t>
            </a:r>
            <a:endParaRPr lang="en-US" sz="900" dirty="0"/>
          </a:p>
        </p:txBody>
      </p:sp>
      <p:sp>
        <p:nvSpPr>
          <p:cNvPr id="7" name="Text 5"/>
          <p:cNvSpPr/>
          <p:nvPr/>
        </p:nvSpPr>
        <p:spPr>
          <a:xfrm>
            <a:off x="3931920" y="6547104"/>
            <a:ext cx="7178040" cy="164592"/>
          </a:xfrm>
          <a:prstGeom prst="rect">
            <a:avLst/>
          </a:prstGeom>
          <a:noFill/>
          <a:ln/>
        </p:spPr>
        <p:txBody>
          <a:bodyPr wrap="square" lIns="0" tIns="0" rIns="0" bIns="0" rtlCol="0" anchor="t">
            <a:normAutofit/>
          </a:bodyPr>
          <a:lstStyle/>
          <a:p>
            <a:pPr algn="r" indent="0" marL="0">
              <a:buNone/>
            </a:pPr>
            <a:r>
              <a:rPr lang="en-US" sz="850" dirty="0">
                <a:solidFill>
                  <a:srgbClr val="626269"/>
                </a:solidFill>
                <a:latin typeface="Arial" pitchFamily="34" charset="0"/>
                <a:ea typeface="Arial" pitchFamily="34" charset="-122"/>
                <a:cs typeface="Arial" pitchFamily="34" charset="-120"/>
              </a:rPr>
              <a:t>package.json; Dockerfiles; src/server.ts</a:t>
            </a:r>
            <a:endParaRPr lang="en-US" sz="850" dirty="0"/>
          </a:p>
        </p:txBody>
      </p:sp>
      <p:sp>
        <p:nvSpPr>
          <p:cNvPr id="8" name="Text 6"/>
          <p:cNvSpPr/>
          <p:nvPr/>
        </p:nvSpPr>
        <p:spPr>
          <a:xfrm>
            <a:off x="11292840" y="6510528"/>
            <a:ext cx="320040" cy="228600"/>
          </a:xfrm>
          <a:prstGeom prst="rect">
            <a:avLst/>
          </a:prstGeom>
          <a:noFill/>
          <a:ln/>
        </p:spPr>
        <p:txBody>
          <a:bodyPr wrap="square" lIns="0" tIns="0" rIns="0" bIns="0" rtlCol="0" anchor="t">
            <a:normAutofit/>
          </a:bodyPr>
          <a:lstStyle/>
          <a:p>
            <a:pPr algn="r" indent="0" marL="0">
              <a:buNone/>
            </a:pPr>
            <a:r>
              <a:rPr lang="en-US" sz="1100" b="1" dirty="0">
                <a:solidFill>
                  <a:srgbClr val="A80000"/>
                </a:solidFill>
                <a:latin typeface="Arial" pitchFamily="34" charset="0"/>
                <a:ea typeface="Arial" pitchFamily="34" charset="-122"/>
                <a:cs typeface="Arial" pitchFamily="34" charset="-120"/>
              </a:rPr>
              <a:t>05</a:t>
            </a:r>
            <a:endParaRPr lang="en-US" sz="1100" dirty="0"/>
          </a:p>
        </p:txBody>
      </p:sp>
      <p:sp>
        <p:nvSpPr>
          <p:cNvPr id="10" name="Shape 7"/>
          <p:cNvSpPr/>
          <p:nvPr/>
        </p:nvSpPr>
        <p:spPr>
          <a:xfrm>
            <a:off x="594360" y="1691640"/>
            <a:ext cx="1920240" cy="475488"/>
          </a:xfrm>
          <a:prstGeom prst="rect">
            <a:avLst/>
          </a:prstGeom>
          <a:solidFill>
            <a:srgbClr val="151515"/>
          </a:solidFill>
          <a:ln w="8890">
            <a:solidFill>
              <a:srgbClr val="151515"/>
            </a:solidFill>
            <a:prstDash val="solid"/>
          </a:ln>
        </p:spPr>
      </p:sp>
      <p:sp>
        <p:nvSpPr>
          <p:cNvPr id="11" name="Text 8"/>
          <p:cNvSpPr/>
          <p:nvPr/>
        </p:nvSpPr>
        <p:spPr>
          <a:xfrm>
            <a:off x="713232" y="1810512"/>
            <a:ext cx="1682496" cy="274320"/>
          </a:xfrm>
          <a:prstGeom prst="rect">
            <a:avLst/>
          </a:prstGeom>
          <a:noFill/>
          <a:ln/>
        </p:spPr>
        <p:txBody>
          <a:bodyPr wrap="square" lIns="0" tIns="0" rIns="0" bIns="0" rtlCol="0" anchor="t">
            <a:normAutofit/>
          </a:bodyPr>
          <a:lstStyle/>
          <a:p>
            <a:pPr indent="0" marL="0">
              <a:buNone/>
            </a:pPr>
            <a:r>
              <a:rPr lang="en-US" sz="1300" b="1" dirty="0">
                <a:solidFill>
                  <a:srgbClr val="FFFFFF"/>
                </a:solidFill>
                <a:latin typeface="Arial" pitchFamily="34" charset="0"/>
                <a:ea typeface="Arial" pitchFamily="34" charset="-122"/>
                <a:cs typeface="Arial" pitchFamily="34" charset="-120"/>
              </a:rPr>
              <a:t>CAPA</a:t>
            </a:r>
            <a:endParaRPr lang="en-US" sz="1300" dirty="0"/>
          </a:p>
        </p:txBody>
      </p:sp>
      <p:sp>
        <p:nvSpPr>
          <p:cNvPr id="12" name="Shape 9"/>
          <p:cNvSpPr/>
          <p:nvPr/>
        </p:nvSpPr>
        <p:spPr>
          <a:xfrm>
            <a:off x="2514600" y="1691640"/>
            <a:ext cx="3931920" cy="475488"/>
          </a:xfrm>
          <a:prstGeom prst="rect">
            <a:avLst/>
          </a:prstGeom>
          <a:solidFill>
            <a:srgbClr val="151515"/>
          </a:solidFill>
          <a:ln w="8890">
            <a:solidFill>
              <a:srgbClr val="151515"/>
            </a:solidFill>
            <a:prstDash val="solid"/>
          </a:ln>
        </p:spPr>
      </p:sp>
      <p:sp>
        <p:nvSpPr>
          <p:cNvPr id="13" name="Text 10"/>
          <p:cNvSpPr/>
          <p:nvPr/>
        </p:nvSpPr>
        <p:spPr>
          <a:xfrm>
            <a:off x="2633472" y="1810512"/>
            <a:ext cx="3694176" cy="274320"/>
          </a:xfrm>
          <a:prstGeom prst="rect">
            <a:avLst/>
          </a:prstGeom>
          <a:noFill/>
          <a:ln/>
        </p:spPr>
        <p:txBody>
          <a:bodyPr wrap="square" lIns="0" tIns="0" rIns="0" bIns="0" rtlCol="0" anchor="t">
            <a:normAutofit/>
          </a:bodyPr>
          <a:lstStyle/>
          <a:p>
            <a:pPr indent="0" marL="0">
              <a:buNone/>
            </a:pPr>
            <a:r>
              <a:rPr lang="en-US" sz="1300" b="1" dirty="0">
                <a:solidFill>
                  <a:srgbClr val="FFFFFF"/>
                </a:solidFill>
                <a:latin typeface="Arial" pitchFamily="34" charset="0"/>
                <a:ea typeface="Arial" pitchFamily="34" charset="-122"/>
                <a:cs typeface="Arial" pitchFamily="34" charset="-120"/>
              </a:rPr>
              <a:t>TECNOLOGÍA</a:t>
            </a:r>
            <a:endParaRPr lang="en-US" sz="1300" dirty="0"/>
          </a:p>
        </p:txBody>
      </p:sp>
      <p:sp>
        <p:nvSpPr>
          <p:cNvPr id="14" name="Shape 11"/>
          <p:cNvSpPr/>
          <p:nvPr/>
        </p:nvSpPr>
        <p:spPr>
          <a:xfrm>
            <a:off x="6446520" y="1691640"/>
            <a:ext cx="5120640" cy="475488"/>
          </a:xfrm>
          <a:prstGeom prst="rect">
            <a:avLst/>
          </a:prstGeom>
          <a:solidFill>
            <a:srgbClr val="151515"/>
          </a:solidFill>
          <a:ln w="8890">
            <a:solidFill>
              <a:srgbClr val="151515"/>
            </a:solidFill>
            <a:prstDash val="solid"/>
          </a:ln>
        </p:spPr>
      </p:sp>
      <p:sp>
        <p:nvSpPr>
          <p:cNvPr id="15" name="Text 12"/>
          <p:cNvSpPr/>
          <p:nvPr/>
        </p:nvSpPr>
        <p:spPr>
          <a:xfrm>
            <a:off x="6565392" y="1810512"/>
            <a:ext cx="4882896" cy="274320"/>
          </a:xfrm>
          <a:prstGeom prst="rect">
            <a:avLst/>
          </a:prstGeom>
          <a:noFill/>
          <a:ln/>
        </p:spPr>
        <p:txBody>
          <a:bodyPr wrap="square" lIns="0" tIns="0" rIns="0" bIns="0" rtlCol="0" anchor="t">
            <a:normAutofit/>
          </a:bodyPr>
          <a:lstStyle/>
          <a:p>
            <a:pPr indent="0" marL="0">
              <a:buNone/>
            </a:pPr>
            <a:r>
              <a:rPr lang="en-US" sz="1300" b="1" dirty="0">
                <a:solidFill>
                  <a:srgbClr val="FFFFFF"/>
                </a:solidFill>
                <a:latin typeface="Arial" pitchFamily="34" charset="0"/>
                <a:ea typeface="Arial" pitchFamily="34" charset="-122"/>
                <a:cs typeface="Arial" pitchFamily="34" charset="-120"/>
              </a:rPr>
              <a:t>RESPONSABILIDAD</a:t>
            </a:r>
            <a:endParaRPr lang="en-US" sz="1300" dirty="0"/>
          </a:p>
        </p:txBody>
      </p:sp>
      <p:sp>
        <p:nvSpPr>
          <p:cNvPr id="16" name="Shape 13"/>
          <p:cNvSpPr/>
          <p:nvPr/>
        </p:nvSpPr>
        <p:spPr>
          <a:xfrm>
            <a:off x="594360" y="2167128"/>
            <a:ext cx="1920240" cy="585216"/>
          </a:xfrm>
          <a:prstGeom prst="rect">
            <a:avLst/>
          </a:prstGeom>
          <a:solidFill>
            <a:srgbClr val="FFFFFF"/>
          </a:solidFill>
          <a:ln w="8890">
            <a:solidFill>
              <a:srgbClr val="DEDEE2"/>
            </a:solidFill>
            <a:prstDash val="solid"/>
          </a:ln>
        </p:spPr>
      </p:sp>
      <p:sp>
        <p:nvSpPr>
          <p:cNvPr id="17" name="Text 14"/>
          <p:cNvSpPr/>
          <p:nvPr/>
        </p:nvSpPr>
        <p:spPr>
          <a:xfrm>
            <a:off x="713232" y="2304288"/>
            <a:ext cx="1682496" cy="402336"/>
          </a:xfrm>
          <a:prstGeom prst="rect">
            <a:avLst/>
          </a:prstGeom>
          <a:noFill/>
          <a:ln/>
        </p:spPr>
        <p:txBody>
          <a:bodyPr wrap="square" lIns="0" tIns="0" rIns="0" bIns="0" rtlCol="0" anchor="t">
            <a:normAutofit/>
          </a:bodyPr>
          <a:lstStyle/>
          <a:p>
            <a:pPr indent="0" marL="0">
              <a:buNone/>
            </a:pPr>
            <a:r>
              <a:rPr lang="en-US" sz="1600" b="1" dirty="0">
                <a:solidFill>
                  <a:srgbClr val="242426"/>
                </a:solidFill>
                <a:latin typeface="Arial" pitchFamily="34" charset="0"/>
                <a:ea typeface="Arial" pitchFamily="34" charset="-122"/>
                <a:cs typeface="Arial" pitchFamily="34" charset="-120"/>
              </a:rPr>
              <a:t>Backend</a:t>
            </a:r>
            <a:endParaRPr lang="en-US" sz="1600" dirty="0"/>
          </a:p>
        </p:txBody>
      </p:sp>
      <p:sp>
        <p:nvSpPr>
          <p:cNvPr id="18" name="Shape 15"/>
          <p:cNvSpPr/>
          <p:nvPr/>
        </p:nvSpPr>
        <p:spPr>
          <a:xfrm>
            <a:off x="2514600" y="2167128"/>
            <a:ext cx="3931920" cy="585216"/>
          </a:xfrm>
          <a:prstGeom prst="rect">
            <a:avLst/>
          </a:prstGeom>
          <a:solidFill>
            <a:srgbClr val="FFFFFF"/>
          </a:solidFill>
          <a:ln w="8890">
            <a:solidFill>
              <a:srgbClr val="DEDEE2"/>
            </a:solidFill>
            <a:prstDash val="solid"/>
          </a:ln>
        </p:spPr>
      </p:sp>
      <p:sp>
        <p:nvSpPr>
          <p:cNvPr id="19" name="Text 16"/>
          <p:cNvSpPr/>
          <p:nvPr/>
        </p:nvSpPr>
        <p:spPr>
          <a:xfrm>
            <a:off x="2633472" y="2304288"/>
            <a:ext cx="3694176" cy="402336"/>
          </a:xfrm>
          <a:prstGeom prst="rect">
            <a:avLst/>
          </a:prstGeom>
          <a:noFill/>
          <a:ln/>
        </p:spPr>
        <p:txBody>
          <a:bodyPr wrap="square" lIns="0" tIns="0" rIns="0" bIns="0" rtlCol="0" anchor="t">
            <a:normAutofit/>
          </a:bodyPr>
          <a:lstStyle/>
          <a:p>
            <a:pPr indent="0" marL="0">
              <a:buNone/>
            </a:pPr>
            <a:r>
              <a:rPr lang="en-US" sz="1600" dirty="0">
                <a:solidFill>
                  <a:srgbClr val="626269"/>
                </a:solidFill>
                <a:latin typeface="Arial" pitchFamily="34" charset="0"/>
                <a:ea typeface="Arial" pitchFamily="34" charset="-122"/>
                <a:cs typeface="Arial" pitchFamily="34" charset="-120"/>
              </a:rPr>
              <a:t>Node.js 22 · TypeScript 5.8 · Express 5</a:t>
            </a:r>
            <a:endParaRPr lang="en-US" sz="1600" dirty="0"/>
          </a:p>
        </p:txBody>
      </p:sp>
      <p:sp>
        <p:nvSpPr>
          <p:cNvPr id="20" name="Shape 17"/>
          <p:cNvSpPr/>
          <p:nvPr/>
        </p:nvSpPr>
        <p:spPr>
          <a:xfrm>
            <a:off x="6446520" y="2167128"/>
            <a:ext cx="5120640" cy="585216"/>
          </a:xfrm>
          <a:prstGeom prst="rect">
            <a:avLst/>
          </a:prstGeom>
          <a:solidFill>
            <a:srgbClr val="FFFFFF"/>
          </a:solidFill>
          <a:ln w="8890">
            <a:solidFill>
              <a:srgbClr val="DEDEE2"/>
            </a:solidFill>
            <a:prstDash val="solid"/>
          </a:ln>
        </p:spPr>
      </p:sp>
      <p:sp>
        <p:nvSpPr>
          <p:cNvPr id="21" name="Text 18"/>
          <p:cNvSpPr/>
          <p:nvPr/>
        </p:nvSpPr>
        <p:spPr>
          <a:xfrm>
            <a:off x="6565392" y="2304288"/>
            <a:ext cx="4882896" cy="402336"/>
          </a:xfrm>
          <a:prstGeom prst="rect">
            <a:avLst/>
          </a:prstGeom>
          <a:noFill/>
          <a:ln/>
        </p:spPr>
        <p:txBody>
          <a:bodyPr wrap="square" lIns="0" tIns="0" rIns="0" bIns="0" rtlCol="0" anchor="t">
            <a:normAutofit/>
          </a:bodyPr>
          <a:lstStyle/>
          <a:p>
            <a:pPr indent="0" marL="0">
              <a:buNone/>
            </a:pPr>
            <a:r>
              <a:rPr lang="en-US" sz="1600" dirty="0">
                <a:solidFill>
                  <a:srgbClr val="626269"/>
                </a:solidFill>
                <a:latin typeface="Arial" pitchFamily="34" charset="0"/>
                <a:ea typeface="Arial" pitchFamily="34" charset="-122"/>
                <a:cs typeface="Arial" pitchFamily="34" charset="-120"/>
              </a:rPr>
              <a:t>API, ejecución y entrega del dashboard</a:t>
            </a:r>
            <a:endParaRPr lang="en-US" sz="1600" dirty="0"/>
          </a:p>
        </p:txBody>
      </p:sp>
      <p:sp>
        <p:nvSpPr>
          <p:cNvPr id="22" name="Shape 19"/>
          <p:cNvSpPr/>
          <p:nvPr/>
        </p:nvSpPr>
        <p:spPr>
          <a:xfrm>
            <a:off x="594360" y="2752344"/>
            <a:ext cx="1920240" cy="585216"/>
          </a:xfrm>
          <a:prstGeom prst="rect">
            <a:avLst/>
          </a:prstGeom>
          <a:solidFill>
            <a:srgbClr val="EEEEF1"/>
          </a:solidFill>
          <a:ln w="8890">
            <a:solidFill>
              <a:srgbClr val="DEDEE2"/>
            </a:solidFill>
            <a:prstDash val="solid"/>
          </a:ln>
        </p:spPr>
      </p:sp>
      <p:sp>
        <p:nvSpPr>
          <p:cNvPr id="23" name="Text 20"/>
          <p:cNvSpPr/>
          <p:nvPr/>
        </p:nvSpPr>
        <p:spPr>
          <a:xfrm>
            <a:off x="713232" y="2889504"/>
            <a:ext cx="1682496" cy="402336"/>
          </a:xfrm>
          <a:prstGeom prst="rect">
            <a:avLst/>
          </a:prstGeom>
          <a:noFill/>
          <a:ln/>
        </p:spPr>
        <p:txBody>
          <a:bodyPr wrap="square" lIns="0" tIns="0" rIns="0" bIns="0" rtlCol="0" anchor="t">
            <a:normAutofit/>
          </a:bodyPr>
          <a:lstStyle/>
          <a:p>
            <a:pPr indent="0" marL="0">
              <a:buNone/>
            </a:pPr>
            <a:r>
              <a:rPr lang="en-US" sz="1600" b="1" dirty="0">
                <a:solidFill>
                  <a:srgbClr val="242426"/>
                </a:solidFill>
                <a:latin typeface="Arial" pitchFamily="34" charset="0"/>
                <a:ea typeface="Arial" pitchFamily="34" charset="-122"/>
                <a:cs typeface="Arial" pitchFamily="34" charset="-120"/>
              </a:rPr>
              <a:t>Crawler</a:t>
            </a:r>
            <a:endParaRPr lang="en-US" sz="1600" dirty="0"/>
          </a:p>
        </p:txBody>
      </p:sp>
      <p:sp>
        <p:nvSpPr>
          <p:cNvPr id="24" name="Shape 21"/>
          <p:cNvSpPr/>
          <p:nvPr/>
        </p:nvSpPr>
        <p:spPr>
          <a:xfrm>
            <a:off x="2514600" y="2752344"/>
            <a:ext cx="3931920" cy="585216"/>
          </a:xfrm>
          <a:prstGeom prst="rect">
            <a:avLst/>
          </a:prstGeom>
          <a:solidFill>
            <a:srgbClr val="EEEEF1"/>
          </a:solidFill>
          <a:ln w="8890">
            <a:solidFill>
              <a:srgbClr val="DEDEE2"/>
            </a:solidFill>
            <a:prstDash val="solid"/>
          </a:ln>
        </p:spPr>
      </p:sp>
      <p:sp>
        <p:nvSpPr>
          <p:cNvPr id="25" name="Text 22"/>
          <p:cNvSpPr/>
          <p:nvPr/>
        </p:nvSpPr>
        <p:spPr>
          <a:xfrm>
            <a:off x="2633472" y="2889504"/>
            <a:ext cx="3694176" cy="402336"/>
          </a:xfrm>
          <a:prstGeom prst="rect">
            <a:avLst/>
          </a:prstGeom>
          <a:noFill/>
          <a:ln/>
        </p:spPr>
        <p:txBody>
          <a:bodyPr wrap="square" lIns="0" tIns="0" rIns="0" bIns="0" rtlCol="0" anchor="t">
            <a:normAutofit/>
          </a:bodyPr>
          <a:lstStyle/>
          <a:p>
            <a:pPr indent="0" marL="0">
              <a:buNone/>
            </a:pPr>
            <a:r>
              <a:rPr lang="en-US" sz="1600" dirty="0">
                <a:solidFill>
                  <a:srgbClr val="626269"/>
                </a:solidFill>
                <a:latin typeface="Arial" pitchFamily="34" charset="0"/>
                <a:ea typeface="Arial" pitchFamily="34" charset="-122"/>
                <a:cs typeface="Arial" pitchFamily="34" charset="-120"/>
              </a:rPr>
              <a:t>Fetch + Cheerio</a:t>
            </a:r>
            <a:endParaRPr lang="en-US" sz="1600" dirty="0"/>
          </a:p>
        </p:txBody>
      </p:sp>
      <p:sp>
        <p:nvSpPr>
          <p:cNvPr id="26" name="Shape 23"/>
          <p:cNvSpPr/>
          <p:nvPr/>
        </p:nvSpPr>
        <p:spPr>
          <a:xfrm>
            <a:off x="6446520" y="2752344"/>
            <a:ext cx="5120640" cy="585216"/>
          </a:xfrm>
          <a:prstGeom prst="rect">
            <a:avLst/>
          </a:prstGeom>
          <a:solidFill>
            <a:srgbClr val="EEEEF1"/>
          </a:solidFill>
          <a:ln w="8890">
            <a:solidFill>
              <a:srgbClr val="DEDEE2"/>
            </a:solidFill>
            <a:prstDash val="solid"/>
          </a:ln>
        </p:spPr>
      </p:sp>
      <p:sp>
        <p:nvSpPr>
          <p:cNvPr id="27" name="Text 24"/>
          <p:cNvSpPr/>
          <p:nvPr/>
        </p:nvSpPr>
        <p:spPr>
          <a:xfrm>
            <a:off x="6565392" y="2889504"/>
            <a:ext cx="4882896" cy="402336"/>
          </a:xfrm>
          <a:prstGeom prst="rect">
            <a:avLst/>
          </a:prstGeom>
          <a:noFill/>
          <a:ln/>
        </p:spPr>
        <p:txBody>
          <a:bodyPr wrap="square" lIns="0" tIns="0" rIns="0" bIns="0" rtlCol="0" anchor="t">
            <a:normAutofit/>
          </a:bodyPr>
          <a:lstStyle/>
          <a:p>
            <a:pPr indent="0" marL="0">
              <a:buNone/>
            </a:pPr>
            <a:r>
              <a:rPr lang="en-US" sz="1600" dirty="0">
                <a:solidFill>
                  <a:srgbClr val="626269"/>
                </a:solidFill>
                <a:latin typeface="Arial" pitchFamily="34" charset="0"/>
                <a:ea typeface="Arial" pitchFamily="34" charset="-122"/>
                <a:cs typeface="Arial" pitchFamily="34" charset="-120"/>
              </a:rPr>
              <a:t>Recorrer HTML y extraer texto, enlaces y medios</a:t>
            </a:r>
            <a:endParaRPr lang="en-US" sz="1600" dirty="0"/>
          </a:p>
        </p:txBody>
      </p:sp>
      <p:sp>
        <p:nvSpPr>
          <p:cNvPr id="28" name="Shape 25"/>
          <p:cNvSpPr/>
          <p:nvPr/>
        </p:nvSpPr>
        <p:spPr>
          <a:xfrm>
            <a:off x="594360" y="3337560"/>
            <a:ext cx="1920240" cy="585216"/>
          </a:xfrm>
          <a:prstGeom prst="rect">
            <a:avLst/>
          </a:prstGeom>
          <a:solidFill>
            <a:srgbClr val="FFFFFF"/>
          </a:solidFill>
          <a:ln w="8890">
            <a:solidFill>
              <a:srgbClr val="DEDEE2"/>
            </a:solidFill>
            <a:prstDash val="solid"/>
          </a:ln>
        </p:spPr>
      </p:sp>
      <p:sp>
        <p:nvSpPr>
          <p:cNvPr id="29" name="Text 26"/>
          <p:cNvSpPr/>
          <p:nvPr/>
        </p:nvSpPr>
        <p:spPr>
          <a:xfrm>
            <a:off x="713232" y="3474720"/>
            <a:ext cx="1682496" cy="402336"/>
          </a:xfrm>
          <a:prstGeom prst="rect">
            <a:avLst/>
          </a:prstGeom>
          <a:noFill/>
          <a:ln/>
        </p:spPr>
        <p:txBody>
          <a:bodyPr wrap="square" lIns="0" tIns="0" rIns="0" bIns="0" rtlCol="0" anchor="t">
            <a:normAutofit/>
          </a:bodyPr>
          <a:lstStyle/>
          <a:p>
            <a:pPr indent="0" marL="0">
              <a:buNone/>
            </a:pPr>
            <a:r>
              <a:rPr lang="en-US" sz="1600" b="1" dirty="0">
                <a:solidFill>
                  <a:srgbClr val="242426"/>
                </a:solidFill>
                <a:latin typeface="Arial" pitchFamily="34" charset="0"/>
                <a:ea typeface="Arial" pitchFamily="34" charset="-122"/>
                <a:cs typeface="Arial" pitchFamily="34" charset="-120"/>
              </a:rPr>
              <a:t>IA</a:t>
            </a:r>
            <a:endParaRPr lang="en-US" sz="1600" dirty="0"/>
          </a:p>
        </p:txBody>
      </p:sp>
      <p:sp>
        <p:nvSpPr>
          <p:cNvPr id="30" name="Shape 27"/>
          <p:cNvSpPr/>
          <p:nvPr/>
        </p:nvSpPr>
        <p:spPr>
          <a:xfrm>
            <a:off x="2514600" y="3337560"/>
            <a:ext cx="3931920" cy="585216"/>
          </a:xfrm>
          <a:prstGeom prst="rect">
            <a:avLst/>
          </a:prstGeom>
          <a:solidFill>
            <a:srgbClr val="FFFFFF"/>
          </a:solidFill>
          <a:ln w="8890">
            <a:solidFill>
              <a:srgbClr val="DEDEE2"/>
            </a:solidFill>
            <a:prstDash val="solid"/>
          </a:ln>
        </p:spPr>
      </p:sp>
      <p:sp>
        <p:nvSpPr>
          <p:cNvPr id="31" name="Text 28"/>
          <p:cNvSpPr/>
          <p:nvPr/>
        </p:nvSpPr>
        <p:spPr>
          <a:xfrm>
            <a:off x="2633472" y="3474720"/>
            <a:ext cx="3694176" cy="402336"/>
          </a:xfrm>
          <a:prstGeom prst="rect">
            <a:avLst/>
          </a:prstGeom>
          <a:noFill/>
          <a:ln/>
        </p:spPr>
        <p:txBody>
          <a:bodyPr wrap="square" lIns="0" tIns="0" rIns="0" bIns="0" rtlCol="0" anchor="t">
            <a:normAutofit/>
          </a:bodyPr>
          <a:lstStyle/>
          <a:p>
            <a:pPr indent="0" marL="0">
              <a:buNone/>
            </a:pPr>
            <a:r>
              <a:rPr lang="en-US" sz="1600" dirty="0">
                <a:solidFill>
                  <a:srgbClr val="626269"/>
                </a:solidFill>
                <a:latin typeface="Arial" pitchFamily="34" charset="0"/>
                <a:ea typeface="Arial" pitchFamily="34" charset="-122"/>
                <a:cs typeface="Arial" pitchFamily="34" charset="-120"/>
              </a:rPr>
              <a:t>OpenAI SDK 5 · Responses API</a:t>
            </a:r>
            <a:endParaRPr lang="en-US" sz="1600" dirty="0"/>
          </a:p>
        </p:txBody>
      </p:sp>
      <p:sp>
        <p:nvSpPr>
          <p:cNvPr id="32" name="Shape 29"/>
          <p:cNvSpPr/>
          <p:nvPr/>
        </p:nvSpPr>
        <p:spPr>
          <a:xfrm>
            <a:off x="6446520" y="3337560"/>
            <a:ext cx="5120640" cy="585216"/>
          </a:xfrm>
          <a:prstGeom prst="rect">
            <a:avLst/>
          </a:prstGeom>
          <a:solidFill>
            <a:srgbClr val="FFFFFF"/>
          </a:solidFill>
          <a:ln w="8890">
            <a:solidFill>
              <a:srgbClr val="DEDEE2"/>
            </a:solidFill>
            <a:prstDash val="solid"/>
          </a:ln>
        </p:spPr>
      </p:sp>
      <p:sp>
        <p:nvSpPr>
          <p:cNvPr id="33" name="Text 30"/>
          <p:cNvSpPr/>
          <p:nvPr/>
        </p:nvSpPr>
        <p:spPr>
          <a:xfrm>
            <a:off x="6565392" y="3474720"/>
            <a:ext cx="4882896" cy="402336"/>
          </a:xfrm>
          <a:prstGeom prst="rect">
            <a:avLst/>
          </a:prstGeom>
          <a:noFill/>
          <a:ln/>
        </p:spPr>
        <p:txBody>
          <a:bodyPr wrap="square" lIns="0" tIns="0" rIns="0" bIns="0" rtlCol="0" anchor="t">
            <a:normAutofit/>
          </a:bodyPr>
          <a:lstStyle/>
          <a:p>
            <a:pPr indent="0" marL="0">
              <a:buNone/>
            </a:pPr>
            <a:r>
              <a:rPr lang="en-US" sz="1600" dirty="0">
                <a:solidFill>
                  <a:srgbClr val="626269"/>
                </a:solidFill>
                <a:latin typeface="Arial" pitchFamily="34" charset="0"/>
                <a:ea typeface="Arial" pitchFamily="34" charset="-122"/>
                <a:cs typeface="Arial" pitchFamily="34" charset="-120"/>
              </a:rPr>
              <a:t>Salidas estructuradas e inspección de imágenes</a:t>
            </a:r>
            <a:endParaRPr lang="en-US" sz="1600" dirty="0"/>
          </a:p>
        </p:txBody>
      </p:sp>
      <p:sp>
        <p:nvSpPr>
          <p:cNvPr id="34" name="Shape 31"/>
          <p:cNvSpPr/>
          <p:nvPr/>
        </p:nvSpPr>
        <p:spPr>
          <a:xfrm>
            <a:off x="594360" y="3922776"/>
            <a:ext cx="1920240" cy="585216"/>
          </a:xfrm>
          <a:prstGeom prst="rect">
            <a:avLst/>
          </a:prstGeom>
          <a:solidFill>
            <a:srgbClr val="EEEEF1"/>
          </a:solidFill>
          <a:ln w="8890">
            <a:solidFill>
              <a:srgbClr val="DEDEE2"/>
            </a:solidFill>
            <a:prstDash val="solid"/>
          </a:ln>
        </p:spPr>
      </p:sp>
      <p:sp>
        <p:nvSpPr>
          <p:cNvPr id="35" name="Text 32"/>
          <p:cNvSpPr/>
          <p:nvPr/>
        </p:nvSpPr>
        <p:spPr>
          <a:xfrm>
            <a:off x="713232" y="4059936"/>
            <a:ext cx="1682496" cy="402336"/>
          </a:xfrm>
          <a:prstGeom prst="rect">
            <a:avLst/>
          </a:prstGeom>
          <a:noFill/>
          <a:ln/>
        </p:spPr>
        <p:txBody>
          <a:bodyPr wrap="square" lIns="0" tIns="0" rIns="0" bIns="0" rtlCol="0" anchor="t">
            <a:normAutofit/>
          </a:bodyPr>
          <a:lstStyle/>
          <a:p>
            <a:pPr indent="0" marL="0">
              <a:buNone/>
            </a:pPr>
            <a:r>
              <a:rPr lang="en-US" sz="1600" b="1" dirty="0">
                <a:solidFill>
                  <a:srgbClr val="242426"/>
                </a:solidFill>
                <a:latin typeface="Arial" pitchFamily="34" charset="0"/>
                <a:ea typeface="Arial" pitchFamily="34" charset="-122"/>
                <a:cs typeface="Arial" pitchFamily="34" charset="-120"/>
              </a:rPr>
              <a:t>Reglas / validación</a:t>
            </a:r>
            <a:endParaRPr lang="en-US" sz="1600" dirty="0"/>
          </a:p>
        </p:txBody>
      </p:sp>
      <p:sp>
        <p:nvSpPr>
          <p:cNvPr id="36" name="Shape 33"/>
          <p:cNvSpPr/>
          <p:nvPr/>
        </p:nvSpPr>
        <p:spPr>
          <a:xfrm>
            <a:off x="2514600" y="3922776"/>
            <a:ext cx="3931920" cy="585216"/>
          </a:xfrm>
          <a:prstGeom prst="rect">
            <a:avLst/>
          </a:prstGeom>
          <a:solidFill>
            <a:srgbClr val="EEEEF1"/>
          </a:solidFill>
          <a:ln w="8890">
            <a:solidFill>
              <a:srgbClr val="DEDEE2"/>
            </a:solidFill>
            <a:prstDash val="solid"/>
          </a:ln>
        </p:spPr>
      </p:sp>
      <p:sp>
        <p:nvSpPr>
          <p:cNvPr id="37" name="Text 34"/>
          <p:cNvSpPr/>
          <p:nvPr/>
        </p:nvSpPr>
        <p:spPr>
          <a:xfrm>
            <a:off x="2633472" y="4059936"/>
            <a:ext cx="3694176" cy="402336"/>
          </a:xfrm>
          <a:prstGeom prst="rect">
            <a:avLst/>
          </a:prstGeom>
          <a:noFill/>
          <a:ln/>
        </p:spPr>
        <p:txBody>
          <a:bodyPr wrap="square" lIns="0" tIns="0" rIns="0" bIns="0" rtlCol="0" anchor="t">
            <a:normAutofit/>
          </a:bodyPr>
          <a:lstStyle/>
          <a:p>
            <a:pPr indent="0" marL="0">
              <a:buNone/>
            </a:pPr>
            <a:r>
              <a:rPr lang="en-US" sz="1600" dirty="0">
                <a:solidFill>
                  <a:srgbClr val="626269"/>
                </a:solidFill>
                <a:latin typeface="Arial" pitchFamily="34" charset="0"/>
                <a:ea typeface="Arial" pitchFamily="34" charset="-122"/>
                <a:cs typeface="Arial" pitchFamily="34" charset="-120"/>
              </a:rPr>
              <a:t>YAML + Ajv / JSON Schema</a:t>
            </a:r>
            <a:endParaRPr lang="en-US" sz="1600" dirty="0"/>
          </a:p>
        </p:txBody>
      </p:sp>
      <p:sp>
        <p:nvSpPr>
          <p:cNvPr id="38" name="Shape 35"/>
          <p:cNvSpPr/>
          <p:nvPr/>
        </p:nvSpPr>
        <p:spPr>
          <a:xfrm>
            <a:off x="6446520" y="3922776"/>
            <a:ext cx="5120640" cy="585216"/>
          </a:xfrm>
          <a:prstGeom prst="rect">
            <a:avLst/>
          </a:prstGeom>
          <a:solidFill>
            <a:srgbClr val="EEEEF1"/>
          </a:solidFill>
          <a:ln w="8890">
            <a:solidFill>
              <a:srgbClr val="DEDEE2"/>
            </a:solidFill>
            <a:prstDash val="solid"/>
          </a:ln>
        </p:spPr>
      </p:sp>
      <p:sp>
        <p:nvSpPr>
          <p:cNvPr id="39" name="Text 36"/>
          <p:cNvSpPr/>
          <p:nvPr/>
        </p:nvSpPr>
        <p:spPr>
          <a:xfrm>
            <a:off x="6565392" y="4059936"/>
            <a:ext cx="4882896" cy="402336"/>
          </a:xfrm>
          <a:prstGeom prst="rect">
            <a:avLst/>
          </a:prstGeom>
          <a:noFill/>
          <a:ln/>
        </p:spPr>
        <p:txBody>
          <a:bodyPr wrap="square" lIns="0" tIns="0" rIns="0" bIns="0" rtlCol="0" anchor="t">
            <a:normAutofit/>
          </a:bodyPr>
          <a:lstStyle/>
          <a:p>
            <a:pPr indent="0" marL="0">
              <a:buNone/>
            </a:pPr>
            <a:r>
              <a:rPr lang="en-US" sz="1600" dirty="0">
                <a:solidFill>
                  <a:srgbClr val="626269"/>
                </a:solidFill>
                <a:latin typeface="Arial" pitchFamily="34" charset="0"/>
                <a:ea typeface="Arial" pitchFamily="34" charset="-122"/>
                <a:cs typeface="Arial" pitchFamily="34" charset="-120"/>
              </a:rPr>
              <a:t>Perfil configurable y contrato de issues</a:t>
            </a:r>
            <a:endParaRPr lang="en-US" sz="1600" dirty="0"/>
          </a:p>
        </p:txBody>
      </p:sp>
      <p:sp>
        <p:nvSpPr>
          <p:cNvPr id="40" name="Shape 37"/>
          <p:cNvSpPr/>
          <p:nvPr/>
        </p:nvSpPr>
        <p:spPr>
          <a:xfrm>
            <a:off x="594360" y="4507992"/>
            <a:ext cx="1920240" cy="585216"/>
          </a:xfrm>
          <a:prstGeom prst="rect">
            <a:avLst/>
          </a:prstGeom>
          <a:solidFill>
            <a:srgbClr val="FFFFFF"/>
          </a:solidFill>
          <a:ln w="8890">
            <a:solidFill>
              <a:srgbClr val="DEDEE2"/>
            </a:solidFill>
            <a:prstDash val="solid"/>
          </a:ln>
        </p:spPr>
      </p:sp>
      <p:sp>
        <p:nvSpPr>
          <p:cNvPr id="41" name="Text 38"/>
          <p:cNvSpPr/>
          <p:nvPr/>
        </p:nvSpPr>
        <p:spPr>
          <a:xfrm>
            <a:off x="713232" y="4645152"/>
            <a:ext cx="1682496" cy="402336"/>
          </a:xfrm>
          <a:prstGeom prst="rect">
            <a:avLst/>
          </a:prstGeom>
          <a:noFill/>
          <a:ln/>
        </p:spPr>
        <p:txBody>
          <a:bodyPr wrap="square" lIns="0" tIns="0" rIns="0" bIns="0" rtlCol="0" anchor="t">
            <a:normAutofit/>
          </a:bodyPr>
          <a:lstStyle/>
          <a:p>
            <a:pPr indent="0" marL="0">
              <a:buNone/>
            </a:pPr>
            <a:r>
              <a:rPr lang="en-US" sz="1600" b="1" dirty="0">
                <a:solidFill>
                  <a:srgbClr val="242426"/>
                </a:solidFill>
                <a:latin typeface="Arial" pitchFamily="34" charset="0"/>
                <a:ea typeface="Arial" pitchFamily="34" charset="-122"/>
                <a:cs typeface="Arial" pitchFamily="34" charset="-120"/>
              </a:rPr>
              <a:t>Frontend</a:t>
            </a:r>
            <a:endParaRPr lang="en-US" sz="1600" dirty="0"/>
          </a:p>
        </p:txBody>
      </p:sp>
      <p:sp>
        <p:nvSpPr>
          <p:cNvPr id="42" name="Shape 39"/>
          <p:cNvSpPr/>
          <p:nvPr/>
        </p:nvSpPr>
        <p:spPr>
          <a:xfrm>
            <a:off x="2514600" y="4507992"/>
            <a:ext cx="3931920" cy="585216"/>
          </a:xfrm>
          <a:prstGeom prst="rect">
            <a:avLst/>
          </a:prstGeom>
          <a:solidFill>
            <a:srgbClr val="FFFFFF"/>
          </a:solidFill>
          <a:ln w="8890">
            <a:solidFill>
              <a:srgbClr val="DEDEE2"/>
            </a:solidFill>
            <a:prstDash val="solid"/>
          </a:ln>
        </p:spPr>
      </p:sp>
      <p:sp>
        <p:nvSpPr>
          <p:cNvPr id="43" name="Text 40"/>
          <p:cNvSpPr/>
          <p:nvPr/>
        </p:nvSpPr>
        <p:spPr>
          <a:xfrm>
            <a:off x="2633472" y="4645152"/>
            <a:ext cx="3694176" cy="402336"/>
          </a:xfrm>
          <a:prstGeom prst="rect">
            <a:avLst/>
          </a:prstGeom>
          <a:noFill/>
          <a:ln/>
        </p:spPr>
        <p:txBody>
          <a:bodyPr wrap="square" lIns="0" tIns="0" rIns="0" bIns="0" rtlCol="0" anchor="t">
            <a:normAutofit/>
          </a:bodyPr>
          <a:lstStyle/>
          <a:p>
            <a:pPr indent="0" marL="0">
              <a:buNone/>
            </a:pPr>
            <a:r>
              <a:rPr lang="en-US" sz="1600" dirty="0">
                <a:solidFill>
                  <a:srgbClr val="626269"/>
                </a:solidFill>
                <a:latin typeface="Arial" pitchFamily="34" charset="0"/>
                <a:ea typeface="Arial" pitchFamily="34" charset="-122"/>
                <a:cs typeface="Arial" pitchFamily="34" charset="-120"/>
              </a:rPr>
              <a:t>HTML · CSS · JavaScript nativo</a:t>
            </a:r>
            <a:endParaRPr lang="en-US" sz="1600" dirty="0"/>
          </a:p>
        </p:txBody>
      </p:sp>
      <p:sp>
        <p:nvSpPr>
          <p:cNvPr id="44" name="Shape 41"/>
          <p:cNvSpPr/>
          <p:nvPr/>
        </p:nvSpPr>
        <p:spPr>
          <a:xfrm>
            <a:off x="6446520" y="4507992"/>
            <a:ext cx="5120640" cy="585216"/>
          </a:xfrm>
          <a:prstGeom prst="rect">
            <a:avLst/>
          </a:prstGeom>
          <a:solidFill>
            <a:srgbClr val="FFFFFF"/>
          </a:solidFill>
          <a:ln w="8890">
            <a:solidFill>
              <a:srgbClr val="DEDEE2"/>
            </a:solidFill>
            <a:prstDash val="solid"/>
          </a:ln>
        </p:spPr>
      </p:sp>
      <p:sp>
        <p:nvSpPr>
          <p:cNvPr id="45" name="Text 42"/>
          <p:cNvSpPr/>
          <p:nvPr/>
        </p:nvSpPr>
        <p:spPr>
          <a:xfrm>
            <a:off x="6565392" y="4645152"/>
            <a:ext cx="4882896" cy="402336"/>
          </a:xfrm>
          <a:prstGeom prst="rect">
            <a:avLst/>
          </a:prstGeom>
          <a:noFill/>
          <a:ln/>
        </p:spPr>
        <p:txBody>
          <a:bodyPr wrap="square" lIns="0" tIns="0" rIns="0" bIns="0" rtlCol="0" anchor="t">
            <a:normAutofit/>
          </a:bodyPr>
          <a:lstStyle/>
          <a:p>
            <a:pPr indent="0" marL="0">
              <a:buNone/>
            </a:pPr>
            <a:r>
              <a:rPr lang="en-US" sz="1600" dirty="0">
                <a:solidFill>
                  <a:srgbClr val="626269"/>
                </a:solidFill>
                <a:latin typeface="Arial" pitchFamily="34" charset="0"/>
                <a:ea typeface="Arial" pitchFamily="34" charset="-122"/>
                <a:cs typeface="Arial" pitchFamily="34" charset="-120"/>
              </a:rPr>
              <a:t>Actividad, filtros y revisión de hallazgos</a:t>
            </a:r>
            <a:endParaRPr lang="en-US" sz="1600" dirty="0"/>
          </a:p>
        </p:txBody>
      </p:sp>
      <p:sp>
        <p:nvSpPr>
          <p:cNvPr id="46" name="Shape 43"/>
          <p:cNvSpPr/>
          <p:nvPr/>
        </p:nvSpPr>
        <p:spPr>
          <a:xfrm>
            <a:off x="594360" y="5093208"/>
            <a:ext cx="1920240" cy="585216"/>
          </a:xfrm>
          <a:prstGeom prst="rect">
            <a:avLst/>
          </a:prstGeom>
          <a:solidFill>
            <a:srgbClr val="EEEEF1"/>
          </a:solidFill>
          <a:ln w="8890">
            <a:solidFill>
              <a:srgbClr val="DEDEE2"/>
            </a:solidFill>
            <a:prstDash val="solid"/>
          </a:ln>
        </p:spPr>
      </p:sp>
      <p:sp>
        <p:nvSpPr>
          <p:cNvPr id="47" name="Text 44"/>
          <p:cNvSpPr/>
          <p:nvPr/>
        </p:nvSpPr>
        <p:spPr>
          <a:xfrm>
            <a:off x="713232" y="5230368"/>
            <a:ext cx="1682496" cy="402336"/>
          </a:xfrm>
          <a:prstGeom prst="rect">
            <a:avLst/>
          </a:prstGeom>
          <a:noFill/>
          <a:ln/>
        </p:spPr>
        <p:txBody>
          <a:bodyPr wrap="square" lIns="0" tIns="0" rIns="0" bIns="0" rtlCol="0" anchor="t">
            <a:normAutofit/>
          </a:bodyPr>
          <a:lstStyle/>
          <a:p>
            <a:pPr indent="0" marL="0">
              <a:buNone/>
            </a:pPr>
            <a:r>
              <a:rPr lang="en-US" sz="1600" b="1" dirty="0">
                <a:solidFill>
                  <a:srgbClr val="242426"/>
                </a:solidFill>
                <a:latin typeface="Arial" pitchFamily="34" charset="0"/>
                <a:ea typeface="Arial" pitchFamily="34" charset="-122"/>
                <a:cs typeface="Arial" pitchFamily="34" charset="-120"/>
              </a:rPr>
              <a:t>Ejecución / pruebas</a:t>
            </a:r>
            <a:endParaRPr lang="en-US" sz="1600" dirty="0"/>
          </a:p>
        </p:txBody>
      </p:sp>
      <p:sp>
        <p:nvSpPr>
          <p:cNvPr id="48" name="Shape 45"/>
          <p:cNvSpPr/>
          <p:nvPr/>
        </p:nvSpPr>
        <p:spPr>
          <a:xfrm>
            <a:off x="2514600" y="5093208"/>
            <a:ext cx="3931920" cy="585216"/>
          </a:xfrm>
          <a:prstGeom prst="rect">
            <a:avLst/>
          </a:prstGeom>
          <a:solidFill>
            <a:srgbClr val="EEEEF1"/>
          </a:solidFill>
          <a:ln w="8890">
            <a:solidFill>
              <a:srgbClr val="DEDEE2"/>
            </a:solidFill>
            <a:prstDash val="solid"/>
          </a:ln>
        </p:spPr>
      </p:sp>
      <p:sp>
        <p:nvSpPr>
          <p:cNvPr id="49" name="Text 46"/>
          <p:cNvSpPr/>
          <p:nvPr/>
        </p:nvSpPr>
        <p:spPr>
          <a:xfrm>
            <a:off x="2633472" y="5230368"/>
            <a:ext cx="3694176" cy="402336"/>
          </a:xfrm>
          <a:prstGeom prst="rect">
            <a:avLst/>
          </a:prstGeom>
          <a:noFill/>
          <a:ln/>
        </p:spPr>
        <p:txBody>
          <a:bodyPr wrap="square" lIns="0" tIns="0" rIns="0" bIns="0" rtlCol="0" anchor="t">
            <a:normAutofit/>
          </a:bodyPr>
          <a:lstStyle/>
          <a:p>
            <a:pPr indent="0" marL="0">
              <a:buNone/>
            </a:pPr>
            <a:r>
              <a:rPr lang="en-US" sz="1600" dirty="0">
                <a:solidFill>
                  <a:srgbClr val="626269"/>
                </a:solidFill>
                <a:latin typeface="Arial" pitchFamily="34" charset="0"/>
                <a:ea typeface="Arial" pitchFamily="34" charset="-122"/>
                <a:cs typeface="Arial" pitchFamily="34" charset="-120"/>
              </a:rPr>
              <a:t>Docker Compose · node:test · tsx</a:t>
            </a:r>
            <a:endParaRPr lang="en-US" sz="1600" dirty="0"/>
          </a:p>
        </p:txBody>
      </p:sp>
      <p:sp>
        <p:nvSpPr>
          <p:cNvPr id="50" name="Shape 47"/>
          <p:cNvSpPr/>
          <p:nvPr/>
        </p:nvSpPr>
        <p:spPr>
          <a:xfrm>
            <a:off x="6446520" y="5093208"/>
            <a:ext cx="5120640" cy="585216"/>
          </a:xfrm>
          <a:prstGeom prst="rect">
            <a:avLst/>
          </a:prstGeom>
          <a:solidFill>
            <a:srgbClr val="EEEEF1"/>
          </a:solidFill>
          <a:ln w="8890">
            <a:solidFill>
              <a:srgbClr val="DEDEE2"/>
            </a:solidFill>
            <a:prstDash val="solid"/>
          </a:ln>
        </p:spPr>
      </p:sp>
      <p:sp>
        <p:nvSpPr>
          <p:cNvPr id="51" name="Text 48"/>
          <p:cNvSpPr/>
          <p:nvPr/>
        </p:nvSpPr>
        <p:spPr>
          <a:xfrm>
            <a:off x="6565392" y="5230368"/>
            <a:ext cx="4882896" cy="402336"/>
          </a:xfrm>
          <a:prstGeom prst="rect">
            <a:avLst/>
          </a:prstGeom>
          <a:noFill/>
          <a:ln/>
        </p:spPr>
        <p:txBody>
          <a:bodyPr wrap="square" lIns="0" tIns="0" rIns="0" bIns="0" rtlCol="0" anchor="t">
            <a:normAutofit/>
          </a:bodyPr>
          <a:lstStyle/>
          <a:p>
            <a:pPr indent="0" marL="0">
              <a:buNone/>
            </a:pPr>
            <a:r>
              <a:rPr lang="en-US" sz="1600" dirty="0">
                <a:solidFill>
                  <a:srgbClr val="626269"/>
                </a:solidFill>
                <a:latin typeface="Arial" pitchFamily="34" charset="0"/>
                <a:ea typeface="Arial" pitchFamily="34" charset="-122"/>
                <a:cs typeface="Arial" pitchFamily="34" charset="-120"/>
              </a:rPr>
              <a:t>Entorno reproducible y pruebas con mocks</a:t>
            </a:r>
            <a:endParaRPr lang="en-US" sz="1600" dirty="0"/>
          </a:p>
        </p:txBody>
      </p:sp>
      <p:sp>
        <p:nvSpPr>
          <p:cNvPr id="52" name="Text 49"/>
          <p:cNvSpPr/>
          <p:nvPr/>
        </p:nvSpPr>
        <p:spPr>
          <a:xfrm>
            <a:off x="594360" y="5989320"/>
            <a:ext cx="10972800" cy="274320"/>
          </a:xfrm>
          <a:prstGeom prst="rect">
            <a:avLst/>
          </a:prstGeom>
          <a:noFill/>
          <a:ln/>
        </p:spPr>
        <p:txBody>
          <a:bodyPr wrap="square" lIns="0" tIns="0" rIns="0" bIns="0" rtlCol="0" anchor="t">
            <a:normAutofit/>
          </a:bodyPr>
          <a:lstStyle/>
          <a:p>
            <a:pPr indent="0" marL="0">
              <a:buNone/>
            </a:pPr>
            <a:r>
              <a:rPr lang="en-US" sz="1400" dirty="0">
                <a:solidFill>
                  <a:srgbClr val="626269"/>
                </a:solidFill>
                <a:latin typeface="Arial" pitchFamily="34" charset="0"/>
                <a:ea typeface="Arial" pitchFamily="34" charset="-122"/>
                <a:cs typeface="Arial" pitchFamily="34" charset="-120"/>
              </a:rPr>
              <a:t>Modelo observado: gpt-6-astra · configurable mediante OPENAI_MODEL. Estado almacenado en memoria.</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4F5"/>
        </a:solidFill>
      </p:bgPr>
    </p:bg>
    <p:spTree>
      <p:nvGrpSpPr>
        <p:cNvPr id="1" name=""/>
        <p:cNvGrpSpPr/>
        <p:nvPr/>
      </p:nvGrpSpPr>
      <p:grpSpPr>
        <a:xfrm>
          <a:off x="0" y="0"/>
          <a:ext cx="0" cy="0"/>
          <a:chOff x="0" y="0"/>
          <a:chExt cx="0" cy="0"/>
        </a:xfrm>
      </p:grpSpPr>
      <p:sp>
        <p:nvSpPr>
          <p:cNvPr id="2" name="Shape 0"/>
          <p:cNvSpPr/>
          <p:nvPr/>
        </p:nvSpPr>
        <p:spPr>
          <a:xfrm>
            <a:off x="0" y="0"/>
            <a:ext cx="12192000" cy="68580"/>
          </a:xfrm>
          <a:prstGeom prst="rect">
            <a:avLst/>
          </a:prstGeom>
          <a:solidFill>
            <a:srgbClr val="A80000"/>
          </a:solidFill>
          <a:ln w="8890">
            <a:solidFill>
              <a:srgbClr val="A80000"/>
            </a:solidFill>
            <a:prstDash val="solid"/>
          </a:ln>
        </p:spPr>
      </p:sp>
      <p:sp>
        <p:nvSpPr>
          <p:cNvPr id="3" name="Text 1"/>
          <p:cNvSpPr/>
          <p:nvPr/>
        </p:nvSpPr>
        <p:spPr>
          <a:xfrm>
            <a:off x="594360" y="274320"/>
            <a:ext cx="10058400" cy="219456"/>
          </a:xfrm>
          <a:prstGeom prst="rect">
            <a:avLst/>
          </a:prstGeom>
          <a:noFill/>
          <a:ln/>
        </p:spPr>
        <p:txBody>
          <a:bodyPr wrap="square" lIns="0" tIns="0" rIns="0" bIns="0" rtlCol="0" anchor="t">
            <a:normAutofit/>
          </a:bodyPr>
          <a:lstStyle/>
          <a:p>
            <a:pPr indent="0" marL="0">
              <a:buNone/>
            </a:pPr>
            <a:r>
              <a:rPr lang="en-US" sz="1000" b="1" dirty="0">
                <a:solidFill>
                  <a:srgbClr val="A80000"/>
                </a:solidFill>
                <a:latin typeface="Arial" pitchFamily="34" charset="0"/>
                <a:ea typeface="Arial" pitchFamily="34" charset="-122"/>
                <a:cs typeface="Arial" pitchFamily="34" charset="-120"/>
              </a:rPr>
              <a:t>DIAGRAMA</a:t>
            </a:r>
            <a:endParaRPr lang="en-US" sz="1000" dirty="0"/>
          </a:p>
        </p:txBody>
      </p:sp>
      <p:sp>
        <p:nvSpPr>
          <p:cNvPr id="4" name="Text 2"/>
          <p:cNvSpPr/>
          <p:nvPr/>
        </p:nvSpPr>
        <p:spPr>
          <a:xfrm>
            <a:off x="594360" y="667512"/>
            <a:ext cx="10972800" cy="594360"/>
          </a:xfrm>
          <a:prstGeom prst="rect">
            <a:avLst/>
          </a:prstGeom>
          <a:noFill/>
          <a:ln/>
        </p:spPr>
        <p:txBody>
          <a:bodyPr wrap="square" lIns="0" tIns="0" rIns="0" bIns="0" rtlCol="0" anchor="t">
            <a:normAutofit/>
          </a:bodyPr>
          <a:lstStyle/>
          <a:p>
            <a:pPr indent="0" marL="0">
              <a:buNone/>
            </a:pPr>
            <a:r>
              <a:rPr lang="en-US" sz="3000" b="1" dirty="0">
                <a:solidFill>
                  <a:srgbClr val="242426"/>
                </a:solidFill>
                <a:latin typeface="Arial" pitchFamily="34" charset="0"/>
                <a:ea typeface="Arial" pitchFamily="34" charset="-122"/>
                <a:cs typeface="Arial" pitchFamily="34" charset="-120"/>
              </a:rPr>
              <a:t>Arquitectura de extremo a extremo</a:t>
            </a:r>
            <a:endParaRPr lang="en-US" sz="3000" dirty="0"/>
          </a:p>
        </p:txBody>
      </p:sp>
      <p:sp>
        <p:nvSpPr>
          <p:cNvPr id="5" name="Shape 3"/>
          <p:cNvSpPr/>
          <p:nvPr/>
        </p:nvSpPr>
        <p:spPr>
          <a:xfrm>
            <a:off x="594360" y="6428232"/>
            <a:ext cx="10972800" cy="0"/>
          </a:xfrm>
          <a:prstGeom prst="line">
            <a:avLst/>
          </a:prstGeom>
          <a:noFill/>
          <a:ln w="17780">
            <a:solidFill>
              <a:srgbClr val="DEDEE2"/>
            </a:solidFill>
            <a:prstDash val="solid"/>
          </a:ln>
        </p:spPr>
      </p:sp>
      <p:sp>
        <p:nvSpPr>
          <p:cNvPr id="6" name="Text 4"/>
          <p:cNvSpPr/>
          <p:nvPr/>
        </p:nvSpPr>
        <p:spPr>
          <a:xfrm>
            <a:off x="594360" y="6547104"/>
            <a:ext cx="3749040" cy="164592"/>
          </a:xfrm>
          <a:prstGeom prst="rect">
            <a:avLst/>
          </a:prstGeom>
          <a:noFill/>
          <a:ln/>
        </p:spPr>
        <p:txBody>
          <a:bodyPr wrap="square" lIns="0" tIns="0" rIns="0" bIns="0" rtlCol="0" anchor="t">
            <a:normAutofit/>
          </a:bodyPr>
          <a:lstStyle/>
          <a:p>
            <a:pPr indent="0" marL="0">
              <a:buNone/>
            </a:pPr>
            <a:r>
              <a:rPr lang="en-US" sz="900" dirty="0">
                <a:solidFill>
                  <a:srgbClr val="626269"/>
                </a:solidFill>
                <a:latin typeface="Arial" pitchFamily="34" charset="0"/>
                <a:ea typeface="Arial" pitchFamily="34" charset="-122"/>
                <a:cs typeface="Arial" pitchFamily="34" charset="-120"/>
              </a:rPr>
              <a:t>SKYNET · 15 OCT 2026 · PRELIMINAR</a:t>
            </a:r>
            <a:endParaRPr lang="en-US" sz="900" dirty="0"/>
          </a:p>
        </p:txBody>
      </p:sp>
      <p:sp>
        <p:nvSpPr>
          <p:cNvPr id="7" name="Text 5"/>
          <p:cNvSpPr/>
          <p:nvPr/>
        </p:nvSpPr>
        <p:spPr>
          <a:xfrm>
            <a:off x="3931920" y="6547104"/>
            <a:ext cx="7178040" cy="164592"/>
          </a:xfrm>
          <a:prstGeom prst="rect">
            <a:avLst/>
          </a:prstGeom>
          <a:noFill/>
          <a:ln/>
        </p:spPr>
        <p:txBody>
          <a:bodyPr wrap="square" lIns="0" tIns="0" rIns="0" bIns="0" rtlCol="0" anchor="t">
            <a:normAutofit/>
          </a:bodyPr>
          <a:lstStyle/>
          <a:p>
            <a:pPr algn="r" indent="0" marL="0">
              <a:buNone/>
            </a:pPr>
            <a:r>
              <a:rPr lang="en-US" sz="850" dirty="0">
                <a:solidFill>
                  <a:srgbClr val="626269"/>
                </a:solidFill>
                <a:latin typeface="Arial" pitchFamily="34" charset="0"/>
                <a:ea typeface="Arial" pitchFamily="34" charset="-122"/>
                <a:cs typeface="Arial" pitchFamily="34" charset="-120"/>
              </a:rPr>
              <a:t>src/server.ts; src/orchestrator/audit.ts; src/agents/</a:t>
            </a:r>
            <a:endParaRPr lang="en-US" sz="850" dirty="0"/>
          </a:p>
        </p:txBody>
      </p:sp>
      <p:sp>
        <p:nvSpPr>
          <p:cNvPr id="8" name="Text 6"/>
          <p:cNvSpPr/>
          <p:nvPr/>
        </p:nvSpPr>
        <p:spPr>
          <a:xfrm>
            <a:off x="11292840" y="6510528"/>
            <a:ext cx="320040" cy="228600"/>
          </a:xfrm>
          <a:prstGeom prst="rect">
            <a:avLst/>
          </a:prstGeom>
          <a:noFill/>
          <a:ln/>
        </p:spPr>
        <p:txBody>
          <a:bodyPr wrap="square" lIns="0" tIns="0" rIns="0" bIns="0" rtlCol="0" anchor="t">
            <a:normAutofit/>
          </a:bodyPr>
          <a:lstStyle/>
          <a:p>
            <a:pPr algn="r" indent="0" marL="0">
              <a:buNone/>
            </a:pPr>
            <a:r>
              <a:rPr lang="en-US" sz="1100" b="1" dirty="0">
                <a:solidFill>
                  <a:srgbClr val="A80000"/>
                </a:solidFill>
                <a:latin typeface="Arial" pitchFamily="34" charset="0"/>
                <a:ea typeface="Arial" pitchFamily="34" charset="-122"/>
                <a:cs typeface="Arial" pitchFamily="34" charset="-120"/>
              </a:rPr>
              <a:t>06</a:t>
            </a:r>
            <a:endParaRPr lang="en-US" sz="1100" dirty="0"/>
          </a:p>
        </p:txBody>
      </p:sp>
      <p:sp>
        <p:nvSpPr>
          <p:cNvPr id="10" name="Shape 7"/>
          <p:cNvSpPr/>
          <p:nvPr/>
        </p:nvSpPr>
        <p:spPr>
          <a:xfrm>
            <a:off x="594360" y="1874520"/>
            <a:ext cx="2148840" cy="1188720"/>
          </a:xfrm>
          <a:prstGeom prst="rect">
            <a:avLst/>
          </a:prstGeom>
          <a:solidFill>
            <a:srgbClr val="FFFFFF"/>
          </a:solidFill>
          <a:ln w="8890">
            <a:solidFill>
              <a:srgbClr val="DEDEE2"/>
            </a:solidFill>
            <a:prstDash val="solid"/>
          </a:ln>
        </p:spPr>
      </p:sp>
      <p:sp>
        <p:nvSpPr>
          <p:cNvPr id="11" name="Text 8"/>
          <p:cNvSpPr/>
          <p:nvPr/>
        </p:nvSpPr>
        <p:spPr>
          <a:xfrm>
            <a:off x="731520" y="2011680"/>
            <a:ext cx="1874520" cy="347472"/>
          </a:xfrm>
          <a:prstGeom prst="rect">
            <a:avLst/>
          </a:prstGeom>
          <a:noFill/>
          <a:ln/>
        </p:spPr>
        <p:txBody>
          <a:bodyPr wrap="square" lIns="0" tIns="0" rIns="0" bIns="0" rtlCol="0" anchor="t">
            <a:normAutofit/>
          </a:bodyPr>
          <a:lstStyle/>
          <a:p>
            <a:pPr indent="0" marL="0">
              <a:buNone/>
            </a:pPr>
            <a:r>
              <a:rPr lang="en-US" sz="1800" b="1" dirty="0">
                <a:solidFill>
                  <a:srgbClr val="242426"/>
                </a:solidFill>
                <a:latin typeface="Arial" pitchFamily="34" charset="0"/>
                <a:ea typeface="Arial" pitchFamily="34" charset="-122"/>
                <a:cs typeface="Arial" pitchFamily="34" charset="-120"/>
              </a:rPr>
              <a:t>Dashboard</a:t>
            </a:r>
            <a:endParaRPr lang="en-US" sz="1800" dirty="0"/>
          </a:p>
        </p:txBody>
      </p:sp>
      <p:sp>
        <p:nvSpPr>
          <p:cNvPr id="12" name="Text 9"/>
          <p:cNvSpPr/>
          <p:nvPr/>
        </p:nvSpPr>
        <p:spPr>
          <a:xfrm>
            <a:off x="731520" y="2468880"/>
            <a:ext cx="1874520" cy="548640"/>
          </a:xfrm>
          <a:prstGeom prst="rect">
            <a:avLst/>
          </a:prstGeom>
          <a:noFill/>
          <a:ln/>
        </p:spPr>
        <p:txBody>
          <a:bodyPr wrap="square" lIns="0" tIns="0" rIns="0" bIns="0" rtlCol="0" anchor="t">
            <a:normAutofit/>
          </a:bodyPr>
          <a:lstStyle/>
          <a:p>
            <a:pPr indent="0" marL="0">
              <a:buNone/>
            </a:pPr>
            <a:r>
              <a:rPr lang="en-US" sz="1500" dirty="0">
                <a:solidFill>
                  <a:srgbClr val="626269"/>
                </a:solidFill>
                <a:latin typeface="Arial" pitchFamily="34" charset="0"/>
                <a:ea typeface="Arial" pitchFamily="34" charset="-122"/>
                <a:cs typeface="Arial" pitchFamily="34" charset="-120"/>
              </a:rPr>
              <a:t>Acciones + revisión</a:t>
            </a:r>
            <a:endParaRPr lang="en-US" sz="1500" dirty="0"/>
          </a:p>
        </p:txBody>
      </p:sp>
      <p:sp>
        <p:nvSpPr>
          <p:cNvPr id="13" name="Shape 10"/>
          <p:cNvSpPr/>
          <p:nvPr/>
        </p:nvSpPr>
        <p:spPr>
          <a:xfrm>
            <a:off x="3337560" y="1874520"/>
            <a:ext cx="2240280" cy="1188720"/>
          </a:xfrm>
          <a:prstGeom prst="rect">
            <a:avLst/>
          </a:prstGeom>
          <a:solidFill>
            <a:srgbClr val="FFFFFF"/>
          </a:solidFill>
          <a:ln w="8890">
            <a:solidFill>
              <a:srgbClr val="DEDEE2"/>
            </a:solidFill>
            <a:prstDash val="solid"/>
          </a:ln>
        </p:spPr>
      </p:sp>
      <p:sp>
        <p:nvSpPr>
          <p:cNvPr id="14" name="Text 11"/>
          <p:cNvSpPr/>
          <p:nvPr/>
        </p:nvSpPr>
        <p:spPr>
          <a:xfrm>
            <a:off x="3474720" y="2011680"/>
            <a:ext cx="1965960" cy="347472"/>
          </a:xfrm>
          <a:prstGeom prst="rect">
            <a:avLst/>
          </a:prstGeom>
          <a:noFill/>
          <a:ln/>
        </p:spPr>
        <p:txBody>
          <a:bodyPr wrap="square" lIns="0" tIns="0" rIns="0" bIns="0" rtlCol="0" anchor="t">
            <a:normAutofit/>
          </a:bodyPr>
          <a:lstStyle/>
          <a:p>
            <a:pPr indent="0" marL="0">
              <a:buNone/>
            </a:pPr>
            <a:r>
              <a:rPr lang="en-US" sz="1800" b="1" dirty="0">
                <a:solidFill>
                  <a:srgbClr val="242426"/>
                </a:solidFill>
                <a:latin typeface="Arial" pitchFamily="34" charset="0"/>
                <a:ea typeface="Arial" pitchFamily="34" charset="-122"/>
                <a:cs typeface="Arial" pitchFamily="34" charset="-120"/>
              </a:rPr>
              <a:t>Express API</a:t>
            </a:r>
            <a:endParaRPr lang="en-US" sz="1800" dirty="0"/>
          </a:p>
        </p:txBody>
      </p:sp>
      <p:sp>
        <p:nvSpPr>
          <p:cNvPr id="15" name="Text 12"/>
          <p:cNvSpPr/>
          <p:nvPr/>
        </p:nvSpPr>
        <p:spPr>
          <a:xfrm>
            <a:off x="3474720" y="2468880"/>
            <a:ext cx="1965960" cy="548640"/>
          </a:xfrm>
          <a:prstGeom prst="rect">
            <a:avLst/>
          </a:prstGeom>
          <a:noFill/>
          <a:ln/>
        </p:spPr>
        <p:txBody>
          <a:bodyPr wrap="square" lIns="0" tIns="0" rIns="0" bIns="0" rtlCol="0" anchor="t">
            <a:normAutofit/>
          </a:bodyPr>
          <a:lstStyle/>
          <a:p>
            <a:pPr indent="0" marL="0">
              <a:buNone/>
            </a:pPr>
            <a:r>
              <a:rPr lang="en-US" sz="1500" dirty="0">
                <a:solidFill>
                  <a:srgbClr val="626269"/>
                </a:solidFill>
                <a:latin typeface="Arial" pitchFamily="34" charset="0"/>
                <a:ea typeface="Arial" pitchFamily="34" charset="-122"/>
                <a:cs typeface="Arial" pitchFamily="34" charset="-120"/>
              </a:rPr>
              <a:t>HTTP / polling</a:t>
            </a:r>
            <a:endParaRPr lang="en-US" sz="1500" dirty="0"/>
          </a:p>
        </p:txBody>
      </p:sp>
      <p:sp>
        <p:nvSpPr>
          <p:cNvPr id="16" name="Shape 13"/>
          <p:cNvSpPr/>
          <p:nvPr/>
        </p:nvSpPr>
        <p:spPr>
          <a:xfrm>
            <a:off x="6172200" y="1874520"/>
            <a:ext cx="2377440" cy="1188720"/>
          </a:xfrm>
          <a:prstGeom prst="rect">
            <a:avLst/>
          </a:prstGeom>
          <a:solidFill>
            <a:srgbClr val="FFFFFF"/>
          </a:solidFill>
          <a:ln w="8890">
            <a:solidFill>
              <a:srgbClr val="DEDEE2"/>
            </a:solidFill>
            <a:prstDash val="solid"/>
          </a:ln>
        </p:spPr>
      </p:sp>
      <p:sp>
        <p:nvSpPr>
          <p:cNvPr id="17" name="Text 14"/>
          <p:cNvSpPr/>
          <p:nvPr/>
        </p:nvSpPr>
        <p:spPr>
          <a:xfrm>
            <a:off x="6309360" y="2011680"/>
            <a:ext cx="2103120" cy="347472"/>
          </a:xfrm>
          <a:prstGeom prst="rect">
            <a:avLst/>
          </a:prstGeom>
          <a:noFill/>
          <a:ln/>
        </p:spPr>
        <p:txBody>
          <a:bodyPr wrap="square" lIns="0" tIns="0" rIns="0" bIns="0" rtlCol="0" anchor="t">
            <a:normAutofit/>
          </a:bodyPr>
          <a:lstStyle/>
          <a:p>
            <a:pPr indent="0" marL="0">
              <a:buNone/>
            </a:pPr>
            <a:r>
              <a:rPr lang="en-US" sz="1800" b="1" dirty="0">
                <a:solidFill>
                  <a:srgbClr val="242426"/>
                </a:solidFill>
                <a:latin typeface="Arial" pitchFamily="34" charset="0"/>
                <a:ea typeface="Arial" pitchFamily="34" charset="-122"/>
                <a:cs typeface="Arial" pitchFamily="34" charset="-120"/>
              </a:rPr>
              <a:t>Orquestador</a:t>
            </a:r>
            <a:endParaRPr lang="en-US" sz="1800" dirty="0"/>
          </a:p>
        </p:txBody>
      </p:sp>
      <p:sp>
        <p:nvSpPr>
          <p:cNvPr id="18" name="Text 15"/>
          <p:cNvSpPr/>
          <p:nvPr/>
        </p:nvSpPr>
        <p:spPr>
          <a:xfrm>
            <a:off x="6309360" y="2468880"/>
            <a:ext cx="2103120" cy="548640"/>
          </a:xfrm>
          <a:prstGeom prst="rect">
            <a:avLst/>
          </a:prstGeom>
          <a:noFill/>
          <a:ln/>
        </p:spPr>
        <p:txBody>
          <a:bodyPr wrap="square" lIns="0" tIns="0" rIns="0" bIns="0" rtlCol="0" anchor="t">
            <a:normAutofit/>
          </a:bodyPr>
          <a:lstStyle/>
          <a:p>
            <a:pPr indent="0" marL="0">
              <a:buNone/>
            </a:pPr>
            <a:r>
              <a:rPr lang="en-US" sz="1500" dirty="0">
                <a:solidFill>
                  <a:srgbClr val="626269"/>
                </a:solidFill>
                <a:latin typeface="Arial" pitchFamily="34" charset="0"/>
                <a:ea typeface="Arial" pitchFamily="34" charset="-122"/>
                <a:cs typeface="Arial" pitchFamily="34" charset="-120"/>
              </a:rPr>
              <a:t>Registro + cola local</a:t>
            </a:r>
            <a:endParaRPr lang="en-US" sz="1500" dirty="0"/>
          </a:p>
        </p:txBody>
      </p:sp>
      <p:sp>
        <p:nvSpPr>
          <p:cNvPr id="19" name="Shape 16"/>
          <p:cNvSpPr/>
          <p:nvPr/>
        </p:nvSpPr>
        <p:spPr>
          <a:xfrm>
            <a:off x="9144000" y="1874520"/>
            <a:ext cx="2423160" cy="1188720"/>
          </a:xfrm>
          <a:prstGeom prst="rect">
            <a:avLst/>
          </a:prstGeom>
          <a:solidFill>
            <a:srgbClr val="FFFFFF"/>
          </a:solidFill>
          <a:ln w="8890">
            <a:solidFill>
              <a:srgbClr val="DEDEE2"/>
            </a:solidFill>
            <a:prstDash val="solid"/>
          </a:ln>
        </p:spPr>
      </p:sp>
      <p:sp>
        <p:nvSpPr>
          <p:cNvPr id="20" name="Text 17"/>
          <p:cNvSpPr/>
          <p:nvPr/>
        </p:nvSpPr>
        <p:spPr>
          <a:xfrm>
            <a:off x="9281160" y="2011680"/>
            <a:ext cx="2148840" cy="347472"/>
          </a:xfrm>
          <a:prstGeom prst="rect">
            <a:avLst/>
          </a:prstGeom>
          <a:noFill/>
          <a:ln/>
        </p:spPr>
        <p:txBody>
          <a:bodyPr wrap="square" lIns="0" tIns="0" rIns="0" bIns="0" rtlCol="0" anchor="t">
            <a:normAutofit/>
          </a:bodyPr>
          <a:lstStyle/>
          <a:p>
            <a:pPr indent="0" marL="0">
              <a:buNone/>
            </a:pPr>
            <a:r>
              <a:rPr lang="en-US" sz="1800" b="1" dirty="0">
                <a:solidFill>
                  <a:srgbClr val="242426"/>
                </a:solidFill>
                <a:latin typeface="Arial" pitchFamily="34" charset="0"/>
                <a:ea typeface="Arial" pitchFamily="34" charset="-122"/>
                <a:cs typeface="Arial" pitchFamily="34" charset="-120"/>
              </a:rPr>
              <a:t>Agentes</a:t>
            </a:r>
            <a:endParaRPr lang="en-US" sz="1800" dirty="0"/>
          </a:p>
        </p:txBody>
      </p:sp>
      <p:sp>
        <p:nvSpPr>
          <p:cNvPr id="21" name="Text 18"/>
          <p:cNvSpPr/>
          <p:nvPr/>
        </p:nvSpPr>
        <p:spPr>
          <a:xfrm>
            <a:off x="9281160" y="2468880"/>
            <a:ext cx="2148840" cy="548640"/>
          </a:xfrm>
          <a:prstGeom prst="rect">
            <a:avLst/>
          </a:prstGeom>
          <a:noFill/>
          <a:ln/>
        </p:spPr>
        <p:txBody>
          <a:bodyPr wrap="square" lIns="0" tIns="0" rIns="0" bIns="0" rtlCol="0" anchor="t">
            <a:normAutofit/>
          </a:bodyPr>
          <a:lstStyle/>
          <a:p>
            <a:pPr indent="0" marL="0">
              <a:buNone/>
            </a:pPr>
            <a:r>
              <a:rPr lang="en-US" sz="1500" dirty="0">
                <a:solidFill>
                  <a:srgbClr val="626269"/>
                </a:solidFill>
                <a:latin typeface="Arial" pitchFamily="34" charset="0"/>
                <a:ea typeface="Arial" pitchFamily="34" charset="-122"/>
                <a:cs typeface="Arial" pitchFamily="34" charset="-120"/>
              </a:rPr>
              <a:t>6 módulos / 8 categorías</a:t>
            </a:r>
            <a:endParaRPr lang="en-US" sz="1500" dirty="0"/>
          </a:p>
        </p:txBody>
      </p:sp>
      <p:sp>
        <p:nvSpPr>
          <p:cNvPr id="22" name="Shape 19"/>
          <p:cNvSpPr/>
          <p:nvPr/>
        </p:nvSpPr>
        <p:spPr>
          <a:xfrm>
            <a:off x="2743200" y="2468880"/>
            <a:ext cx="594360" cy="0"/>
          </a:xfrm>
          <a:prstGeom prst="line">
            <a:avLst/>
          </a:prstGeom>
          <a:noFill/>
          <a:ln w="17780">
            <a:solidFill>
              <a:srgbClr val="A80000"/>
            </a:solidFill>
            <a:prstDash val="solid"/>
            <a:tailEnd type="triangle"/>
          </a:ln>
        </p:spPr>
      </p:sp>
      <p:sp>
        <p:nvSpPr>
          <p:cNvPr id="23" name="Shape 20"/>
          <p:cNvSpPr/>
          <p:nvPr/>
        </p:nvSpPr>
        <p:spPr>
          <a:xfrm>
            <a:off x="5577840" y="2468880"/>
            <a:ext cx="594360" cy="0"/>
          </a:xfrm>
          <a:prstGeom prst="line">
            <a:avLst/>
          </a:prstGeom>
          <a:noFill/>
          <a:ln w="17780">
            <a:solidFill>
              <a:srgbClr val="A80000"/>
            </a:solidFill>
            <a:prstDash val="solid"/>
            <a:tailEnd type="triangle"/>
          </a:ln>
        </p:spPr>
      </p:sp>
      <p:sp>
        <p:nvSpPr>
          <p:cNvPr id="24" name="Shape 21"/>
          <p:cNvSpPr/>
          <p:nvPr/>
        </p:nvSpPr>
        <p:spPr>
          <a:xfrm>
            <a:off x="8549640" y="2468880"/>
            <a:ext cx="594360" cy="0"/>
          </a:xfrm>
          <a:prstGeom prst="line">
            <a:avLst/>
          </a:prstGeom>
          <a:noFill/>
          <a:ln w="17780">
            <a:solidFill>
              <a:srgbClr val="A80000"/>
            </a:solidFill>
            <a:prstDash val="solid"/>
            <a:tailEnd type="triangle"/>
          </a:ln>
        </p:spPr>
      </p:sp>
      <p:sp>
        <p:nvSpPr>
          <p:cNvPr id="25" name="Shape 22"/>
          <p:cNvSpPr/>
          <p:nvPr/>
        </p:nvSpPr>
        <p:spPr>
          <a:xfrm>
            <a:off x="594360" y="3977640"/>
            <a:ext cx="2148840" cy="1188720"/>
          </a:xfrm>
          <a:prstGeom prst="rect">
            <a:avLst/>
          </a:prstGeom>
          <a:solidFill>
            <a:srgbClr val="FFFFFF"/>
          </a:solidFill>
          <a:ln w="8890">
            <a:solidFill>
              <a:srgbClr val="DEDEE2"/>
            </a:solidFill>
            <a:prstDash val="solid"/>
          </a:ln>
        </p:spPr>
      </p:sp>
      <p:sp>
        <p:nvSpPr>
          <p:cNvPr id="26" name="Text 23"/>
          <p:cNvSpPr/>
          <p:nvPr/>
        </p:nvSpPr>
        <p:spPr>
          <a:xfrm>
            <a:off x="731520" y="4114800"/>
            <a:ext cx="1874520" cy="347472"/>
          </a:xfrm>
          <a:prstGeom prst="rect">
            <a:avLst/>
          </a:prstGeom>
          <a:noFill/>
          <a:ln/>
        </p:spPr>
        <p:txBody>
          <a:bodyPr wrap="square" lIns="0" tIns="0" rIns="0" bIns="0" rtlCol="0" anchor="t">
            <a:normAutofit/>
          </a:bodyPr>
          <a:lstStyle/>
          <a:p>
            <a:pPr indent="0" marL="0">
              <a:buNone/>
            </a:pPr>
            <a:r>
              <a:rPr lang="en-US" sz="1800" b="1" dirty="0">
                <a:solidFill>
                  <a:srgbClr val="242426"/>
                </a:solidFill>
                <a:latin typeface="Arial" pitchFamily="34" charset="0"/>
                <a:ea typeface="Arial" pitchFamily="34" charset="-122"/>
                <a:cs typeface="Arial" pitchFamily="34" charset="-120"/>
              </a:rPr>
              <a:t>Entradas</a:t>
            </a:r>
            <a:endParaRPr lang="en-US" sz="1800" dirty="0"/>
          </a:p>
        </p:txBody>
      </p:sp>
      <p:sp>
        <p:nvSpPr>
          <p:cNvPr id="27" name="Text 24"/>
          <p:cNvSpPr/>
          <p:nvPr/>
        </p:nvSpPr>
        <p:spPr>
          <a:xfrm>
            <a:off x="731520" y="4572000"/>
            <a:ext cx="1874520" cy="548640"/>
          </a:xfrm>
          <a:prstGeom prst="rect">
            <a:avLst/>
          </a:prstGeom>
          <a:noFill/>
          <a:ln/>
        </p:spPr>
        <p:txBody>
          <a:bodyPr wrap="square" lIns="0" tIns="0" rIns="0" bIns="0" rtlCol="0" anchor="t">
            <a:normAutofit/>
          </a:bodyPr>
          <a:lstStyle/>
          <a:p>
            <a:pPr indent="0" marL="0">
              <a:buNone/>
            </a:pPr>
            <a:r>
              <a:rPr lang="en-US" sz="1500" dirty="0">
                <a:solidFill>
                  <a:srgbClr val="626269"/>
                </a:solidFill>
                <a:latin typeface="Arial" pitchFamily="34" charset="0"/>
                <a:ea typeface="Arial" pitchFamily="34" charset="-122"/>
                <a:cs typeface="Arial" pitchFamily="34" charset="-120"/>
              </a:rPr>
              <a:t>YAML + MD + schema</a:t>
            </a:r>
            <a:endParaRPr lang="en-US" sz="1500" dirty="0"/>
          </a:p>
        </p:txBody>
      </p:sp>
      <p:sp>
        <p:nvSpPr>
          <p:cNvPr id="28" name="Shape 25"/>
          <p:cNvSpPr/>
          <p:nvPr/>
        </p:nvSpPr>
        <p:spPr>
          <a:xfrm>
            <a:off x="3337560" y="3977640"/>
            <a:ext cx="2240280" cy="1188720"/>
          </a:xfrm>
          <a:prstGeom prst="rect">
            <a:avLst/>
          </a:prstGeom>
          <a:solidFill>
            <a:srgbClr val="FFFFFF"/>
          </a:solidFill>
          <a:ln w="8890">
            <a:solidFill>
              <a:srgbClr val="DEDEE2"/>
            </a:solidFill>
            <a:prstDash val="solid"/>
          </a:ln>
        </p:spPr>
      </p:sp>
      <p:sp>
        <p:nvSpPr>
          <p:cNvPr id="29" name="Text 26"/>
          <p:cNvSpPr/>
          <p:nvPr/>
        </p:nvSpPr>
        <p:spPr>
          <a:xfrm>
            <a:off x="3474720" y="4114800"/>
            <a:ext cx="1965960" cy="347472"/>
          </a:xfrm>
          <a:prstGeom prst="rect">
            <a:avLst/>
          </a:prstGeom>
          <a:noFill/>
          <a:ln/>
        </p:spPr>
        <p:txBody>
          <a:bodyPr wrap="square" lIns="0" tIns="0" rIns="0" bIns="0" rtlCol="0" anchor="t">
            <a:normAutofit/>
          </a:bodyPr>
          <a:lstStyle/>
          <a:p>
            <a:pPr indent="0" marL="0">
              <a:buNone/>
            </a:pPr>
            <a:r>
              <a:rPr lang="en-US" sz="1800" b="1" dirty="0">
                <a:solidFill>
                  <a:srgbClr val="242426"/>
                </a:solidFill>
                <a:latin typeface="Arial" pitchFamily="34" charset="0"/>
                <a:ea typeface="Arial" pitchFamily="34" charset="-122"/>
                <a:cs typeface="Arial" pitchFamily="34" charset="-120"/>
              </a:rPr>
              <a:t>Estado en memoria</a:t>
            </a:r>
            <a:endParaRPr lang="en-US" sz="1800" dirty="0"/>
          </a:p>
        </p:txBody>
      </p:sp>
      <p:sp>
        <p:nvSpPr>
          <p:cNvPr id="30" name="Text 27"/>
          <p:cNvSpPr/>
          <p:nvPr/>
        </p:nvSpPr>
        <p:spPr>
          <a:xfrm>
            <a:off x="3474720" y="4572000"/>
            <a:ext cx="1965960" cy="548640"/>
          </a:xfrm>
          <a:prstGeom prst="rect">
            <a:avLst/>
          </a:prstGeom>
          <a:noFill/>
          <a:ln/>
        </p:spPr>
        <p:txBody>
          <a:bodyPr wrap="square" lIns="0" tIns="0" rIns="0" bIns="0" rtlCol="0" anchor="t">
            <a:normAutofit/>
          </a:bodyPr>
          <a:lstStyle/>
          <a:p>
            <a:pPr indent="0" marL="0">
              <a:buNone/>
            </a:pPr>
            <a:r>
              <a:rPr lang="en-US" sz="1500" dirty="0">
                <a:solidFill>
                  <a:srgbClr val="626269"/>
                </a:solidFill>
                <a:latin typeface="Arial" pitchFamily="34" charset="0"/>
                <a:ea typeface="Arial" pitchFamily="34" charset="-122"/>
                <a:cs typeface="Arial" pitchFamily="34" charset="-120"/>
              </a:rPr>
              <a:t>Run + issues + revisión</a:t>
            </a:r>
            <a:endParaRPr lang="en-US" sz="1500" dirty="0"/>
          </a:p>
        </p:txBody>
      </p:sp>
      <p:sp>
        <p:nvSpPr>
          <p:cNvPr id="31" name="Shape 28"/>
          <p:cNvSpPr/>
          <p:nvPr/>
        </p:nvSpPr>
        <p:spPr>
          <a:xfrm>
            <a:off x="6172200" y="3977640"/>
            <a:ext cx="2377440" cy="1188720"/>
          </a:xfrm>
          <a:prstGeom prst="rect">
            <a:avLst/>
          </a:prstGeom>
          <a:solidFill>
            <a:srgbClr val="FFFFFF"/>
          </a:solidFill>
          <a:ln w="8890">
            <a:solidFill>
              <a:srgbClr val="DEDEE2"/>
            </a:solidFill>
            <a:prstDash val="solid"/>
          </a:ln>
        </p:spPr>
      </p:sp>
      <p:sp>
        <p:nvSpPr>
          <p:cNvPr id="32" name="Text 29"/>
          <p:cNvSpPr/>
          <p:nvPr/>
        </p:nvSpPr>
        <p:spPr>
          <a:xfrm>
            <a:off x="6309360" y="4114800"/>
            <a:ext cx="2103120" cy="347472"/>
          </a:xfrm>
          <a:prstGeom prst="rect">
            <a:avLst/>
          </a:prstGeom>
          <a:noFill/>
          <a:ln/>
        </p:spPr>
        <p:txBody>
          <a:bodyPr wrap="square" lIns="0" tIns="0" rIns="0" bIns="0" rtlCol="0" anchor="t">
            <a:normAutofit/>
          </a:bodyPr>
          <a:lstStyle/>
          <a:p>
            <a:pPr indent="0" marL="0">
              <a:buNone/>
            </a:pPr>
            <a:r>
              <a:rPr lang="en-US" sz="1800" b="1" dirty="0">
                <a:solidFill>
                  <a:srgbClr val="242426"/>
                </a:solidFill>
                <a:latin typeface="Arial" pitchFamily="34" charset="0"/>
                <a:ea typeface="Arial" pitchFamily="34" charset="-122"/>
                <a:cs typeface="Arial" pitchFamily="34" charset="-120"/>
              </a:rPr>
              <a:t>Crawler</a:t>
            </a:r>
            <a:endParaRPr lang="en-US" sz="1800" dirty="0"/>
          </a:p>
        </p:txBody>
      </p:sp>
      <p:sp>
        <p:nvSpPr>
          <p:cNvPr id="33" name="Text 30"/>
          <p:cNvSpPr/>
          <p:nvPr/>
        </p:nvSpPr>
        <p:spPr>
          <a:xfrm>
            <a:off x="6309360" y="4572000"/>
            <a:ext cx="2103120" cy="548640"/>
          </a:xfrm>
          <a:prstGeom prst="rect">
            <a:avLst/>
          </a:prstGeom>
          <a:noFill/>
          <a:ln/>
        </p:spPr>
        <p:txBody>
          <a:bodyPr wrap="square" lIns="0" tIns="0" rIns="0" bIns="0" rtlCol="0" anchor="t">
            <a:normAutofit/>
          </a:bodyPr>
          <a:lstStyle/>
          <a:p>
            <a:pPr indent="0" marL="0">
              <a:buNone/>
            </a:pPr>
            <a:r>
              <a:rPr lang="en-US" sz="1500" dirty="0">
                <a:solidFill>
                  <a:srgbClr val="626269"/>
                </a:solidFill>
                <a:latin typeface="Arial" pitchFamily="34" charset="0"/>
                <a:ea typeface="Arial" pitchFamily="34" charset="-122"/>
                <a:cs typeface="Arial" pitchFamily="34" charset="-120"/>
              </a:rPr>
              <a:t>HTML del mismo origen</a:t>
            </a:r>
            <a:endParaRPr lang="en-US" sz="1500" dirty="0"/>
          </a:p>
        </p:txBody>
      </p:sp>
      <p:sp>
        <p:nvSpPr>
          <p:cNvPr id="34" name="Shape 31"/>
          <p:cNvSpPr/>
          <p:nvPr/>
        </p:nvSpPr>
        <p:spPr>
          <a:xfrm>
            <a:off x="9144000" y="3977640"/>
            <a:ext cx="2423160" cy="1188720"/>
          </a:xfrm>
          <a:prstGeom prst="rect">
            <a:avLst/>
          </a:prstGeom>
          <a:solidFill>
            <a:srgbClr val="FFFFFF"/>
          </a:solidFill>
          <a:ln w="8890">
            <a:solidFill>
              <a:srgbClr val="DEDEE2"/>
            </a:solidFill>
            <a:prstDash val="solid"/>
          </a:ln>
        </p:spPr>
      </p:sp>
      <p:sp>
        <p:nvSpPr>
          <p:cNvPr id="35" name="Text 32"/>
          <p:cNvSpPr/>
          <p:nvPr/>
        </p:nvSpPr>
        <p:spPr>
          <a:xfrm>
            <a:off x="9281160" y="4114800"/>
            <a:ext cx="2148840" cy="347472"/>
          </a:xfrm>
          <a:prstGeom prst="rect">
            <a:avLst/>
          </a:prstGeom>
          <a:noFill/>
          <a:ln/>
        </p:spPr>
        <p:txBody>
          <a:bodyPr wrap="square" lIns="0" tIns="0" rIns="0" bIns="0" rtlCol="0" anchor="t">
            <a:normAutofit/>
          </a:bodyPr>
          <a:lstStyle/>
          <a:p>
            <a:pPr indent="0" marL="0">
              <a:buNone/>
            </a:pPr>
            <a:r>
              <a:rPr lang="en-US" sz="1800" b="1" dirty="0">
                <a:solidFill>
                  <a:srgbClr val="242426"/>
                </a:solidFill>
                <a:latin typeface="Arial" pitchFamily="34" charset="0"/>
                <a:ea typeface="Arial" pitchFamily="34" charset="-122"/>
                <a:cs typeface="Arial" pitchFamily="34" charset="-120"/>
              </a:rPr>
              <a:t>OpenAI API</a:t>
            </a:r>
            <a:endParaRPr lang="en-US" sz="1800" dirty="0"/>
          </a:p>
        </p:txBody>
      </p:sp>
      <p:sp>
        <p:nvSpPr>
          <p:cNvPr id="36" name="Text 33"/>
          <p:cNvSpPr/>
          <p:nvPr/>
        </p:nvSpPr>
        <p:spPr>
          <a:xfrm>
            <a:off x="9281160" y="4572000"/>
            <a:ext cx="2148840" cy="548640"/>
          </a:xfrm>
          <a:prstGeom prst="rect">
            <a:avLst/>
          </a:prstGeom>
          <a:noFill/>
          <a:ln/>
        </p:spPr>
        <p:txBody>
          <a:bodyPr wrap="square" lIns="0" tIns="0" rIns="0" bIns="0" rtlCol="0" anchor="t">
            <a:normAutofit/>
          </a:bodyPr>
          <a:lstStyle/>
          <a:p>
            <a:pPr indent="0" marL="0">
              <a:buNone/>
            </a:pPr>
            <a:r>
              <a:rPr lang="en-US" sz="1500" dirty="0">
                <a:solidFill>
                  <a:srgbClr val="626269"/>
                </a:solidFill>
                <a:latin typeface="Arial" pitchFamily="34" charset="0"/>
                <a:ea typeface="Arial" pitchFamily="34" charset="-122"/>
                <a:cs typeface="Arial" pitchFamily="34" charset="-120"/>
              </a:rPr>
              <a:t>Texto + imágenes</a:t>
            </a:r>
            <a:endParaRPr lang="en-US" sz="1500" dirty="0"/>
          </a:p>
        </p:txBody>
      </p:sp>
      <p:sp>
        <p:nvSpPr>
          <p:cNvPr id="37" name="Shape 34"/>
          <p:cNvSpPr/>
          <p:nvPr/>
        </p:nvSpPr>
        <p:spPr>
          <a:xfrm>
            <a:off x="4480560" y="3063240"/>
            <a:ext cx="0" cy="914400"/>
          </a:xfrm>
          <a:prstGeom prst="line">
            <a:avLst/>
          </a:prstGeom>
          <a:noFill/>
          <a:ln w="17780">
            <a:solidFill>
              <a:srgbClr val="626269"/>
            </a:solidFill>
            <a:prstDash val="solid"/>
            <a:tailEnd type="triangle"/>
          </a:ln>
        </p:spPr>
      </p:sp>
      <p:sp>
        <p:nvSpPr>
          <p:cNvPr id="38" name="Shape 35"/>
          <p:cNvSpPr/>
          <p:nvPr/>
        </p:nvSpPr>
        <p:spPr>
          <a:xfrm>
            <a:off x="7360920" y="3063240"/>
            <a:ext cx="0" cy="914400"/>
          </a:xfrm>
          <a:prstGeom prst="line">
            <a:avLst/>
          </a:prstGeom>
          <a:noFill/>
          <a:ln w="17780">
            <a:solidFill>
              <a:srgbClr val="626269"/>
            </a:solidFill>
            <a:prstDash val="solid"/>
            <a:tailEnd type="triangle"/>
          </a:ln>
        </p:spPr>
      </p:sp>
      <p:sp>
        <p:nvSpPr>
          <p:cNvPr id="39" name="Shape 36"/>
          <p:cNvSpPr/>
          <p:nvPr/>
        </p:nvSpPr>
        <p:spPr>
          <a:xfrm>
            <a:off x="10332720" y="3063240"/>
            <a:ext cx="0" cy="914400"/>
          </a:xfrm>
          <a:prstGeom prst="line">
            <a:avLst/>
          </a:prstGeom>
          <a:noFill/>
          <a:ln w="17780">
            <a:solidFill>
              <a:srgbClr val="A80000"/>
            </a:solidFill>
            <a:prstDash val="solid"/>
            <a:tailEnd type="triangle"/>
          </a:ln>
        </p:spPr>
      </p:sp>
      <p:sp>
        <p:nvSpPr>
          <p:cNvPr id="40" name="Shape 37"/>
          <p:cNvSpPr/>
          <p:nvPr/>
        </p:nvSpPr>
        <p:spPr>
          <a:xfrm>
            <a:off x="2743200" y="4572000"/>
            <a:ext cx="274320" cy="0"/>
          </a:xfrm>
          <a:prstGeom prst="line">
            <a:avLst/>
          </a:prstGeom>
          <a:noFill/>
          <a:ln w="17780">
            <a:solidFill>
              <a:srgbClr val="626269"/>
            </a:solidFill>
            <a:prstDash val="solid"/>
          </a:ln>
        </p:spPr>
      </p:sp>
      <p:sp>
        <p:nvSpPr>
          <p:cNvPr id="41" name="Shape 38"/>
          <p:cNvSpPr/>
          <p:nvPr/>
        </p:nvSpPr>
        <p:spPr>
          <a:xfrm>
            <a:off x="3017520" y="2788920"/>
            <a:ext cx="0" cy="1783080"/>
          </a:xfrm>
          <a:prstGeom prst="line">
            <a:avLst/>
          </a:prstGeom>
          <a:noFill/>
          <a:ln w="17780">
            <a:solidFill>
              <a:srgbClr val="626269"/>
            </a:solidFill>
            <a:prstDash val="solid"/>
          </a:ln>
        </p:spPr>
      </p:sp>
      <p:sp>
        <p:nvSpPr>
          <p:cNvPr id="42" name="Shape 39"/>
          <p:cNvSpPr/>
          <p:nvPr/>
        </p:nvSpPr>
        <p:spPr>
          <a:xfrm>
            <a:off x="3017520" y="2788920"/>
            <a:ext cx="320040" cy="0"/>
          </a:xfrm>
          <a:prstGeom prst="line">
            <a:avLst/>
          </a:prstGeom>
          <a:noFill/>
          <a:ln w="17780">
            <a:solidFill>
              <a:srgbClr val="626269"/>
            </a:solidFill>
            <a:prstDash val="solid"/>
            <a:tailEnd type="triangle"/>
          </a:ln>
        </p:spPr>
      </p:sp>
      <p:sp>
        <p:nvSpPr>
          <p:cNvPr id="43" name="Text 40"/>
          <p:cNvSpPr/>
          <p:nvPr/>
        </p:nvSpPr>
        <p:spPr>
          <a:xfrm>
            <a:off x="594360" y="5349240"/>
            <a:ext cx="5029200" cy="365760"/>
          </a:xfrm>
          <a:prstGeom prst="rect">
            <a:avLst/>
          </a:prstGeom>
          <a:noFill/>
          <a:ln/>
        </p:spPr>
        <p:txBody>
          <a:bodyPr wrap="square" lIns="0" tIns="0" rIns="0" bIns="0" rtlCol="0" anchor="t">
            <a:normAutofit/>
          </a:bodyPr>
          <a:lstStyle/>
          <a:p>
            <a:pPr indent="0" marL="0">
              <a:buNone/>
            </a:pPr>
            <a:r>
              <a:rPr lang="en-US" sz="1300" dirty="0">
                <a:solidFill>
                  <a:srgbClr val="626269"/>
                </a:solidFill>
                <a:latin typeface="Arial" pitchFamily="34" charset="0"/>
                <a:ea typeface="Arial" pitchFamily="34" charset="-122"/>
                <a:cs typeface="Arial" pitchFamily="34" charset="-120"/>
              </a:rPr>
              <a:t>Configuración cargada por el backend</a:t>
            </a:r>
            <a:endParaRPr lang="en-US" sz="1300" dirty="0"/>
          </a:p>
        </p:txBody>
      </p:sp>
      <p:sp>
        <p:nvSpPr>
          <p:cNvPr id="44" name="Text 41"/>
          <p:cNvSpPr/>
          <p:nvPr/>
        </p:nvSpPr>
        <p:spPr>
          <a:xfrm>
            <a:off x="7772400" y="5349240"/>
            <a:ext cx="3794760" cy="365760"/>
          </a:xfrm>
          <a:prstGeom prst="rect">
            <a:avLst/>
          </a:prstGeom>
          <a:noFill/>
          <a:ln/>
        </p:spPr>
        <p:txBody>
          <a:bodyPr wrap="square" lIns="0" tIns="0" rIns="0" bIns="0" rtlCol="0" anchor="t">
            <a:normAutofit/>
          </a:bodyPr>
          <a:lstStyle/>
          <a:p>
            <a:pPr indent="0" marL="0">
              <a:buNone/>
            </a:pPr>
            <a:r>
              <a:rPr lang="en-US" sz="1300" dirty="0">
                <a:solidFill>
                  <a:srgbClr val="626269"/>
                </a:solidFill>
                <a:latin typeface="Arial" pitchFamily="34" charset="0"/>
                <a:ea typeface="Arial" pitchFamily="34" charset="-122"/>
                <a:cs typeface="Arial" pitchFamily="34" charset="-120"/>
              </a:rPr>
              <a:t>Cliente compartido: estructura, reintentos y uso</a:t>
            </a:r>
            <a:endParaRPr lang="en-US" sz="1300" dirty="0"/>
          </a:p>
        </p:txBody>
      </p:sp>
      <p:sp>
        <p:nvSpPr>
          <p:cNvPr id="45" name="Shape 42"/>
          <p:cNvSpPr/>
          <p:nvPr/>
        </p:nvSpPr>
        <p:spPr>
          <a:xfrm>
            <a:off x="594360" y="5760720"/>
            <a:ext cx="10972800" cy="438912"/>
          </a:xfrm>
          <a:prstGeom prst="rect">
            <a:avLst/>
          </a:prstGeom>
          <a:solidFill>
            <a:srgbClr val="151515"/>
          </a:solidFill>
          <a:ln w="8890">
            <a:solidFill>
              <a:srgbClr val="151515"/>
            </a:solidFill>
            <a:prstDash val="solid"/>
          </a:ln>
        </p:spPr>
      </p:sp>
      <p:sp>
        <p:nvSpPr>
          <p:cNvPr id="46" name="Text 43"/>
          <p:cNvSpPr/>
          <p:nvPr/>
        </p:nvSpPr>
        <p:spPr>
          <a:xfrm>
            <a:off x="777240" y="5852160"/>
            <a:ext cx="10607040" cy="274320"/>
          </a:xfrm>
          <a:prstGeom prst="rect">
            <a:avLst/>
          </a:prstGeom>
          <a:noFill/>
          <a:ln/>
        </p:spPr>
        <p:txBody>
          <a:bodyPr wrap="square" lIns="0" tIns="0" rIns="0" bIns="0" rtlCol="0" anchor="t">
            <a:normAutofit/>
          </a:bodyPr>
          <a:lstStyle/>
          <a:p>
            <a:pPr indent="0" marL="0">
              <a:buNone/>
            </a:pPr>
            <a:r>
              <a:rPr lang="en-US" sz="1500" b="1" dirty="0">
                <a:solidFill>
                  <a:srgbClr val="FFFFFF"/>
                </a:solidFill>
                <a:latin typeface="Arial" pitchFamily="34" charset="0"/>
                <a:ea typeface="Arial" pitchFamily="34" charset="-122"/>
                <a:cs typeface="Arial" pitchFamily="34" charset="-120"/>
              </a:rPr>
              <a:t>Un proceso Node; workers lógicos concurrentes. No es una plataforma distribuida.</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4F5"/>
        </a:solidFill>
      </p:bgPr>
    </p:bg>
    <p:spTree>
      <p:nvGrpSpPr>
        <p:cNvPr id="1" name=""/>
        <p:cNvGrpSpPr/>
        <p:nvPr/>
      </p:nvGrpSpPr>
      <p:grpSpPr>
        <a:xfrm>
          <a:off x="0" y="0"/>
          <a:ext cx="0" cy="0"/>
          <a:chOff x="0" y="0"/>
          <a:chExt cx="0" cy="0"/>
        </a:xfrm>
      </p:grpSpPr>
      <p:sp>
        <p:nvSpPr>
          <p:cNvPr id="2" name="Shape 0"/>
          <p:cNvSpPr/>
          <p:nvPr/>
        </p:nvSpPr>
        <p:spPr>
          <a:xfrm>
            <a:off x="0" y="0"/>
            <a:ext cx="12192000" cy="68580"/>
          </a:xfrm>
          <a:prstGeom prst="rect">
            <a:avLst/>
          </a:prstGeom>
          <a:solidFill>
            <a:srgbClr val="A80000"/>
          </a:solidFill>
          <a:ln w="8890">
            <a:solidFill>
              <a:srgbClr val="A80000"/>
            </a:solidFill>
            <a:prstDash val="solid"/>
          </a:ln>
        </p:spPr>
      </p:sp>
      <p:sp>
        <p:nvSpPr>
          <p:cNvPr id="3" name="Text 1"/>
          <p:cNvSpPr/>
          <p:nvPr/>
        </p:nvSpPr>
        <p:spPr>
          <a:xfrm>
            <a:off x="594360" y="274320"/>
            <a:ext cx="10058400" cy="219456"/>
          </a:xfrm>
          <a:prstGeom prst="rect">
            <a:avLst/>
          </a:prstGeom>
          <a:noFill/>
          <a:ln/>
        </p:spPr>
        <p:txBody>
          <a:bodyPr wrap="square" lIns="0" tIns="0" rIns="0" bIns="0" rtlCol="0" anchor="t">
            <a:normAutofit/>
          </a:bodyPr>
          <a:lstStyle/>
          <a:p>
            <a:pPr indent="0" marL="0">
              <a:buNone/>
            </a:pPr>
            <a:r>
              <a:rPr lang="en-US" sz="1000" b="1" dirty="0">
                <a:solidFill>
                  <a:srgbClr val="A80000"/>
                </a:solidFill>
                <a:latin typeface="Arial" pitchFamily="34" charset="0"/>
                <a:ea typeface="Arial" pitchFamily="34" charset="-122"/>
                <a:cs typeface="Arial" pitchFamily="34" charset="-120"/>
              </a:rPr>
              <a:t>PASO A PASO</a:t>
            </a:r>
            <a:endParaRPr lang="en-US" sz="1000" dirty="0"/>
          </a:p>
        </p:txBody>
      </p:sp>
      <p:sp>
        <p:nvSpPr>
          <p:cNvPr id="4" name="Text 2"/>
          <p:cNvSpPr/>
          <p:nvPr/>
        </p:nvSpPr>
        <p:spPr>
          <a:xfrm>
            <a:off x="594360" y="667512"/>
            <a:ext cx="10972800" cy="594360"/>
          </a:xfrm>
          <a:prstGeom prst="rect">
            <a:avLst/>
          </a:prstGeom>
          <a:noFill/>
          <a:ln/>
        </p:spPr>
        <p:txBody>
          <a:bodyPr wrap="square" lIns="0" tIns="0" rIns="0" bIns="0" rtlCol="0" anchor="t">
            <a:normAutofit/>
          </a:bodyPr>
          <a:lstStyle/>
          <a:p>
            <a:pPr indent="0" marL="0">
              <a:buNone/>
            </a:pPr>
            <a:r>
              <a:rPr lang="en-US" sz="3000" b="1" dirty="0">
                <a:solidFill>
                  <a:srgbClr val="242426"/>
                </a:solidFill>
                <a:latin typeface="Arial" pitchFamily="34" charset="0"/>
                <a:ea typeface="Arial" pitchFamily="34" charset="-122"/>
                <a:cs typeface="Arial" pitchFamily="34" charset="-120"/>
              </a:rPr>
              <a:t>Workflow de una auditoría</a:t>
            </a:r>
            <a:endParaRPr lang="en-US" sz="3000" dirty="0"/>
          </a:p>
        </p:txBody>
      </p:sp>
      <p:sp>
        <p:nvSpPr>
          <p:cNvPr id="5" name="Shape 3"/>
          <p:cNvSpPr/>
          <p:nvPr/>
        </p:nvSpPr>
        <p:spPr>
          <a:xfrm>
            <a:off x="594360" y="6428232"/>
            <a:ext cx="10972800" cy="0"/>
          </a:xfrm>
          <a:prstGeom prst="line">
            <a:avLst/>
          </a:prstGeom>
          <a:noFill/>
          <a:ln w="17780">
            <a:solidFill>
              <a:srgbClr val="DEDEE2"/>
            </a:solidFill>
            <a:prstDash val="solid"/>
          </a:ln>
        </p:spPr>
      </p:sp>
      <p:sp>
        <p:nvSpPr>
          <p:cNvPr id="6" name="Text 4"/>
          <p:cNvSpPr/>
          <p:nvPr/>
        </p:nvSpPr>
        <p:spPr>
          <a:xfrm>
            <a:off x="594360" y="6547104"/>
            <a:ext cx="3749040" cy="164592"/>
          </a:xfrm>
          <a:prstGeom prst="rect">
            <a:avLst/>
          </a:prstGeom>
          <a:noFill/>
          <a:ln/>
        </p:spPr>
        <p:txBody>
          <a:bodyPr wrap="square" lIns="0" tIns="0" rIns="0" bIns="0" rtlCol="0" anchor="t">
            <a:normAutofit/>
          </a:bodyPr>
          <a:lstStyle/>
          <a:p>
            <a:pPr indent="0" marL="0">
              <a:buNone/>
            </a:pPr>
            <a:r>
              <a:rPr lang="en-US" sz="900" dirty="0">
                <a:solidFill>
                  <a:srgbClr val="626269"/>
                </a:solidFill>
                <a:latin typeface="Arial" pitchFamily="34" charset="0"/>
                <a:ea typeface="Arial" pitchFamily="34" charset="-122"/>
                <a:cs typeface="Arial" pitchFamily="34" charset="-120"/>
              </a:rPr>
              <a:t>SKYNET · 15 OCT 2026 · PRELIMINAR</a:t>
            </a:r>
            <a:endParaRPr lang="en-US" sz="900" dirty="0"/>
          </a:p>
        </p:txBody>
      </p:sp>
      <p:sp>
        <p:nvSpPr>
          <p:cNvPr id="7" name="Text 5"/>
          <p:cNvSpPr/>
          <p:nvPr/>
        </p:nvSpPr>
        <p:spPr>
          <a:xfrm>
            <a:off x="3931920" y="6547104"/>
            <a:ext cx="7178040" cy="164592"/>
          </a:xfrm>
          <a:prstGeom prst="rect">
            <a:avLst/>
          </a:prstGeom>
          <a:noFill/>
          <a:ln/>
        </p:spPr>
        <p:txBody>
          <a:bodyPr wrap="square" lIns="0" tIns="0" rIns="0" bIns="0" rtlCol="0" anchor="t">
            <a:normAutofit/>
          </a:bodyPr>
          <a:lstStyle/>
          <a:p>
            <a:pPr algn="r" indent="0" marL="0">
              <a:buNone/>
            </a:pPr>
            <a:r>
              <a:rPr lang="en-US" sz="850" dirty="0">
                <a:solidFill>
                  <a:srgbClr val="626269"/>
                </a:solidFill>
                <a:latin typeface="Arial" pitchFamily="34" charset="0"/>
                <a:ea typeface="Arial" pitchFamily="34" charset="-122"/>
                <a:cs typeface="Arial" pitchFamily="34" charset="-120"/>
              </a:rPr>
              <a:t>src/orchestrator/audit.ts; src/dashboard/public/app.js</a:t>
            </a:r>
            <a:endParaRPr lang="en-US" sz="850" dirty="0"/>
          </a:p>
        </p:txBody>
      </p:sp>
      <p:sp>
        <p:nvSpPr>
          <p:cNvPr id="8" name="Text 6"/>
          <p:cNvSpPr/>
          <p:nvPr/>
        </p:nvSpPr>
        <p:spPr>
          <a:xfrm>
            <a:off x="11292840" y="6510528"/>
            <a:ext cx="320040" cy="228600"/>
          </a:xfrm>
          <a:prstGeom prst="rect">
            <a:avLst/>
          </a:prstGeom>
          <a:noFill/>
          <a:ln/>
        </p:spPr>
        <p:txBody>
          <a:bodyPr wrap="square" lIns="0" tIns="0" rIns="0" bIns="0" rtlCol="0" anchor="t">
            <a:normAutofit/>
          </a:bodyPr>
          <a:lstStyle/>
          <a:p>
            <a:pPr algn="r" indent="0" marL="0">
              <a:buNone/>
            </a:pPr>
            <a:r>
              <a:rPr lang="en-US" sz="1100" b="1" dirty="0">
                <a:solidFill>
                  <a:srgbClr val="A80000"/>
                </a:solidFill>
                <a:latin typeface="Arial" pitchFamily="34" charset="0"/>
                <a:ea typeface="Arial" pitchFamily="34" charset="-122"/>
                <a:cs typeface="Arial" pitchFamily="34" charset="-120"/>
              </a:rPr>
              <a:t>07</a:t>
            </a:r>
            <a:endParaRPr lang="en-US" sz="1100" dirty="0"/>
          </a:p>
        </p:txBody>
      </p:sp>
      <p:sp>
        <p:nvSpPr>
          <p:cNvPr id="10" name="Shape 7"/>
          <p:cNvSpPr/>
          <p:nvPr/>
        </p:nvSpPr>
        <p:spPr>
          <a:xfrm>
            <a:off x="594360" y="1783080"/>
            <a:ext cx="3474720" cy="1554480"/>
          </a:xfrm>
          <a:prstGeom prst="rect">
            <a:avLst/>
          </a:prstGeom>
          <a:solidFill>
            <a:srgbClr val="FFFFFF"/>
          </a:solidFill>
          <a:ln w="8890">
            <a:solidFill>
              <a:srgbClr val="DEDEE2"/>
            </a:solidFill>
            <a:prstDash val="solid"/>
          </a:ln>
        </p:spPr>
      </p:sp>
      <p:sp>
        <p:nvSpPr>
          <p:cNvPr id="11" name="Text 8"/>
          <p:cNvSpPr/>
          <p:nvPr/>
        </p:nvSpPr>
        <p:spPr>
          <a:xfrm>
            <a:off x="777240" y="1947672"/>
            <a:ext cx="502920" cy="411480"/>
          </a:xfrm>
          <a:prstGeom prst="rect">
            <a:avLst/>
          </a:prstGeom>
          <a:noFill/>
          <a:ln/>
        </p:spPr>
        <p:txBody>
          <a:bodyPr wrap="square" lIns="0" tIns="0" rIns="0" bIns="0" rtlCol="0" anchor="t">
            <a:normAutofit/>
          </a:bodyPr>
          <a:lstStyle/>
          <a:p>
            <a:pPr indent="0" marL="0">
              <a:buNone/>
            </a:pPr>
            <a:r>
              <a:rPr lang="en-US" sz="2500" b="1" dirty="0">
                <a:solidFill>
                  <a:srgbClr val="A80000"/>
                </a:solidFill>
                <a:latin typeface="Arial" pitchFamily="34" charset="0"/>
                <a:ea typeface="Arial" pitchFamily="34" charset="-122"/>
                <a:cs typeface="Arial" pitchFamily="34" charset="-120"/>
              </a:rPr>
              <a:t>01</a:t>
            </a:r>
            <a:endParaRPr lang="en-US" sz="2500" dirty="0"/>
          </a:p>
        </p:txBody>
      </p:sp>
      <p:sp>
        <p:nvSpPr>
          <p:cNvPr id="12" name="Text 9"/>
          <p:cNvSpPr/>
          <p:nvPr/>
        </p:nvSpPr>
        <p:spPr>
          <a:xfrm>
            <a:off x="1417320" y="1984248"/>
            <a:ext cx="2423160" cy="365760"/>
          </a:xfrm>
          <a:prstGeom prst="rect">
            <a:avLst/>
          </a:prstGeom>
          <a:noFill/>
          <a:ln/>
        </p:spPr>
        <p:txBody>
          <a:bodyPr wrap="square" lIns="0" tIns="0" rIns="0" bIns="0" rtlCol="0" anchor="t">
            <a:normAutofit/>
          </a:bodyPr>
          <a:lstStyle/>
          <a:p>
            <a:pPr indent="0" marL="0">
              <a:buNone/>
            </a:pPr>
            <a:r>
              <a:rPr lang="en-US" sz="2200" b="1" dirty="0">
                <a:solidFill>
                  <a:srgbClr val="242426"/>
                </a:solidFill>
                <a:latin typeface="Arial" pitchFamily="34" charset="0"/>
                <a:ea typeface="Arial" pitchFamily="34" charset="-122"/>
                <a:cs typeface="Arial" pitchFamily="34" charset="-120"/>
              </a:rPr>
              <a:t>Configurar</a:t>
            </a:r>
            <a:endParaRPr lang="en-US" sz="2200" dirty="0"/>
          </a:p>
        </p:txBody>
      </p:sp>
      <p:sp>
        <p:nvSpPr>
          <p:cNvPr id="13" name="Text 10"/>
          <p:cNvSpPr/>
          <p:nvPr/>
        </p:nvSpPr>
        <p:spPr>
          <a:xfrm>
            <a:off x="777240" y="2651760"/>
            <a:ext cx="3108960" cy="365760"/>
          </a:xfrm>
          <a:prstGeom prst="rect">
            <a:avLst/>
          </a:prstGeom>
          <a:noFill/>
          <a:ln/>
        </p:spPr>
        <p:txBody>
          <a:bodyPr wrap="square" lIns="0" tIns="0" rIns="0" bIns="0" rtlCol="0" anchor="t">
            <a:normAutofit/>
          </a:bodyPr>
          <a:lstStyle/>
          <a:p>
            <a:pPr indent="0" marL="0">
              <a:buNone/>
            </a:pPr>
            <a:r>
              <a:rPr lang="en-US" sz="1800" dirty="0">
                <a:solidFill>
                  <a:srgbClr val="626269"/>
                </a:solidFill>
                <a:latin typeface="Arial" pitchFamily="34" charset="0"/>
                <a:ea typeface="Arial" pitchFamily="34" charset="-122"/>
                <a:cs typeface="Arial" pitchFamily="34" charset="-120"/>
              </a:rPr>
              <a:t>URL, perfil y referencias</a:t>
            </a:r>
            <a:endParaRPr lang="en-US" sz="1800" dirty="0"/>
          </a:p>
        </p:txBody>
      </p:sp>
      <p:sp>
        <p:nvSpPr>
          <p:cNvPr id="14" name="Shape 11"/>
          <p:cNvSpPr/>
          <p:nvPr/>
        </p:nvSpPr>
        <p:spPr>
          <a:xfrm>
            <a:off x="4343400" y="1783080"/>
            <a:ext cx="3474720" cy="1554480"/>
          </a:xfrm>
          <a:prstGeom prst="rect">
            <a:avLst/>
          </a:prstGeom>
          <a:solidFill>
            <a:srgbClr val="FFFFFF"/>
          </a:solidFill>
          <a:ln w="8890">
            <a:solidFill>
              <a:srgbClr val="DEDEE2"/>
            </a:solidFill>
            <a:prstDash val="solid"/>
          </a:ln>
        </p:spPr>
      </p:sp>
      <p:sp>
        <p:nvSpPr>
          <p:cNvPr id="15" name="Text 12"/>
          <p:cNvSpPr/>
          <p:nvPr/>
        </p:nvSpPr>
        <p:spPr>
          <a:xfrm>
            <a:off x="4526280" y="1947672"/>
            <a:ext cx="502920" cy="411480"/>
          </a:xfrm>
          <a:prstGeom prst="rect">
            <a:avLst/>
          </a:prstGeom>
          <a:noFill/>
          <a:ln/>
        </p:spPr>
        <p:txBody>
          <a:bodyPr wrap="square" lIns="0" tIns="0" rIns="0" bIns="0" rtlCol="0" anchor="t">
            <a:normAutofit/>
          </a:bodyPr>
          <a:lstStyle/>
          <a:p>
            <a:pPr indent="0" marL="0">
              <a:buNone/>
            </a:pPr>
            <a:r>
              <a:rPr lang="en-US" sz="2500" b="1" dirty="0">
                <a:solidFill>
                  <a:srgbClr val="A80000"/>
                </a:solidFill>
                <a:latin typeface="Arial" pitchFamily="34" charset="0"/>
                <a:ea typeface="Arial" pitchFamily="34" charset="-122"/>
                <a:cs typeface="Arial" pitchFamily="34" charset="-120"/>
              </a:rPr>
              <a:t>02</a:t>
            </a:r>
            <a:endParaRPr lang="en-US" sz="2500" dirty="0"/>
          </a:p>
        </p:txBody>
      </p:sp>
      <p:sp>
        <p:nvSpPr>
          <p:cNvPr id="16" name="Text 13"/>
          <p:cNvSpPr/>
          <p:nvPr/>
        </p:nvSpPr>
        <p:spPr>
          <a:xfrm>
            <a:off x="5166360" y="1984248"/>
            <a:ext cx="2423160" cy="365760"/>
          </a:xfrm>
          <a:prstGeom prst="rect">
            <a:avLst/>
          </a:prstGeom>
          <a:noFill/>
          <a:ln/>
        </p:spPr>
        <p:txBody>
          <a:bodyPr wrap="square" lIns="0" tIns="0" rIns="0" bIns="0" rtlCol="0" anchor="t">
            <a:normAutofit/>
          </a:bodyPr>
          <a:lstStyle/>
          <a:p>
            <a:pPr indent="0" marL="0">
              <a:buNone/>
            </a:pPr>
            <a:r>
              <a:rPr lang="en-US" sz="2200" b="1" dirty="0">
                <a:solidFill>
                  <a:srgbClr val="242426"/>
                </a:solidFill>
                <a:latin typeface="Arial" pitchFamily="34" charset="0"/>
                <a:ea typeface="Arial" pitchFamily="34" charset="-122"/>
                <a:cs typeface="Arial" pitchFamily="34" charset="-120"/>
              </a:rPr>
              <a:t>Descubrir</a:t>
            </a:r>
            <a:endParaRPr lang="en-US" sz="2200" dirty="0"/>
          </a:p>
        </p:txBody>
      </p:sp>
      <p:sp>
        <p:nvSpPr>
          <p:cNvPr id="17" name="Text 14"/>
          <p:cNvSpPr/>
          <p:nvPr/>
        </p:nvSpPr>
        <p:spPr>
          <a:xfrm>
            <a:off x="4526280" y="2651760"/>
            <a:ext cx="3108960" cy="365760"/>
          </a:xfrm>
          <a:prstGeom prst="rect">
            <a:avLst/>
          </a:prstGeom>
          <a:noFill/>
          <a:ln/>
        </p:spPr>
        <p:txBody>
          <a:bodyPr wrap="square" lIns="0" tIns="0" rIns="0" bIns="0" rtlCol="0" anchor="t">
            <a:normAutofit/>
          </a:bodyPr>
          <a:lstStyle/>
          <a:p>
            <a:pPr indent="0" marL="0">
              <a:buNone/>
            </a:pPr>
            <a:r>
              <a:rPr lang="en-US" sz="1800" dirty="0">
                <a:solidFill>
                  <a:srgbClr val="626269"/>
                </a:solidFill>
                <a:latin typeface="Arial" pitchFamily="34" charset="0"/>
                <a:ea typeface="Arial" pitchFamily="34" charset="-122"/>
                <a:cs typeface="Arial" pitchFamily="34" charset="-120"/>
              </a:rPr>
              <a:t>Crawl del mismo origen</a:t>
            </a:r>
            <a:endParaRPr lang="en-US" sz="1800" dirty="0"/>
          </a:p>
        </p:txBody>
      </p:sp>
      <p:sp>
        <p:nvSpPr>
          <p:cNvPr id="18" name="Shape 15"/>
          <p:cNvSpPr/>
          <p:nvPr/>
        </p:nvSpPr>
        <p:spPr>
          <a:xfrm>
            <a:off x="8092440" y="1783080"/>
            <a:ext cx="3474720" cy="1554480"/>
          </a:xfrm>
          <a:prstGeom prst="rect">
            <a:avLst/>
          </a:prstGeom>
          <a:solidFill>
            <a:srgbClr val="FFFFFF"/>
          </a:solidFill>
          <a:ln w="8890">
            <a:solidFill>
              <a:srgbClr val="DEDEE2"/>
            </a:solidFill>
            <a:prstDash val="solid"/>
          </a:ln>
        </p:spPr>
      </p:sp>
      <p:sp>
        <p:nvSpPr>
          <p:cNvPr id="19" name="Text 16"/>
          <p:cNvSpPr/>
          <p:nvPr/>
        </p:nvSpPr>
        <p:spPr>
          <a:xfrm>
            <a:off x="8275320" y="1947672"/>
            <a:ext cx="502920" cy="411480"/>
          </a:xfrm>
          <a:prstGeom prst="rect">
            <a:avLst/>
          </a:prstGeom>
          <a:noFill/>
          <a:ln/>
        </p:spPr>
        <p:txBody>
          <a:bodyPr wrap="square" lIns="0" tIns="0" rIns="0" bIns="0" rtlCol="0" anchor="t">
            <a:normAutofit/>
          </a:bodyPr>
          <a:lstStyle/>
          <a:p>
            <a:pPr indent="0" marL="0">
              <a:buNone/>
            </a:pPr>
            <a:r>
              <a:rPr lang="en-US" sz="2500" b="1" dirty="0">
                <a:solidFill>
                  <a:srgbClr val="A80000"/>
                </a:solidFill>
                <a:latin typeface="Arial" pitchFamily="34" charset="0"/>
                <a:ea typeface="Arial" pitchFamily="34" charset="-122"/>
                <a:cs typeface="Arial" pitchFamily="34" charset="-120"/>
              </a:rPr>
              <a:t>03</a:t>
            </a:r>
            <a:endParaRPr lang="en-US" sz="2500" dirty="0"/>
          </a:p>
        </p:txBody>
      </p:sp>
      <p:sp>
        <p:nvSpPr>
          <p:cNvPr id="20" name="Text 17"/>
          <p:cNvSpPr/>
          <p:nvPr/>
        </p:nvSpPr>
        <p:spPr>
          <a:xfrm>
            <a:off x="8915400" y="1984248"/>
            <a:ext cx="2423160" cy="365760"/>
          </a:xfrm>
          <a:prstGeom prst="rect">
            <a:avLst/>
          </a:prstGeom>
          <a:noFill/>
          <a:ln/>
        </p:spPr>
        <p:txBody>
          <a:bodyPr wrap="square" lIns="0" tIns="0" rIns="0" bIns="0" rtlCol="0" anchor="t">
            <a:normAutofit/>
          </a:bodyPr>
          <a:lstStyle/>
          <a:p>
            <a:pPr indent="0" marL="0">
              <a:buNone/>
            </a:pPr>
            <a:r>
              <a:rPr lang="en-US" sz="2200" b="1" dirty="0">
                <a:solidFill>
                  <a:srgbClr val="242426"/>
                </a:solidFill>
                <a:latin typeface="Arial" pitchFamily="34" charset="0"/>
                <a:ea typeface="Arial" pitchFamily="34" charset="-122"/>
                <a:cs typeface="Arial" pitchFamily="34" charset="-120"/>
              </a:rPr>
              <a:t>Despachar</a:t>
            </a:r>
            <a:endParaRPr lang="en-US" sz="2200" dirty="0"/>
          </a:p>
        </p:txBody>
      </p:sp>
      <p:sp>
        <p:nvSpPr>
          <p:cNvPr id="21" name="Text 18"/>
          <p:cNvSpPr/>
          <p:nvPr/>
        </p:nvSpPr>
        <p:spPr>
          <a:xfrm>
            <a:off x="8275320" y="2651760"/>
            <a:ext cx="3108960" cy="365760"/>
          </a:xfrm>
          <a:prstGeom prst="rect">
            <a:avLst/>
          </a:prstGeom>
          <a:noFill/>
          <a:ln/>
        </p:spPr>
        <p:txBody>
          <a:bodyPr wrap="square" lIns="0" tIns="0" rIns="0" bIns="0" rtlCol="0" anchor="t">
            <a:normAutofit/>
          </a:bodyPr>
          <a:lstStyle/>
          <a:p>
            <a:pPr indent="0" marL="0">
              <a:buNone/>
            </a:pPr>
            <a:r>
              <a:rPr lang="en-US" sz="1800" dirty="0">
                <a:solidFill>
                  <a:srgbClr val="626269"/>
                </a:solidFill>
                <a:latin typeface="Arial" pitchFamily="34" charset="0"/>
                <a:ea typeface="Arial" pitchFamily="34" charset="-122"/>
                <a:cs typeface="Arial" pitchFamily="34" charset="-120"/>
              </a:rPr>
              <a:t>Workers por alcance</a:t>
            </a:r>
            <a:endParaRPr lang="en-US" sz="1800" dirty="0"/>
          </a:p>
        </p:txBody>
      </p:sp>
      <p:sp>
        <p:nvSpPr>
          <p:cNvPr id="22" name="Shape 19"/>
          <p:cNvSpPr/>
          <p:nvPr/>
        </p:nvSpPr>
        <p:spPr>
          <a:xfrm>
            <a:off x="594360" y="3721608"/>
            <a:ext cx="3474720" cy="1554480"/>
          </a:xfrm>
          <a:prstGeom prst="rect">
            <a:avLst/>
          </a:prstGeom>
          <a:solidFill>
            <a:srgbClr val="FFFFFF"/>
          </a:solidFill>
          <a:ln w="8890">
            <a:solidFill>
              <a:srgbClr val="DEDEE2"/>
            </a:solidFill>
            <a:prstDash val="solid"/>
          </a:ln>
        </p:spPr>
      </p:sp>
      <p:sp>
        <p:nvSpPr>
          <p:cNvPr id="23" name="Text 20"/>
          <p:cNvSpPr/>
          <p:nvPr/>
        </p:nvSpPr>
        <p:spPr>
          <a:xfrm>
            <a:off x="777240" y="3886200"/>
            <a:ext cx="502920" cy="411480"/>
          </a:xfrm>
          <a:prstGeom prst="rect">
            <a:avLst/>
          </a:prstGeom>
          <a:noFill/>
          <a:ln/>
        </p:spPr>
        <p:txBody>
          <a:bodyPr wrap="square" lIns="0" tIns="0" rIns="0" bIns="0" rtlCol="0" anchor="t">
            <a:normAutofit/>
          </a:bodyPr>
          <a:lstStyle/>
          <a:p>
            <a:pPr indent="0" marL="0">
              <a:buNone/>
            </a:pPr>
            <a:r>
              <a:rPr lang="en-US" sz="2500" b="1" dirty="0">
                <a:solidFill>
                  <a:srgbClr val="A80000"/>
                </a:solidFill>
                <a:latin typeface="Arial" pitchFamily="34" charset="0"/>
                <a:ea typeface="Arial" pitchFamily="34" charset="-122"/>
                <a:cs typeface="Arial" pitchFamily="34" charset="-120"/>
              </a:rPr>
              <a:t>04</a:t>
            </a:r>
            <a:endParaRPr lang="en-US" sz="2500" dirty="0"/>
          </a:p>
        </p:txBody>
      </p:sp>
      <p:sp>
        <p:nvSpPr>
          <p:cNvPr id="24" name="Text 21"/>
          <p:cNvSpPr/>
          <p:nvPr/>
        </p:nvSpPr>
        <p:spPr>
          <a:xfrm>
            <a:off x="1417320" y="3922776"/>
            <a:ext cx="2423160" cy="365760"/>
          </a:xfrm>
          <a:prstGeom prst="rect">
            <a:avLst/>
          </a:prstGeom>
          <a:noFill/>
          <a:ln/>
        </p:spPr>
        <p:txBody>
          <a:bodyPr wrap="square" lIns="0" tIns="0" rIns="0" bIns="0" rtlCol="0" anchor="t">
            <a:normAutofit/>
          </a:bodyPr>
          <a:lstStyle/>
          <a:p>
            <a:pPr indent="0" marL="0">
              <a:buNone/>
            </a:pPr>
            <a:r>
              <a:rPr lang="en-US" sz="2200" b="1" dirty="0">
                <a:solidFill>
                  <a:srgbClr val="242426"/>
                </a:solidFill>
                <a:latin typeface="Arial" pitchFamily="34" charset="0"/>
                <a:ea typeface="Arial" pitchFamily="34" charset="-122"/>
                <a:cs typeface="Arial" pitchFamily="34" charset="-120"/>
              </a:rPr>
              <a:t>Comprobar</a:t>
            </a:r>
            <a:endParaRPr lang="en-US" sz="2200" dirty="0"/>
          </a:p>
        </p:txBody>
      </p:sp>
      <p:sp>
        <p:nvSpPr>
          <p:cNvPr id="25" name="Text 22"/>
          <p:cNvSpPr/>
          <p:nvPr/>
        </p:nvSpPr>
        <p:spPr>
          <a:xfrm>
            <a:off x="777240" y="4590288"/>
            <a:ext cx="3108960" cy="365760"/>
          </a:xfrm>
          <a:prstGeom prst="rect">
            <a:avLst/>
          </a:prstGeom>
          <a:noFill/>
          <a:ln/>
        </p:spPr>
        <p:txBody>
          <a:bodyPr wrap="square" lIns="0" tIns="0" rIns="0" bIns="0" rtlCol="0" anchor="t">
            <a:normAutofit/>
          </a:bodyPr>
          <a:lstStyle/>
          <a:p>
            <a:pPr indent="0" marL="0">
              <a:buNone/>
            </a:pPr>
            <a:r>
              <a:rPr lang="en-US" sz="1800" dirty="0">
                <a:solidFill>
                  <a:srgbClr val="626269"/>
                </a:solidFill>
                <a:latin typeface="Arial" pitchFamily="34" charset="0"/>
                <a:ea typeface="Arial" pitchFamily="34" charset="-122"/>
                <a:cs typeface="Arial" pitchFamily="34" charset="-120"/>
              </a:rPr>
              <a:t>Reglas + modelos</a:t>
            </a:r>
            <a:endParaRPr lang="en-US" sz="1800" dirty="0"/>
          </a:p>
        </p:txBody>
      </p:sp>
      <p:sp>
        <p:nvSpPr>
          <p:cNvPr id="26" name="Shape 23"/>
          <p:cNvSpPr/>
          <p:nvPr/>
        </p:nvSpPr>
        <p:spPr>
          <a:xfrm>
            <a:off x="4343400" y="3721608"/>
            <a:ext cx="3474720" cy="1554480"/>
          </a:xfrm>
          <a:prstGeom prst="rect">
            <a:avLst/>
          </a:prstGeom>
          <a:solidFill>
            <a:srgbClr val="FFFFFF"/>
          </a:solidFill>
          <a:ln w="8890">
            <a:solidFill>
              <a:srgbClr val="DEDEE2"/>
            </a:solidFill>
            <a:prstDash val="solid"/>
          </a:ln>
        </p:spPr>
      </p:sp>
      <p:sp>
        <p:nvSpPr>
          <p:cNvPr id="27" name="Text 24"/>
          <p:cNvSpPr/>
          <p:nvPr/>
        </p:nvSpPr>
        <p:spPr>
          <a:xfrm>
            <a:off x="4526280" y="3886200"/>
            <a:ext cx="502920" cy="411480"/>
          </a:xfrm>
          <a:prstGeom prst="rect">
            <a:avLst/>
          </a:prstGeom>
          <a:noFill/>
          <a:ln/>
        </p:spPr>
        <p:txBody>
          <a:bodyPr wrap="square" lIns="0" tIns="0" rIns="0" bIns="0" rtlCol="0" anchor="t">
            <a:normAutofit/>
          </a:bodyPr>
          <a:lstStyle/>
          <a:p>
            <a:pPr indent="0" marL="0">
              <a:buNone/>
            </a:pPr>
            <a:r>
              <a:rPr lang="en-US" sz="2500" b="1" dirty="0">
                <a:solidFill>
                  <a:srgbClr val="A80000"/>
                </a:solidFill>
                <a:latin typeface="Arial" pitchFamily="34" charset="0"/>
                <a:ea typeface="Arial" pitchFamily="34" charset="-122"/>
                <a:cs typeface="Arial" pitchFamily="34" charset="-120"/>
              </a:rPr>
              <a:t>05</a:t>
            </a:r>
            <a:endParaRPr lang="en-US" sz="2500" dirty="0"/>
          </a:p>
        </p:txBody>
      </p:sp>
      <p:sp>
        <p:nvSpPr>
          <p:cNvPr id="28" name="Text 25"/>
          <p:cNvSpPr/>
          <p:nvPr/>
        </p:nvSpPr>
        <p:spPr>
          <a:xfrm>
            <a:off x="5166360" y="3922776"/>
            <a:ext cx="2423160" cy="365760"/>
          </a:xfrm>
          <a:prstGeom prst="rect">
            <a:avLst/>
          </a:prstGeom>
          <a:noFill/>
          <a:ln/>
        </p:spPr>
        <p:txBody>
          <a:bodyPr wrap="square" lIns="0" tIns="0" rIns="0" bIns="0" rtlCol="0" anchor="t">
            <a:normAutofit/>
          </a:bodyPr>
          <a:lstStyle/>
          <a:p>
            <a:pPr indent="0" marL="0">
              <a:buNone/>
            </a:pPr>
            <a:r>
              <a:rPr lang="en-US" sz="2200" b="1" dirty="0">
                <a:solidFill>
                  <a:srgbClr val="242426"/>
                </a:solidFill>
                <a:latin typeface="Arial" pitchFamily="34" charset="0"/>
                <a:ea typeface="Arial" pitchFamily="34" charset="-122"/>
                <a:cs typeface="Arial" pitchFamily="34" charset="-120"/>
              </a:rPr>
              <a:t>Validar</a:t>
            </a:r>
            <a:endParaRPr lang="en-US" sz="2200" dirty="0"/>
          </a:p>
        </p:txBody>
      </p:sp>
      <p:sp>
        <p:nvSpPr>
          <p:cNvPr id="29" name="Text 26"/>
          <p:cNvSpPr/>
          <p:nvPr/>
        </p:nvSpPr>
        <p:spPr>
          <a:xfrm>
            <a:off x="4526280" y="4590288"/>
            <a:ext cx="3108960" cy="365760"/>
          </a:xfrm>
          <a:prstGeom prst="rect">
            <a:avLst/>
          </a:prstGeom>
          <a:noFill/>
          <a:ln/>
        </p:spPr>
        <p:txBody>
          <a:bodyPr wrap="square" lIns="0" tIns="0" rIns="0" bIns="0" rtlCol="0" anchor="t">
            <a:normAutofit/>
          </a:bodyPr>
          <a:lstStyle/>
          <a:p>
            <a:pPr indent="0" marL="0">
              <a:buNone/>
            </a:pPr>
            <a:r>
              <a:rPr lang="en-US" sz="1800" dirty="0">
                <a:solidFill>
                  <a:srgbClr val="626269"/>
                </a:solidFill>
                <a:latin typeface="Arial" pitchFamily="34" charset="0"/>
                <a:ea typeface="Arial" pitchFamily="34" charset="-122"/>
                <a:cs typeface="Arial" pitchFamily="34" charset="-120"/>
              </a:rPr>
              <a:t>Schema, evidencia, IDs</a:t>
            </a:r>
            <a:endParaRPr lang="en-US" sz="1800" dirty="0"/>
          </a:p>
        </p:txBody>
      </p:sp>
      <p:sp>
        <p:nvSpPr>
          <p:cNvPr id="30" name="Shape 27"/>
          <p:cNvSpPr/>
          <p:nvPr/>
        </p:nvSpPr>
        <p:spPr>
          <a:xfrm>
            <a:off x="8092440" y="3721608"/>
            <a:ext cx="3474720" cy="1554480"/>
          </a:xfrm>
          <a:prstGeom prst="rect">
            <a:avLst/>
          </a:prstGeom>
          <a:solidFill>
            <a:srgbClr val="FFFFFF"/>
          </a:solidFill>
          <a:ln w="8890">
            <a:solidFill>
              <a:srgbClr val="DEDEE2"/>
            </a:solidFill>
            <a:prstDash val="solid"/>
          </a:ln>
        </p:spPr>
      </p:sp>
      <p:sp>
        <p:nvSpPr>
          <p:cNvPr id="31" name="Text 28"/>
          <p:cNvSpPr/>
          <p:nvPr/>
        </p:nvSpPr>
        <p:spPr>
          <a:xfrm>
            <a:off x="8275320" y="3886200"/>
            <a:ext cx="502920" cy="411480"/>
          </a:xfrm>
          <a:prstGeom prst="rect">
            <a:avLst/>
          </a:prstGeom>
          <a:noFill/>
          <a:ln/>
        </p:spPr>
        <p:txBody>
          <a:bodyPr wrap="square" lIns="0" tIns="0" rIns="0" bIns="0" rtlCol="0" anchor="t">
            <a:normAutofit/>
          </a:bodyPr>
          <a:lstStyle/>
          <a:p>
            <a:pPr indent="0" marL="0">
              <a:buNone/>
            </a:pPr>
            <a:r>
              <a:rPr lang="en-US" sz="2500" b="1" dirty="0">
                <a:solidFill>
                  <a:srgbClr val="A80000"/>
                </a:solidFill>
                <a:latin typeface="Arial" pitchFamily="34" charset="0"/>
                <a:ea typeface="Arial" pitchFamily="34" charset="-122"/>
                <a:cs typeface="Arial" pitchFamily="34" charset="-120"/>
              </a:rPr>
              <a:t>06</a:t>
            </a:r>
            <a:endParaRPr lang="en-US" sz="2500" dirty="0"/>
          </a:p>
        </p:txBody>
      </p:sp>
      <p:sp>
        <p:nvSpPr>
          <p:cNvPr id="32" name="Text 29"/>
          <p:cNvSpPr/>
          <p:nvPr/>
        </p:nvSpPr>
        <p:spPr>
          <a:xfrm>
            <a:off x="8915400" y="3922776"/>
            <a:ext cx="2423160" cy="365760"/>
          </a:xfrm>
          <a:prstGeom prst="rect">
            <a:avLst/>
          </a:prstGeom>
          <a:noFill/>
          <a:ln/>
        </p:spPr>
        <p:txBody>
          <a:bodyPr wrap="square" lIns="0" tIns="0" rIns="0" bIns="0" rtlCol="0" anchor="t">
            <a:normAutofit/>
          </a:bodyPr>
          <a:lstStyle/>
          <a:p>
            <a:pPr indent="0" marL="0">
              <a:buNone/>
            </a:pPr>
            <a:r>
              <a:rPr lang="en-US" sz="2200" b="1" dirty="0">
                <a:solidFill>
                  <a:srgbClr val="242426"/>
                </a:solidFill>
                <a:latin typeface="Arial" pitchFamily="34" charset="0"/>
                <a:ea typeface="Arial" pitchFamily="34" charset="-122"/>
                <a:cs typeface="Arial" pitchFamily="34" charset="-120"/>
              </a:rPr>
              <a:t>Revisar</a:t>
            </a:r>
            <a:endParaRPr lang="en-US" sz="2200" dirty="0"/>
          </a:p>
        </p:txBody>
      </p:sp>
      <p:sp>
        <p:nvSpPr>
          <p:cNvPr id="33" name="Text 30"/>
          <p:cNvSpPr/>
          <p:nvPr/>
        </p:nvSpPr>
        <p:spPr>
          <a:xfrm>
            <a:off x="8275320" y="4590288"/>
            <a:ext cx="3108960" cy="365760"/>
          </a:xfrm>
          <a:prstGeom prst="rect">
            <a:avLst/>
          </a:prstGeom>
          <a:noFill/>
          <a:ln/>
        </p:spPr>
        <p:txBody>
          <a:bodyPr wrap="square" lIns="0" tIns="0" rIns="0" bIns="0" rtlCol="0" anchor="t">
            <a:normAutofit/>
          </a:bodyPr>
          <a:lstStyle/>
          <a:p>
            <a:pPr indent="0" marL="0">
              <a:buNone/>
            </a:pPr>
            <a:r>
              <a:rPr lang="en-US" sz="1800" dirty="0">
                <a:solidFill>
                  <a:srgbClr val="626269"/>
                </a:solidFill>
                <a:latin typeface="Arial" pitchFamily="34" charset="0"/>
                <a:ea typeface="Arial" pitchFamily="34" charset="-122"/>
                <a:cs typeface="Arial" pitchFamily="34" charset="-120"/>
              </a:rPr>
              <a:t>Verify / Dismiss / Escalate</a:t>
            </a:r>
            <a:endParaRPr lang="en-US" sz="1800" dirty="0"/>
          </a:p>
        </p:txBody>
      </p:sp>
      <p:sp>
        <p:nvSpPr>
          <p:cNvPr id="34" name="Shape 31"/>
          <p:cNvSpPr/>
          <p:nvPr/>
        </p:nvSpPr>
        <p:spPr>
          <a:xfrm>
            <a:off x="594360" y="5760720"/>
            <a:ext cx="10972800" cy="438912"/>
          </a:xfrm>
          <a:prstGeom prst="rect">
            <a:avLst/>
          </a:prstGeom>
          <a:solidFill>
            <a:srgbClr val="151515"/>
          </a:solidFill>
          <a:ln w="8890">
            <a:solidFill>
              <a:srgbClr val="151515"/>
            </a:solidFill>
            <a:prstDash val="solid"/>
          </a:ln>
        </p:spPr>
      </p:sp>
      <p:sp>
        <p:nvSpPr>
          <p:cNvPr id="35" name="Text 32"/>
          <p:cNvSpPr/>
          <p:nvPr/>
        </p:nvSpPr>
        <p:spPr>
          <a:xfrm>
            <a:off x="777240" y="5852160"/>
            <a:ext cx="10607040" cy="274320"/>
          </a:xfrm>
          <a:prstGeom prst="rect">
            <a:avLst/>
          </a:prstGeom>
          <a:noFill/>
          <a:ln/>
        </p:spPr>
        <p:txBody>
          <a:bodyPr wrap="square" lIns="0" tIns="0" rIns="0" bIns="0" rtlCol="0" anchor="t">
            <a:normAutofit/>
          </a:bodyPr>
          <a:lstStyle/>
          <a:p>
            <a:pPr indent="0" marL="0">
              <a:buNone/>
            </a:pPr>
            <a:r>
              <a:rPr lang="en-US" sz="1500" b="1" dirty="0">
                <a:solidFill>
                  <a:srgbClr val="FFFFFF"/>
                </a:solidFill>
                <a:latin typeface="Arial" pitchFamily="34" charset="0"/>
                <a:ea typeface="Arial" pitchFamily="34" charset="-122"/>
                <a:cs typeface="Arial" pitchFamily="34" charset="-120"/>
              </a:rPr>
              <a:t>El estado del run y el estado de revisión de cada issue son conceptos distintos.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4F5"/>
        </a:solidFill>
      </p:bgPr>
    </p:bg>
    <p:spTree>
      <p:nvGrpSpPr>
        <p:cNvPr id="1" name=""/>
        <p:cNvGrpSpPr/>
        <p:nvPr/>
      </p:nvGrpSpPr>
      <p:grpSpPr>
        <a:xfrm>
          <a:off x="0" y="0"/>
          <a:ext cx="0" cy="0"/>
          <a:chOff x="0" y="0"/>
          <a:chExt cx="0" cy="0"/>
        </a:xfrm>
      </p:grpSpPr>
      <p:sp>
        <p:nvSpPr>
          <p:cNvPr id="2" name="Shape 0"/>
          <p:cNvSpPr/>
          <p:nvPr/>
        </p:nvSpPr>
        <p:spPr>
          <a:xfrm>
            <a:off x="0" y="0"/>
            <a:ext cx="12192000" cy="68580"/>
          </a:xfrm>
          <a:prstGeom prst="rect">
            <a:avLst/>
          </a:prstGeom>
          <a:solidFill>
            <a:srgbClr val="A80000"/>
          </a:solidFill>
          <a:ln w="8890">
            <a:solidFill>
              <a:srgbClr val="A80000"/>
            </a:solidFill>
            <a:prstDash val="solid"/>
          </a:ln>
        </p:spPr>
      </p:sp>
      <p:sp>
        <p:nvSpPr>
          <p:cNvPr id="3" name="Text 1"/>
          <p:cNvSpPr/>
          <p:nvPr/>
        </p:nvSpPr>
        <p:spPr>
          <a:xfrm>
            <a:off x="594360" y="274320"/>
            <a:ext cx="10058400" cy="219456"/>
          </a:xfrm>
          <a:prstGeom prst="rect">
            <a:avLst/>
          </a:prstGeom>
          <a:noFill/>
          <a:ln/>
        </p:spPr>
        <p:txBody>
          <a:bodyPr wrap="square" lIns="0" tIns="0" rIns="0" bIns="0" rtlCol="0" anchor="t">
            <a:normAutofit/>
          </a:bodyPr>
          <a:lstStyle/>
          <a:p>
            <a:pPr indent="0" marL="0">
              <a:buNone/>
            </a:pPr>
            <a:r>
              <a:rPr lang="en-US" sz="1000" b="1" dirty="0">
                <a:solidFill>
                  <a:srgbClr val="A80000"/>
                </a:solidFill>
                <a:latin typeface="Arial" pitchFamily="34" charset="0"/>
                <a:ea typeface="Arial" pitchFamily="34" charset="-122"/>
                <a:cs typeface="Arial" pitchFamily="34" charset="-120"/>
              </a:rPr>
              <a:t>COORDINACIÓN</a:t>
            </a:r>
            <a:endParaRPr lang="en-US" sz="1000" dirty="0"/>
          </a:p>
        </p:txBody>
      </p:sp>
      <p:sp>
        <p:nvSpPr>
          <p:cNvPr id="4" name="Text 2"/>
          <p:cNvSpPr/>
          <p:nvPr/>
        </p:nvSpPr>
        <p:spPr>
          <a:xfrm>
            <a:off x="594360" y="667512"/>
            <a:ext cx="10972800" cy="594360"/>
          </a:xfrm>
          <a:prstGeom prst="rect">
            <a:avLst/>
          </a:prstGeom>
          <a:noFill/>
          <a:ln/>
        </p:spPr>
        <p:txBody>
          <a:bodyPr wrap="square" lIns="0" tIns="0" rIns="0" bIns="0" rtlCol="0" anchor="t">
            <a:normAutofit/>
          </a:bodyPr>
          <a:lstStyle/>
          <a:p>
            <a:pPr indent="0" marL="0">
              <a:buNone/>
            </a:pPr>
            <a:r>
              <a:rPr lang="en-US" sz="3000" b="1" dirty="0">
                <a:solidFill>
                  <a:srgbClr val="242426"/>
                </a:solidFill>
                <a:latin typeface="Arial" pitchFamily="34" charset="0"/>
                <a:ea typeface="Arial" pitchFamily="34" charset="-122"/>
                <a:cs typeface="Arial" pitchFamily="34" charset="-120"/>
              </a:rPr>
              <a:t>Qué decide el orquestador</a:t>
            </a:r>
            <a:endParaRPr lang="en-US" sz="3000" dirty="0"/>
          </a:p>
        </p:txBody>
      </p:sp>
      <p:sp>
        <p:nvSpPr>
          <p:cNvPr id="5" name="Shape 3"/>
          <p:cNvSpPr/>
          <p:nvPr/>
        </p:nvSpPr>
        <p:spPr>
          <a:xfrm>
            <a:off x="594360" y="6428232"/>
            <a:ext cx="10972800" cy="0"/>
          </a:xfrm>
          <a:prstGeom prst="line">
            <a:avLst/>
          </a:prstGeom>
          <a:noFill/>
          <a:ln w="17780">
            <a:solidFill>
              <a:srgbClr val="DEDEE2"/>
            </a:solidFill>
            <a:prstDash val="solid"/>
          </a:ln>
        </p:spPr>
      </p:sp>
      <p:sp>
        <p:nvSpPr>
          <p:cNvPr id="6" name="Text 4"/>
          <p:cNvSpPr/>
          <p:nvPr/>
        </p:nvSpPr>
        <p:spPr>
          <a:xfrm>
            <a:off x="594360" y="6547104"/>
            <a:ext cx="3749040" cy="164592"/>
          </a:xfrm>
          <a:prstGeom prst="rect">
            <a:avLst/>
          </a:prstGeom>
          <a:noFill/>
          <a:ln/>
        </p:spPr>
        <p:txBody>
          <a:bodyPr wrap="square" lIns="0" tIns="0" rIns="0" bIns="0" rtlCol="0" anchor="t">
            <a:normAutofit/>
          </a:bodyPr>
          <a:lstStyle/>
          <a:p>
            <a:pPr indent="0" marL="0">
              <a:buNone/>
            </a:pPr>
            <a:r>
              <a:rPr lang="en-US" sz="900" dirty="0">
                <a:solidFill>
                  <a:srgbClr val="626269"/>
                </a:solidFill>
                <a:latin typeface="Arial" pitchFamily="34" charset="0"/>
                <a:ea typeface="Arial" pitchFamily="34" charset="-122"/>
                <a:cs typeface="Arial" pitchFamily="34" charset="-120"/>
              </a:rPr>
              <a:t>SKYNET · 15 OCT 2026 · PRELIMINAR</a:t>
            </a:r>
            <a:endParaRPr lang="en-US" sz="900" dirty="0"/>
          </a:p>
        </p:txBody>
      </p:sp>
      <p:sp>
        <p:nvSpPr>
          <p:cNvPr id="7" name="Text 5"/>
          <p:cNvSpPr/>
          <p:nvPr/>
        </p:nvSpPr>
        <p:spPr>
          <a:xfrm>
            <a:off x="3931920" y="6547104"/>
            <a:ext cx="7178040" cy="164592"/>
          </a:xfrm>
          <a:prstGeom prst="rect">
            <a:avLst/>
          </a:prstGeom>
          <a:noFill/>
          <a:ln/>
        </p:spPr>
        <p:txBody>
          <a:bodyPr wrap="square" lIns="0" tIns="0" rIns="0" bIns="0" rtlCol="0" anchor="t">
            <a:normAutofit/>
          </a:bodyPr>
          <a:lstStyle/>
          <a:p>
            <a:pPr algn="r" indent="0" marL="0">
              <a:buNone/>
            </a:pPr>
            <a:r>
              <a:rPr lang="en-US" sz="850" dirty="0">
                <a:solidFill>
                  <a:srgbClr val="626269"/>
                </a:solidFill>
                <a:latin typeface="Arial" pitchFamily="34" charset="0"/>
                <a:ea typeface="Arial" pitchFamily="34" charset="-122"/>
                <a:cs typeface="Arial" pitchFamily="34" charset="-120"/>
              </a:rPr>
              <a:t>src/orchestrator/audit.ts; src/agents/model-check.ts</a:t>
            </a:r>
            <a:endParaRPr lang="en-US" sz="850" dirty="0"/>
          </a:p>
        </p:txBody>
      </p:sp>
      <p:sp>
        <p:nvSpPr>
          <p:cNvPr id="8" name="Text 6"/>
          <p:cNvSpPr/>
          <p:nvPr/>
        </p:nvSpPr>
        <p:spPr>
          <a:xfrm>
            <a:off x="11292840" y="6510528"/>
            <a:ext cx="320040" cy="228600"/>
          </a:xfrm>
          <a:prstGeom prst="rect">
            <a:avLst/>
          </a:prstGeom>
          <a:noFill/>
          <a:ln/>
        </p:spPr>
        <p:txBody>
          <a:bodyPr wrap="square" lIns="0" tIns="0" rIns="0" bIns="0" rtlCol="0" anchor="t">
            <a:normAutofit/>
          </a:bodyPr>
          <a:lstStyle/>
          <a:p>
            <a:pPr algn="r" indent="0" marL="0">
              <a:buNone/>
            </a:pPr>
            <a:r>
              <a:rPr lang="en-US" sz="1100" b="1" dirty="0">
                <a:solidFill>
                  <a:srgbClr val="A80000"/>
                </a:solidFill>
                <a:latin typeface="Arial" pitchFamily="34" charset="0"/>
                <a:ea typeface="Arial" pitchFamily="34" charset="-122"/>
                <a:cs typeface="Arial" pitchFamily="34" charset="-120"/>
              </a:rPr>
              <a:t>08</a:t>
            </a:r>
            <a:endParaRPr lang="en-US" sz="1100" dirty="0"/>
          </a:p>
        </p:txBody>
      </p:sp>
      <p:sp>
        <p:nvSpPr>
          <p:cNvPr id="10" name="Shape 7"/>
          <p:cNvSpPr/>
          <p:nvPr/>
        </p:nvSpPr>
        <p:spPr>
          <a:xfrm>
            <a:off x="594360" y="1783080"/>
            <a:ext cx="5349240" cy="3611880"/>
          </a:xfrm>
          <a:prstGeom prst="rect">
            <a:avLst/>
          </a:prstGeom>
          <a:solidFill>
            <a:srgbClr val="FFFFFF"/>
          </a:solidFill>
          <a:ln w="8890">
            <a:solidFill>
              <a:srgbClr val="DEDEE2"/>
            </a:solidFill>
            <a:prstDash val="solid"/>
          </a:ln>
        </p:spPr>
      </p:sp>
      <p:sp>
        <p:nvSpPr>
          <p:cNvPr id="11" name="Shape 8"/>
          <p:cNvSpPr/>
          <p:nvPr/>
        </p:nvSpPr>
        <p:spPr>
          <a:xfrm>
            <a:off x="594360" y="1783080"/>
            <a:ext cx="50292" cy="3611880"/>
          </a:xfrm>
          <a:prstGeom prst="rect">
            <a:avLst/>
          </a:prstGeom>
          <a:solidFill>
            <a:srgbClr val="A80000"/>
          </a:solidFill>
          <a:ln w="8890">
            <a:solidFill>
              <a:srgbClr val="A80000"/>
            </a:solidFill>
            <a:prstDash val="solid"/>
          </a:ln>
        </p:spPr>
      </p:sp>
      <p:sp>
        <p:nvSpPr>
          <p:cNvPr id="12" name="Text 9"/>
          <p:cNvSpPr/>
          <p:nvPr/>
        </p:nvSpPr>
        <p:spPr>
          <a:xfrm>
            <a:off x="777240" y="1947672"/>
            <a:ext cx="4983480" cy="457200"/>
          </a:xfrm>
          <a:prstGeom prst="rect">
            <a:avLst/>
          </a:prstGeom>
          <a:noFill/>
          <a:ln/>
        </p:spPr>
        <p:txBody>
          <a:bodyPr wrap="square" lIns="0" tIns="0" rIns="0" bIns="0" rtlCol="0" anchor="t">
            <a:normAutofit/>
          </a:bodyPr>
          <a:lstStyle/>
          <a:p>
            <a:pPr indent="0" marL="0">
              <a:buNone/>
            </a:pPr>
            <a:r>
              <a:rPr lang="en-US" sz="2100" b="1" dirty="0">
                <a:solidFill>
                  <a:srgbClr val="242426"/>
                </a:solidFill>
                <a:latin typeface="Arial" pitchFamily="34" charset="0"/>
                <a:ea typeface="Arial" pitchFamily="34" charset="-122"/>
                <a:cs typeface="Arial" pitchFamily="34" charset="-120"/>
              </a:rPr>
              <a:t>Plan de ejecución</a:t>
            </a:r>
            <a:endParaRPr lang="en-US" sz="2100" dirty="0"/>
          </a:p>
        </p:txBody>
      </p:sp>
      <p:sp>
        <p:nvSpPr>
          <p:cNvPr id="13" name="Text 10"/>
          <p:cNvSpPr/>
          <p:nvPr/>
        </p:nvSpPr>
        <p:spPr>
          <a:xfrm>
            <a:off x="777240" y="2587752"/>
            <a:ext cx="4983480" cy="2670048"/>
          </a:xfrm>
          <a:prstGeom prst="rect">
            <a:avLst/>
          </a:prstGeom>
          <a:noFill/>
          <a:ln/>
        </p:spPr>
        <p:txBody>
          <a:bodyPr wrap="square" lIns="0" tIns="0" rIns="0" bIns="0" rtlCol="0" anchor="t">
            <a:normAutofit/>
          </a:bodyPr>
          <a:lstStyle/>
          <a:p>
            <a:pPr indent="0" marL="0">
              <a:buNone/>
            </a:pPr>
            <a:r>
              <a:rPr lang="en-US" sz="2000" dirty="0">
                <a:solidFill>
                  <a:srgbClr val="626269"/>
                </a:solidFill>
                <a:latin typeface="Arial" pitchFamily="34" charset="0"/>
                <a:ea typeface="Arial" pitchFamily="34" charset="-122"/>
                <a:cs typeface="Arial" pitchFamily="34" charset="-120"/>
              </a:rPr>
              <a:t>Registro: agente + categorías + alcance</a:t>
            </a:r>
            <a:endParaRPr lang="en-US" sz="2000" dirty="0"/>
          </a:p>
          <a:p>
            <a:pPr indent="0" marL="0">
              <a:buNone/>
            </a:pPr>
            <a:endParaRPr lang="en-US" sz="2000" dirty="0"/>
          </a:p>
          <a:p>
            <a:pPr indent="0" marL="0">
              <a:buNone/>
            </a:pPr>
            <a:r>
              <a:rPr lang="en-US" sz="2000" dirty="0">
                <a:solidFill>
                  <a:srgbClr val="626269"/>
                </a:solidFill>
                <a:latin typeface="Arial" pitchFamily="34" charset="0"/>
                <a:ea typeface="Arial" pitchFamily="34" charset="-122"/>
                <a:cs typeface="Arial" pitchFamily="34" charset="-120"/>
              </a:rPr>
              <a:t>Una tarea de Links para el sitio</a:t>
            </a:r>
            <a:endParaRPr lang="en-US" sz="2000" dirty="0"/>
          </a:p>
          <a:p>
            <a:pPr indent="0" marL="0">
              <a:buNone/>
            </a:pPr>
            <a:r>
              <a:rPr lang="en-US" sz="2000" dirty="0">
                <a:solidFill>
                  <a:srgbClr val="626269"/>
                </a:solidFill>
                <a:latin typeface="Arial" pitchFamily="34" charset="0"/>
                <a:ea typeface="Arial" pitchFamily="34" charset="-122"/>
                <a:cs typeface="Arial" pitchFamily="34" charset="-120"/>
              </a:rPr>
              <a:t>Cinco tipos de agentes por página</a:t>
            </a:r>
            <a:endParaRPr lang="en-US" sz="2000" dirty="0"/>
          </a:p>
          <a:p>
            <a:pPr indent="0" marL="0">
              <a:buNone/>
            </a:pPr>
            <a:endParaRPr lang="en-US" sz="2000" dirty="0"/>
          </a:p>
          <a:p>
            <a:pPr indent="0" marL="0">
              <a:buNone/>
            </a:pPr>
            <a:r>
              <a:rPr lang="en-US" sz="2000" dirty="0">
                <a:solidFill>
                  <a:srgbClr val="626269"/>
                </a:solidFill>
                <a:latin typeface="Arial" pitchFamily="34" charset="0"/>
                <a:ea typeface="Arial" pitchFamily="34" charset="-122"/>
                <a:cs typeface="Arial" pitchFamily="34" charset="-120"/>
              </a:rPr>
              <a:t>Máximo 2 workers simultáneos</a:t>
            </a:r>
            <a:endParaRPr lang="en-US" sz="2000" dirty="0"/>
          </a:p>
        </p:txBody>
      </p:sp>
      <p:sp>
        <p:nvSpPr>
          <p:cNvPr id="14" name="Shape 11"/>
          <p:cNvSpPr/>
          <p:nvPr/>
        </p:nvSpPr>
        <p:spPr>
          <a:xfrm>
            <a:off x="6217920" y="1783080"/>
            <a:ext cx="5349240" cy="3611880"/>
          </a:xfrm>
          <a:prstGeom prst="rect">
            <a:avLst/>
          </a:prstGeom>
          <a:solidFill>
            <a:srgbClr val="FFFFFF"/>
          </a:solidFill>
          <a:ln w="8890">
            <a:solidFill>
              <a:srgbClr val="DEDEE2"/>
            </a:solidFill>
            <a:prstDash val="solid"/>
          </a:ln>
        </p:spPr>
      </p:sp>
      <p:sp>
        <p:nvSpPr>
          <p:cNvPr id="15" name="Shape 12"/>
          <p:cNvSpPr/>
          <p:nvPr/>
        </p:nvSpPr>
        <p:spPr>
          <a:xfrm>
            <a:off x="6217920" y="1783080"/>
            <a:ext cx="50292" cy="3611880"/>
          </a:xfrm>
          <a:prstGeom prst="rect">
            <a:avLst/>
          </a:prstGeom>
          <a:solidFill>
            <a:srgbClr val="A80000"/>
          </a:solidFill>
          <a:ln w="8890">
            <a:solidFill>
              <a:srgbClr val="A80000"/>
            </a:solidFill>
            <a:prstDash val="solid"/>
          </a:ln>
        </p:spPr>
      </p:sp>
      <p:sp>
        <p:nvSpPr>
          <p:cNvPr id="16" name="Text 13"/>
          <p:cNvSpPr/>
          <p:nvPr/>
        </p:nvSpPr>
        <p:spPr>
          <a:xfrm>
            <a:off x="6400800" y="1947672"/>
            <a:ext cx="4983480" cy="457200"/>
          </a:xfrm>
          <a:prstGeom prst="rect">
            <a:avLst/>
          </a:prstGeom>
          <a:noFill/>
          <a:ln/>
        </p:spPr>
        <p:txBody>
          <a:bodyPr wrap="square" lIns="0" tIns="0" rIns="0" bIns="0" rtlCol="0" anchor="t">
            <a:normAutofit/>
          </a:bodyPr>
          <a:lstStyle/>
          <a:p>
            <a:pPr indent="0" marL="0">
              <a:buNone/>
            </a:pPr>
            <a:r>
              <a:rPr lang="en-US" sz="2100" b="1" dirty="0">
                <a:solidFill>
                  <a:srgbClr val="242426"/>
                </a:solidFill>
                <a:latin typeface="Arial" pitchFamily="34" charset="0"/>
                <a:ea typeface="Arial" pitchFamily="34" charset="-122"/>
                <a:cs typeface="Arial" pitchFamily="34" charset="-120"/>
              </a:rPr>
              <a:t>Control y resiliencia</a:t>
            </a:r>
            <a:endParaRPr lang="en-US" sz="2100" dirty="0"/>
          </a:p>
        </p:txBody>
      </p:sp>
      <p:sp>
        <p:nvSpPr>
          <p:cNvPr id="17" name="Text 14"/>
          <p:cNvSpPr/>
          <p:nvPr/>
        </p:nvSpPr>
        <p:spPr>
          <a:xfrm>
            <a:off x="6400800" y="2587752"/>
            <a:ext cx="4983480" cy="2670048"/>
          </a:xfrm>
          <a:prstGeom prst="rect">
            <a:avLst/>
          </a:prstGeom>
          <a:noFill/>
          <a:ln/>
        </p:spPr>
        <p:txBody>
          <a:bodyPr wrap="square" lIns="0" tIns="0" rIns="0" bIns="0" rtlCol="0" anchor="t">
            <a:normAutofit/>
          </a:bodyPr>
          <a:lstStyle/>
          <a:p>
            <a:pPr indent="0" marL="0">
              <a:buNone/>
            </a:pPr>
            <a:r>
              <a:rPr lang="en-US" sz="2000" dirty="0">
                <a:solidFill>
                  <a:srgbClr val="626269"/>
                </a:solidFill>
                <a:latin typeface="Arial" pitchFamily="34" charset="0"/>
                <a:ea typeface="Arial" pitchFamily="34" charset="-122"/>
                <a:cs typeface="Arial" pitchFamily="34" charset="-120"/>
              </a:rPr>
              <a:t>Fallos aislados por worker</a:t>
            </a:r>
            <a:endParaRPr lang="en-US" sz="2000" dirty="0"/>
          </a:p>
          <a:p>
            <a:pPr indent="0" marL="0">
              <a:buNone/>
            </a:pPr>
            <a:endParaRPr lang="en-US" sz="2000" dirty="0"/>
          </a:p>
          <a:p>
            <a:pPr indent="0" marL="0">
              <a:buNone/>
            </a:pPr>
            <a:r>
              <a:rPr lang="en-US" sz="2000" dirty="0">
                <a:solidFill>
                  <a:srgbClr val="626269"/>
                </a:solidFill>
                <a:latin typeface="Arial" pitchFamily="34" charset="0"/>
                <a:ea typeface="Arial" pitchFamily="34" charset="-122"/>
                <a:cs typeface="Arial" pitchFamily="34" charset="-120"/>
              </a:rPr>
              <a:t>1 reintento ante errores transitorios</a:t>
            </a:r>
            <a:endParaRPr lang="en-US" sz="2000" dirty="0"/>
          </a:p>
          <a:p>
            <a:pPr indent="0" marL="0">
              <a:buNone/>
            </a:pPr>
            <a:r>
              <a:rPr lang="en-US" sz="2000" dirty="0">
                <a:solidFill>
                  <a:srgbClr val="626269"/>
                </a:solidFill>
                <a:latin typeface="Arial" pitchFamily="34" charset="0"/>
                <a:ea typeface="Arial" pitchFamily="34" charset="-122"/>
                <a:cs typeface="Arial" pitchFamily="34" charset="-120"/>
              </a:rPr>
              <a:t>Timeout de modelo: 60 s por intento</a:t>
            </a:r>
            <a:endParaRPr lang="en-US" sz="2000" dirty="0"/>
          </a:p>
          <a:p>
            <a:pPr indent="0" marL="0">
              <a:buNone/>
            </a:pPr>
            <a:endParaRPr lang="en-US" sz="2000" dirty="0"/>
          </a:p>
          <a:p>
            <a:pPr indent="0" marL="0">
              <a:buNone/>
            </a:pPr>
            <a:r>
              <a:rPr lang="en-US" sz="2000" dirty="0">
                <a:solidFill>
                  <a:srgbClr val="626269"/>
                </a:solidFill>
                <a:latin typeface="Arial" pitchFamily="34" charset="0"/>
                <a:ea typeface="Arial" pitchFamily="34" charset="-122"/>
                <a:cs typeface="Arial" pitchFamily="34" charset="-120"/>
              </a:rPr>
              <a:t>Schema + deduplicación + estado previo</a:t>
            </a:r>
            <a:endParaRPr lang="en-US" sz="2000" dirty="0"/>
          </a:p>
        </p:txBody>
      </p:sp>
      <p:sp>
        <p:nvSpPr>
          <p:cNvPr id="18" name="Shape 15"/>
          <p:cNvSpPr/>
          <p:nvPr/>
        </p:nvSpPr>
        <p:spPr>
          <a:xfrm>
            <a:off x="594360" y="5760720"/>
            <a:ext cx="10972800" cy="438912"/>
          </a:xfrm>
          <a:prstGeom prst="rect">
            <a:avLst/>
          </a:prstGeom>
          <a:solidFill>
            <a:srgbClr val="151515"/>
          </a:solidFill>
          <a:ln w="8890">
            <a:solidFill>
              <a:srgbClr val="151515"/>
            </a:solidFill>
            <a:prstDash val="solid"/>
          </a:ln>
        </p:spPr>
      </p:sp>
      <p:sp>
        <p:nvSpPr>
          <p:cNvPr id="19" name="Text 16"/>
          <p:cNvSpPr/>
          <p:nvPr/>
        </p:nvSpPr>
        <p:spPr>
          <a:xfrm>
            <a:off x="777240" y="5852160"/>
            <a:ext cx="10607040" cy="274320"/>
          </a:xfrm>
          <a:prstGeom prst="rect">
            <a:avLst/>
          </a:prstGeom>
          <a:noFill/>
          <a:ln/>
        </p:spPr>
        <p:txBody>
          <a:bodyPr wrap="square" lIns="0" tIns="0" rIns="0" bIns="0" rtlCol="0" anchor="t">
            <a:normAutofit/>
          </a:bodyPr>
          <a:lstStyle/>
          <a:p>
            <a:pPr indent="0" marL="0">
              <a:buNone/>
            </a:pPr>
            <a:r>
              <a:rPr lang="en-US" sz="1500" b="1" dirty="0">
                <a:solidFill>
                  <a:srgbClr val="FFFFFF"/>
                </a:solidFill>
                <a:latin typeface="Arial" pitchFamily="34" charset="0"/>
                <a:ea typeface="Arial" pitchFamily="34" charset="-122"/>
                <a:cs typeface="Arial" pitchFamily="34" charset="-120"/>
              </a:rPr>
              <a:t>Demo actual: 6 agentes → 16 workers → 15 completados + 1 no aplicable.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4F5"/>
        </a:solidFill>
      </p:bgPr>
    </p:bg>
    <p:spTree>
      <p:nvGrpSpPr>
        <p:cNvPr id="1" name=""/>
        <p:cNvGrpSpPr/>
        <p:nvPr/>
      </p:nvGrpSpPr>
      <p:grpSpPr>
        <a:xfrm>
          <a:off x="0" y="0"/>
          <a:ext cx="0" cy="0"/>
          <a:chOff x="0" y="0"/>
          <a:chExt cx="0" cy="0"/>
        </a:xfrm>
      </p:grpSpPr>
      <p:sp>
        <p:nvSpPr>
          <p:cNvPr id="2" name="Shape 0"/>
          <p:cNvSpPr/>
          <p:nvPr/>
        </p:nvSpPr>
        <p:spPr>
          <a:xfrm>
            <a:off x="0" y="0"/>
            <a:ext cx="12192000" cy="68580"/>
          </a:xfrm>
          <a:prstGeom prst="rect">
            <a:avLst/>
          </a:prstGeom>
          <a:solidFill>
            <a:srgbClr val="A80000"/>
          </a:solidFill>
          <a:ln w="8890">
            <a:solidFill>
              <a:srgbClr val="A80000"/>
            </a:solidFill>
            <a:prstDash val="solid"/>
          </a:ln>
        </p:spPr>
      </p:sp>
      <p:sp>
        <p:nvSpPr>
          <p:cNvPr id="3" name="Text 1"/>
          <p:cNvSpPr/>
          <p:nvPr/>
        </p:nvSpPr>
        <p:spPr>
          <a:xfrm>
            <a:off x="594360" y="274320"/>
            <a:ext cx="10058400" cy="219456"/>
          </a:xfrm>
          <a:prstGeom prst="rect">
            <a:avLst/>
          </a:prstGeom>
          <a:noFill/>
          <a:ln/>
        </p:spPr>
        <p:txBody>
          <a:bodyPr wrap="square" lIns="0" tIns="0" rIns="0" bIns="0" rtlCol="0" anchor="t">
            <a:normAutofit/>
          </a:bodyPr>
          <a:lstStyle/>
          <a:p>
            <a:pPr indent="0" marL="0">
              <a:buNone/>
            </a:pPr>
            <a:r>
              <a:rPr lang="en-US" sz="1000" b="1" dirty="0">
                <a:solidFill>
                  <a:srgbClr val="A80000"/>
                </a:solidFill>
                <a:latin typeface="Arial" pitchFamily="34" charset="0"/>
                <a:ea typeface="Arial" pitchFamily="34" charset="-122"/>
                <a:cs typeface="Arial" pitchFamily="34" charset="-120"/>
              </a:rPr>
              <a:t>COBERTURA</a:t>
            </a:r>
            <a:endParaRPr lang="en-US" sz="1000" dirty="0"/>
          </a:p>
        </p:txBody>
      </p:sp>
      <p:sp>
        <p:nvSpPr>
          <p:cNvPr id="4" name="Text 2"/>
          <p:cNvSpPr/>
          <p:nvPr/>
        </p:nvSpPr>
        <p:spPr>
          <a:xfrm>
            <a:off x="594360" y="667512"/>
            <a:ext cx="10972800" cy="594360"/>
          </a:xfrm>
          <a:prstGeom prst="rect">
            <a:avLst/>
          </a:prstGeom>
          <a:noFill/>
          <a:ln/>
        </p:spPr>
        <p:txBody>
          <a:bodyPr wrap="square" lIns="0" tIns="0" rIns="0" bIns="0" rtlCol="0" anchor="t">
            <a:normAutofit/>
          </a:bodyPr>
          <a:lstStyle/>
          <a:p>
            <a:pPr indent="0" marL="0">
              <a:buNone/>
            </a:pPr>
            <a:r>
              <a:rPr lang="en-US" sz="3000" b="1" dirty="0">
                <a:solidFill>
                  <a:srgbClr val="242426"/>
                </a:solidFill>
                <a:latin typeface="Arial" pitchFamily="34" charset="0"/>
                <a:ea typeface="Arial" pitchFamily="34" charset="-122"/>
                <a:cs typeface="Arial" pitchFamily="34" charset="-120"/>
              </a:rPr>
              <a:t>Seis agentes, ocho categorías</a:t>
            </a:r>
            <a:endParaRPr lang="en-US" sz="3000" dirty="0"/>
          </a:p>
        </p:txBody>
      </p:sp>
      <p:sp>
        <p:nvSpPr>
          <p:cNvPr id="5" name="Shape 3"/>
          <p:cNvSpPr/>
          <p:nvPr/>
        </p:nvSpPr>
        <p:spPr>
          <a:xfrm>
            <a:off x="594360" y="6428232"/>
            <a:ext cx="10972800" cy="0"/>
          </a:xfrm>
          <a:prstGeom prst="line">
            <a:avLst/>
          </a:prstGeom>
          <a:noFill/>
          <a:ln w="17780">
            <a:solidFill>
              <a:srgbClr val="DEDEE2"/>
            </a:solidFill>
            <a:prstDash val="solid"/>
          </a:ln>
        </p:spPr>
      </p:sp>
      <p:sp>
        <p:nvSpPr>
          <p:cNvPr id="6" name="Text 4"/>
          <p:cNvSpPr/>
          <p:nvPr/>
        </p:nvSpPr>
        <p:spPr>
          <a:xfrm>
            <a:off x="594360" y="6547104"/>
            <a:ext cx="3749040" cy="164592"/>
          </a:xfrm>
          <a:prstGeom prst="rect">
            <a:avLst/>
          </a:prstGeom>
          <a:noFill/>
          <a:ln/>
        </p:spPr>
        <p:txBody>
          <a:bodyPr wrap="square" lIns="0" tIns="0" rIns="0" bIns="0" rtlCol="0" anchor="t">
            <a:normAutofit/>
          </a:bodyPr>
          <a:lstStyle/>
          <a:p>
            <a:pPr indent="0" marL="0">
              <a:buNone/>
            </a:pPr>
            <a:r>
              <a:rPr lang="en-US" sz="900" dirty="0">
                <a:solidFill>
                  <a:srgbClr val="626269"/>
                </a:solidFill>
                <a:latin typeface="Arial" pitchFamily="34" charset="0"/>
                <a:ea typeface="Arial" pitchFamily="34" charset="-122"/>
                <a:cs typeface="Arial" pitchFamily="34" charset="-120"/>
              </a:rPr>
              <a:t>SKYNET · 15 OCT 2026 · PRELIMINAR</a:t>
            </a:r>
            <a:endParaRPr lang="en-US" sz="900" dirty="0"/>
          </a:p>
        </p:txBody>
      </p:sp>
      <p:sp>
        <p:nvSpPr>
          <p:cNvPr id="7" name="Text 5"/>
          <p:cNvSpPr/>
          <p:nvPr/>
        </p:nvSpPr>
        <p:spPr>
          <a:xfrm>
            <a:off x="3931920" y="6547104"/>
            <a:ext cx="7178040" cy="164592"/>
          </a:xfrm>
          <a:prstGeom prst="rect">
            <a:avLst/>
          </a:prstGeom>
          <a:noFill/>
          <a:ln/>
        </p:spPr>
        <p:txBody>
          <a:bodyPr wrap="square" lIns="0" tIns="0" rIns="0" bIns="0" rtlCol="0" anchor="t">
            <a:normAutofit/>
          </a:bodyPr>
          <a:lstStyle/>
          <a:p>
            <a:pPr algn="r" indent="0" marL="0">
              <a:buNone/>
            </a:pPr>
            <a:r>
              <a:rPr lang="en-US" sz="850" dirty="0">
                <a:solidFill>
                  <a:srgbClr val="626269"/>
                </a:solidFill>
                <a:latin typeface="Arial" pitchFamily="34" charset="0"/>
                <a:ea typeface="Arial" pitchFamily="34" charset="-122"/>
                <a:cs typeface="Arial" pitchFamily="34" charset="-120"/>
              </a:rPr>
              <a:t>src/agents/; registro en src/orchestrator/audit.ts</a:t>
            </a:r>
            <a:endParaRPr lang="en-US" sz="850" dirty="0"/>
          </a:p>
        </p:txBody>
      </p:sp>
      <p:sp>
        <p:nvSpPr>
          <p:cNvPr id="8" name="Text 6"/>
          <p:cNvSpPr/>
          <p:nvPr/>
        </p:nvSpPr>
        <p:spPr>
          <a:xfrm>
            <a:off x="11292840" y="6510528"/>
            <a:ext cx="320040" cy="228600"/>
          </a:xfrm>
          <a:prstGeom prst="rect">
            <a:avLst/>
          </a:prstGeom>
          <a:noFill/>
          <a:ln/>
        </p:spPr>
        <p:txBody>
          <a:bodyPr wrap="square" lIns="0" tIns="0" rIns="0" bIns="0" rtlCol="0" anchor="t">
            <a:normAutofit/>
          </a:bodyPr>
          <a:lstStyle/>
          <a:p>
            <a:pPr algn="r" indent="0" marL="0">
              <a:buNone/>
            </a:pPr>
            <a:r>
              <a:rPr lang="en-US" sz="1100" b="1" dirty="0">
                <a:solidFill>
                  <a:srgbClr val="A80000"/>
                </a:solidFill>
                <a:latin typeface="Arial" pitchFamily="34" charset="0"/>
                <a:ea typeface="Arial" pitchFamily="34" charset="-122"/>
                <a:cs typeface="Arial" pitchFamily="34" charset="-120"/>
              </a:rPr>
              <a:t>09</a:t>
            </a:r>
            <a:endParaRPr lang="en-US" sz="1100" dirty="0"/>
          </a:p>
        </p:txBody>
      </p:sp>
      <p:sp>
        <p:nvSpPr>
          <p:cNvPr id="10" name="Shape 7"/>
          <p:cNvSpPr/>
          <p:nvPr/>
        </p:nvSpPr>
        <p:spPr>
          <a:xfrm>
            <a:off x="594360" y="1691640"/>
            <a:ext cx="2286000" cy="475488"/>
          </a:xfrm>
          <a:prstGeom prst="rect">
            <a:avLst/>
          </a:prstGeom>
          <a:solidFill>
            <a:srgbClr val="151515"/>
          </a:solidFill>
          <a:ln w="8890">
            <a:solidFill>
              <a:srgbClr val="151515"/>
            </a:solidFill>
            <a:prstDash val="solid"/>
          </a:ln>
        </p:spPr>
      </p:sp>
      <p:sp>
        <p:nvSpPr>
          <p:cNvPr id="11" name="Text 8"/>
          <p:cNvSpPr/>
          <p:nvPr/>
        </p:nvSpPr>
        <p:spPr>
          <a:xfrm>
            <a:off x="713232" y="1810512"/>
            <a:ext cx="2048256" cy="274320"/>
          </a:xfrm>
          <a:prstGeom prst="rect">
            <a:avLst/>
          </a:prstGeom>
          <a:noFill/>
          <a:ln/>
        </p:spPr>
        <p:txBody>
          <a:bodyPr wrap="square" lIns="0" tIns="0" rIns="0" bIns="0" rtlCol="0" anchor="t">
            <a:normAutofit/>
          </a:bodyPr>
          <a:lstStyle/>
          <a:p>
            <a:pPr indent="0" marL="0">
              <a:buNone/>
            </a:pPr>
            <a:r>
              <a:rPr lang="en-US" sz="1300" b="1" dirty="0">
                <a:solidFill>
                  <a:srgbClr val="FFFFFF"/>
                </a:solidFill>
                <a:latin typeface="Arial" pitchFamily="34" charset="0"/>
                <a:ea typeface="Arial" pitchFamily="34" charset="-122"/>
                <a:cs typeface="Arial" pitchFamily="34" charset="-120"/>
              </a:rPr>
              <a:t>AGENTE</a:t>
            </a:r>
            <a:endParaRPr lang="en-US" sz="1300" dirty="0"/>
          </a:p>
        </p:txBody>
      </p:sp>
      <p:sp>
        <p:nvSpPr>
          <p:cNvPr id="12" name="Shape 9"/>
          <p:cNvSpPr/>
          <p:nvPr/>
        </p:nvSpPr>
        <p:spPr>
          <a:xfrm>
            <a:off x="2880360" y="1691640"/>
            <a:ext cx="3337560" cy="475488"/>
          </a:xfrm>
          <a:prstGeom prst="rect">
            <a:avLst/>
          </a:prstGeom>
          <a:solidFill>
            <a:srgbClr val="151515"/>
          </a:solidFill>
          <a:ln w="8890">
            <a:solidFill>
              <a:srgbClr val="151515"/>
            </a:solidFill>
            <a:prstDash val="solid"/>
          </a:ln>
        </p:spPr>
      </p:sp>
      <p:sp>
        <p:nvSpPr>
          <p:cNvPr id="13" name="Text 10"/>
          <p:cNvSpPr/>
          <p:nvPr/>
        </p:nvSpPr>
        <p:spPr>
          <a:xfrm>
            <a:off x="2999232" y="1810512"/>
            <a:ext cx="3099816" cy="274320"/>
          </a:xfrm>
          <a:prstGeom prst="rect">
            <a:avLst/>
          </a:prstGeom>
          <a:noFill/>
          <a:ln/>
        </p:spPr>
        <p:txBody>
          <a:bodyPr wrap="square" lIns="0" tIns="0" rIns="0" bIns="0" rtlCol="0" anchor="t">
            <a:normAutofit/>
          </a:bodyPr>
          <a:lstStyle/>
          <a:p>
            <a:pPr indent="0" marL="0">
              <a:buNone/>
            </a:pPr>
            <a:r>
              <a:rPr lang="en-US" sz="1300" b="1" dirty="0">
                <a:solidFill>
                  <a:srgbClr val="FFFFFF"/>
                </a:solidFill>
                <a:latin typeface="Arial" pitchFamily="34" charset="0"/>
                <a:ea typeface="Arial" pitchFamily="34" charset="-122"/>
                <a:cs typeface="Arial" pitchFamily="34" charset="-120"/>
              </a:rPr>
              <a:t>CATEGORÍAS</a:t>
            </a:r>
            <a:endParaRPr lang="en-US" sz="1300" dirty="0"/>
          </a:p>
        </p:txBody>
      </p:sp>
      <p:sp>
        <p:nvSpPr>
          <p:cNvPr id="14" name="Shape 11"/>
          <p:cNvSpPr/>
          <p:nvPr/>
        </p:nvSpPr>
        <p:spPr>
          <a:xfrm>
            <a:off x="6217920" y="1691640"/>
            <a:ext cx="5349240" cy="475488"/>
          </a:xfrm>
          <a:prstGeom prst="rect">
            <a:avLst/>
          </a:prstGeom>
          <a:solidFill>
            <a:srgbClr val="151515"/>
          </a:solidFill>
          <a:ln w="8890">
            <a:solidFill>
              <a:srgbClr val="151515"/>
            </a:solidFill>
            <a:prstDash val="solid"/>
          </a:ln>
        </p:spPr>
      </p:sp>
      <p:sp>
        <p:nvSpPr>
          <p:cNvPr id="15" name="Text 12"/>
          <p:cNvSpPr/>
          <p:nvPr/>
        </p:nvSpPr>
        <p:spPr>
          <a:xfrm>
            <a:off x="6336792" y="1810512"/>
            <a:ext cx="5111496" cy="274320"/>
          </a:xfrm>
          <a:prstGeom prst="rect">
            <a:avLst/>
          </a:prstGeom>
          <a:noFill/>
          <a:ln/>
        </p:spPr>
        <p:txBody>
          <a:bodyPr wrap="square" lIns="0" tIns="0" rIns="0" bIns="0" rtlCol="0" anchor="t">
            <a:normAutofit/>
          </a:bodyPr>
          <a:lstStyle/>
          <a:p>
            <a:pPr indent="0" marL="0">
              <a:buNone/>
            </a:pPr>
            <a:r>
              <a:rPr lang="en-US" sz="1300" b="1" dirty="0">
                <a:solidFill>
                  <a:srgbClr val="FFFFFF"/>
                </a:solidFill>
                <a:latin typeface="Arial" pitchFamily="34" charset="0"/>
                <a:ea typeface="Arial" pitchFamily="34" charset="-122"/>
                <a:cs typeface="Arial" pitchFamily="34" charset="-120"/>
              </a:rPr>
              <a:t>CÓMO COMPRUEBA</a:t>
            </a:r>
            <a:endParaRPr lang="en-US" sz="1300" dirty="0"/>
          </a:p>
        </p:txBody>
      </p:sp>
      <p:sp>
        <p:nvSpPr>
          <p:cNvPr id="16" name="Shape 13"/>
          <p:cNvSpPr/>
          <p:nvPr/>
        </p:nvSpPr>
        <p:spPr>
          <a:xfrm>
            <a:off x="594360" y="2167128"/>
            <a:ext cx="2286000" cy="621792"/>
          </a:xfrm>
          <a:prstGeom prst="rect">
            <a:avLst/>
          </a:prstGeom>
          <a:solidFill>
            <a:srgbClr val="FFFFFF"/>
          </a:solidFill>
          <a:ln w="8890">
            <a:solidFill>
              <a:srgbClr val="DEDEE2"/>
            </a:solidFill>
            <a:prstDash val="solid"/>
          </a:ln>
        </p:spPr>
      </p:sp>
      <p:sp>
        <p:nvSpPr>
          <p:cNvPr id="17" name="Text 14"/>
          <p:cNvSpPr/>
          <p:nvPr/>
        </p:nvSpPr>
        <p:spPr>
          <a:xfrm>
            <a:off x="713232" y="2304288"/>
            <a:ext cx="2048256" cy="438912"/>
          </a:xfrm>
          <a:prstGeom prst="rect">
            <a:avLst/>
          </a:prstGeom>
          <a:noFill/>
          <a:ln/>
        </p:spPr>
        <p:txBody>
          <a:bodyPr wrap="square" lIns="0" tIns="0" rIns="0" bIns="0" rtlCol="0" anchor="t">
            <a:normAutofit/>
          </a:bodyPr>
          <a:lstStyle/>
          <a:p>
            <a:pPr indent="0" marL="0">
              <a:buNone/>
            </a:pPr>
            <a:r>
              <a:rPr lang="en-US" sz="1600" b="1" dirty="0">
                <a:solidFill>
                  <a:srgbClr val="242426"/>
                </a:solidFill>
                <a:latin typeface="Arial" pitchFamily="34" charset="0"/>
                <a:ea typeface="Arial" pitchFamily="34" charset="-122"/>
                <a:cs typeface="Arial" pitchFamily="34" charset="-120"/>
              </a:rPr>
              <a:t>Language</a:t>
            </a:r>
            <a:endParaRPr lang="en-US" sz="1600" dirty="0"/>
          </a:p>
        </p:txBody>
      </p:sp>
      <p:sp>
        <p:nvSpPr>
          <p:cNvPr id="18" name="Shape 15"/>
          <p:cNvSpPr/>
          <p:nvPr/>
        </p:nvSpPr>
        <p:spPr>
          <a:xfrm>
            <a:off x="2880360" y="2167128"/>
            <a:ext cx="3337560" cy="621792"/>
          </a:xfrm>
          <a:prstGeom prst="rect">
            <a:avLst/>
          </a:prstGeom>
          <a:solidFill>
            <a:srgbClr val="FFFFFF"/>
          </a:solidFill>
          <a:ln w="8890">
            <a:solidFill>
              <a:srgbClr val="DEDEE2"/>
            </a:solidFill>
            <a:prstDash val="solid"/>
          </a:ln>
        </p:spPr>
      </p:sp>
      <p:sp>
        <p:nvSpPr>
          <p:cNvPr id="19" name="Text 16"/>
          <p:cNvSpPr/>
          <p:nvPr/>
        </p:nvSpPr>
        <p:spPr>
          <a:xfrm>
            <a:off x="2999232" y="2304288"/>
            <a:ext cx="3099816" cy="438912"/>
          </a:xfrm>
          <a:prstGeom prst="rect">
            <a:avLst/>
          </a:prstGeom>
          <a:noFill/>
          <a:ln/>
        </p:spPr>
        <p:txBody>
          <a:bodyPr wrap="square" lIns="0" tIns="0" rIns="0" bIns="0" rtlCol="0" anchor="t">
            <a:normAutofit/>
          </a:bodyPr>
          <a:lstStyle/>
          <a:p>
            <a:pPr indent="0" marL="0">
              <a:buNone/>
            </a:pPr>
            <a:r>
              <a:rPr lang="en-US" sz="1600" dirty="0">
                <a:solidFill>
                  <a:srgbClr val="626269"/>
                </a:solidFill>
                <a:latin typeface="Arial" pitchFamily="34" charset="0"/>
                <a:ea typeface="Arial" pitchFamily="34" charset="-122"/>
                <a:cs typeface="Arial" pitchFamily="34" charset="-120"/>
              </a:rPr>
              <a:t>Ortografía y gramática</a:t>
            </a:r>
            <a:endParaRPr lang="en-US" sz="1600" dirty="0"/>
          </a:p>
        </p:txBody>
      </p:sp>
      <p:sp>
        <p:nvSpPr>
          <p:cNvPr id="20" name="Shape 17"/>
          <p:cNvSpPr/>
          <p:nvPr/>
        </p:nvSpPr>
        <p:spPr>
          <a:xfrm>
            <a:off x="6217920" y="2167128"/>
            <a:ext cx="5349240" cy="621792"/>
          </a:xfrm>
          <a:prstGeom prst="rect">
            <a:avLst/>
          </a:prstGeom>
          <a:solidFill>
            <a:srgbClr val="FFFFFF"/>
          </a:solidFill>
          <a:ln w="8890">
            <a:solidFill>
              <a:srgbClr val="DEDEE2"/>
            </a:solidFill>
            <a:prstDash val="solid"/>
          </a:ln>
        </p:spPr>
      </p:sp>
      <p:sp>
        <p:nvSpPr>
          <p:cNvPr id="21" name="Text 18"/>
          <p:cNvSpPr/>
          <p:nvPr/>
        </p:nvSpPr>
        <p:spPr>
          <a:xfrm>
            <a:off x="6336792" y="2304288"/>
            <a:ext cx="5111496" cy="438912"/>
          </a:xfrm>
          <a:prstGeom prst="rect">
            <a:avLst/>
          </a:prstGeom>
          <a:noFill/>
          <a:ln/>
        </p:spPr>
        <p:txBody>
          <a:bodyPr wrap="square" lIns="0" tIns="0" rIns="0" bIns="0" rtlCol="0" anchor="t">
            <a:normAutofit/>
          </a:bodyPr>
          <a:lstStyle/>
          <a:p>
            <a:pPr indent="0" marL="0">
              <a:buNone/>
            </a:pPr>
            <a:r>
              <a:rPr lang="en-US" sz="1600" dirty="0">
                <a:solidFill>
                  <a:srgbClr val="626269"/>
                </a:solidFill>
                <a:latin typeface="Arial" pitchFamily="34" charset="0"/>
                <a:ea typeface="Arial" pitchFamily="34" charset="-122"/>
                <a:cs typeface="Arial" pitchFamily="34" charset="-120"/>
              </a:rPr>
              <a:t>Modelo + citas exactas del texto</a:t>
            </a:r>
            <a:endParaRPr lang="en-US" sz="1600" dirty="0"/>
          </a:p>
        </p:txBody>
      </p:sp>
      <p:sp>
        <p:nvSpPr>
          <p:cNvPr id="22" name="Shape 19"/>
          <p:cNvSpPr/>
          <p:nvPr/>
        </p:nvSpPr>
        <p:spPr>
          <a:xfrm>
            <a:off x="594360" y="2788920"/>
            <a:ext cx="2286000" cy="621792"/>
          </a:xfrm>
          <a:prstGeom prst="rect">
            <a:avLst/>
          </a:prstGeom>
          <a:solidFill>
            <a:srgbClr val="EEEEF1"/>
          </a:solidFill>
          <a:ln w="8890">
            <a:solidFill>
              <a:srgbClr val="DEDEE2"/>
            </a:solidFill>
            <a:prstDash val="solid"/>
          </a:ln>
        </p:spPr>
      </p:sp>
      <p:sp>
        <p:nvSpPr>
          <p:cNvPr id="23" name="Text 20"/>
          <p:cNvSpPr/>
          <p:nvPr/>
        </p:nvSpPr>
        <p:spPr>
          <a:xfrm>
            <a:off x="713232" y="2926080"/>
            <a:ext cx="2048256" cy="438912"/>
          </a:xfrm>
          <a:prstGeom prst="rect">
            <a:avLst/>
          </a:prstGeom>
          <a:noFill/>
          <a:ln/>
        </p:spPr>
        <p:txBody>
          <a:bodyPr wrap="square" lIns="0" tIns="0" rIns="0" bIns="0" rtlCol="0" anchor="t">
            <a:normAutofit/>
          </a:bodyPr>
          <a:lstStyle/>
          <a:p>
            <a:pPr indent="0" marL="0">
              <a:buNone/>
            </a:pPr>
            <a:r>
              <a:rPr lang="en-US" sz="1600" b="1" dirty="0">
                <a:solidFill>
                  <a:srgbClr val="242426"/>
                </a:solidFill>
                <a:latin typeface="Arial" pitchFamily="34" charset="0"/>
                <a:ea typeface="Arial" pitchFamily="34" charset="-122"/>
                <a:cs typeface="Arial" pitchFamily="34" charset="-120"/>
              </a:rPr>
              <a:t>Links</a:t>
            </a:r>
            <a:endParaRPr lang="en-US" sz="1600" dirty="0"/>
          </a:p>
        </p:txBody>
      </p:sp>
      <p:sp>
        <p:nvSpPr>
          <p:cNvPr id="24" name="Shape 21"/>
          <p:cNvSpPr/>
          <p:nvPr/>
        </p:nvSpPr>
        <p:spPr>
          <a:xfrm>
            <a:off x="2880360" y="2788920"/>
            <a:ext cx="3337560" cy="621792"/>
          </a:xfrm>
          <a:prstGeom prst="rect">
            <a:avLst/>
          </a:prstGeom>
          <a:solidFill>
            <a:srgbClr val="EEEEF1"/>
          </a:solidFill>
          <a:ln w="8890">
            <a:solidFill>
              <a:srgbClr val="DEDEE2"/>
            </a:solidFill>
            <a:prstDash val="solid"/>
          </a:ln>
        </p:spPr>
      </p:sp>
      <p:sp>
        <p:nvSpPr>
          <p:cNvPr id="25" name="Text 22"/>
          <p:cNvSpPr/>
          <p:nvPr/>
        </p:nvSpPr>
        <p:spPr>
          <a:xfrm>
            <a:off x="2999232" y="2926080"/>
            <a:ext cx="3099816" cy="438912"/>
          </a:xfrm>
          <a:prstGeom prst="rect">
            <a:avLst/>
          </a:prstGeom>
          <a:noFill/>
          <a:ln/>
        </p:spPr>
        <p:txBody>
          <a:bodyPr wrap="square" lIns="0" tIns="0" rIns="0" bIns="0" rtlCol="0" anchor="t">
            <a:normAutofit/>
          </a:bodyPr>
          <a:lstStyle/>
          <a:p>
            <a:pPr indent="0" marL="0">
              <a:buNone/>
            </a:pPr>
            <a:r>
              <a:rPr lang="en-US" sz="1600" dirty="0">
                <a:solidFill>
                  <a:srgbClr val="626269"/>
                </a:solidFill>
                <a:latin typeface="Arial" pitchFamily="34" charset="0"/>
                <a:ea typeface="Arial" pitchFamily="34" charset="-122"/>
                <a:cs typeface="Arial" pitchFamily="34" charset="-120"/>
              </a:rPr>
              <a:t>Enlaces</a:t>
            </a:r>
            <a:endParaRPr lang="en-US" sz="1600" dirty="0"/>
          </a:p>
        </p:txBody>
      </p:sp>
      <p:sp>
        <p:nvSpPr>
          <p:cNvPr id="26" name="Shape 23"/>
          <p:cNvSpPr/>
          <p:nvPr/>
        </p:nvSpPr>
        <p:spPr>
          <a:xfrm>
            <a:off x="6217920" y="2788920"/>
            <a:ext cx="5349240" cy="621792"/>
          </a:xfrm>
          <a:prstGeom prst="rect">
            <a:avLst/>
          </a:prstGeom>
          <a:solidFill>
            <a:srgbClr val="EEEEF1"/>
          </a:solidFill>
          <a:ln w="8890">
            <a:solidFill>
              <a:srgbClr val="DEDEE2"/>
            </a:solidFill>
            <a:prstDash val="solid"/>
          </a:ln>
        </p:spPr>
      </p:sp>
      <p:sp>
        <p:nvSpPr>
          <p:cNvPr id="27" name="Text 24"/>
          <p:cNvSpPr/>
          <p:nvPr/>
        </p:nvSpPr>
        <p:spPr>
          <a:xfrm>
            <a:off x="6336792" y="2926080"/>
            <a:ext cx="5111496" cy="438912"/>
          </a:xfrm>
          <a:prstGeom prst="rect">
            <a:avLst/>
          </a:prstGeom>
          <a:noFill/>
          <a:ln/>
        </p:spPr>
        <p:txBody>
          <a:bodyPr wrap="square" lIns="0" tIns="0" rIns="0" bIns="0" rtlCol="0" anchor="t">
            <a:normAutofit/>
          </a:bodyPr>
          <a:lstStyle/>
          <a:p>
            <a:pPr indent="0" marL="0">
              <a:buNone/>
            </a:pPr>
            <a:r>
              <a:rPr lang="en-US" sz="1600" dirty="0">
                <a:solidFill>
                  <a:srgbClr val="626269"/>
                </a:solidFill>
                <a:latin typeface="Arial" pitchFamily="34" charset="0"/>
                <a:ea typeface="Arial" pitchFamily="34" charset="-122"/>
                <a:cs typeface="Arial" pitchFamily="34" charset="-120"/>
              </a:rPr>
              <a:t>Respuestas HTTP del mismo origen</a:t>
            </a:r>
            <a:endParaRPr lang="en-US" sz="1600" dirty="0"/>
          </a:p>
        </p:txBody>
      </p:sp>
      <p:sp>
        <p:nvSpPr>
          <p:cNvPr id="28" name="Shape 25"/>
          <p:cNvSpPr/>
          <p:nvPr/>
        </p:nvSpPr>
        <p:spPr>
          <a:xfrm>
            <a:off x="594360" y="3410712"/>
            <a:ext cx="2286000" cy="621792"/>
          </a:xfrm>
          <a:prstGeom prst="rect">
            <a:avLst/>
          </a:prstGeom>
          <a:solidFill>
            <a:srgbClr val="FFFFFF"/>
          </a:solidFill>
          <a:ln w="8890">
            <a:solidFill>
              <a:srgbClr val="DEDEE2"/>
            </a:solidFill>
            <a:prstDash val="solid"/>
          </a:ln>
        </p:spPr>
      </p:sp>
      <p:sp>
        <p:nvSpPr>
          <p:cNvPr id="29" name="Text 26"/>
          <p:cNvSpPr/>
          <p:nvPr/>
        </p:nvSpPr>
        <p:spPr>
          <a:xfrm>
            <a:off x="713232" y="3547872"/>
            <a:ext cx="2048256" cy="438912"/>
          </a:xfrm>
          <a:prstGeom prst="rect">
            <a:avLst/>
          </a:prstGeom>
          <a:noFill/>
          <a:ln/>
        </p:spPr>
        <p:txBody>
          <a:bodyPr wrap="square" lIns="0" tIns="0" rIns="0" bIns="0" rtlCol="0" anchor="t">
            <a:normAutofit/>
          </a:bodyPr>
          <a:lstStyle/>
          <a:p>
            <a:pPr indent="0" marL="0">
              <a:buNone/>
            </a:pPr>
            <a:r>
              <a:rPr lang="en-US" sz="1600" b="1" dirty="0">
                <a:solidFill>
                  <a:srgbClr val="242426"/>
                </a:solidFill>
                <a:latin typeface="Arial" pitchFamily="34" charset="0"/>
                <a:ea typeface="Arial" pitchFamily="34" charset="-122"/>
                <a:cs typeface="Arial" pitchFamily="34" charset="-120"/>
              </a:rPr>
              <a:t>Locale / Formatting</a:t>
            </a:r>
            <a:endParaRPr lang="en-US" sz="1600" dirty="0"/>
          </a:p>
        </p:txBody>
      </p:sp>
      <p:sp>
        <p:nvSpPr>
          <p:cNvPr id="30" name="Shape 27"/>
          <p:cNvSpPr/>
          <p:nvPr/>
        </p:nvSpPr>
        <p:spPr>
          <a:xfrm>
            <a:off x="2880360" y="3410712"/>
            <a:ext cx="3337560" cy="621792"/>
          </a:xfrm>
          <a:prstGeom prst="rect">
            <a:avLst/>
          </a:prstGeom>
          <a:solidFill>
            <a:srgbClr val="FFFFFF"/>
          </a:solidFill>
          <a:ln w="8890">
            <a:solidFill>
              <a:srgbClr val="DEDEE2"/>
            </a:solidFill>
            <a:prstDash val="solid"/>
          </a:ln>
        </p:spPr>
      </p:sp>
      <p:sp>
        <p:nvSpPr>
          <p:cNvPr id="31" name="Text 28"/>
          <p:cNvSpPr/>
          <p:nvPr/>
        </p:nvSpPr>
        <p:spPr>
          <a:xfrm>
            <a:off x="2999232" y="3547872"/>
            <a:ext cx="3099816" cy="438912"/>
          </a:xfrm>
          <a:prstGeom prst="rect">
            <a:avLst/>
          </a:prstGeom>
          <a:noFill/>
          <a:ln/>
        </p:spPr>
        <p:txBody>
          <a:bodyPr wrap="square" lIns="0" tIns="0" rIns="0" bIns="0" rtlCol="0" anchor="t">
            <a:normAutofit/>
          </a:bodyPr>
          <a:lstStyle/>
          <a:p>
            <a:pPr indent="0" marL="0">
              <a:buNone/>
            </a:pPr>
            <a:r>
              <a:rPr lang="en-US" sz="1600" dirty="0">
                <a:solidFill>
                  <a:srgbClr val="626269"/>
                </a:solidFill>
                <a:latin typeface="Arial" pitchFamily="34" charset="0"/>
                <a:ea typeface="Arial" pitchFamily="34" charset="-122"/>
                <a:cs typeface="Arial" pitchFamily="34" charset="-120"/>
              </a:rPr>
              <a:t>Formato + reglas locales</a:t>
            </a:r>
            <a:endParaRPr lang="en-US" sz="1600" dirty="0"/>
          </a:p>
        </p:txBody>
      </p:sp>
      <p:sp>
        <p:nvSpPr>
          <p:cNvPr id="32" name="Shape 29"/>
          <p:cNvSpPr/>
          <p:nvPr/>
        </p:nvSpPr>
        <p:spPr>
          <a:xfrm>
            <a:off x="6217920" y="3410712"/>
            <a:ext cx="5349240" cy="621792"/>
          </a:xfrm>
          <a:prstGeom prst="rect">
            <a:avLst/>
          </a:prstGeom>
          <a:solidFill>
            <a:srgbClr val="FFFFFF"/>
          </a:solidFill>
          <a:ln w="8890">
            <a:solidFill>
              <a:srgbClr val="DEDEE2"/>
            </a:solidFill>
            <a:prstDash val="solid"/>
          </a:ln>
        </p:spPr>
      </p:sp>
      <p:sp>
        <p:nvSpPr>
          <p:cNvPr id="33" name="Text 30"/>
          <p:cNvSpPr/>
          <p:nvPr/>
        </p:nvSpPr>
        <p:spPr>
          <a:xfrm>
            <a:off x="6336792" y="3547872"/>
            <a:ext cx="5111496" cy="438912"/>
          </a:xfrm>
          <a:prstGeom prst="rect">
            <a:avLst/>
          </a:prstGeom>
          <a:noFill/>
          <a:ln/>
        </p:spPr>
        <p:txBody>
          <a:bodyPr wrap="square" lIns="0" tIns="0" rIns="0" bIns="0" rtlCol="0" anchor="t">
            <a:normAutofit/>
          </a:bodyPr>
          <a:lstStyle/>
          <a:p>
            <a:pPr indent="0" marL="0">
              <a:buNone/>
            </a:pPr>
            <a:r>
              <a:rPr lang="en-US" sz="1600" dirty="0">
                <a:solidFill>
                  <a:srgbClr val="626269"/>
                </a:solidFill>
                <a:latin typeface="Arial" pitchFamily="34" charset="0"/>
                <a:ea typeface="Arial" pitchFamily="34" charset="-122"/>
                <a:cs typeface="Arial" pitchFamily="34" charset="-120"/>
              </a:rPr>
              <a:t>Fechas deterministas + reglas con modelo</a:t>
            </a:r>
            <a:endParaRPr lang="en-US" sz="1600" dirty="0"/>
          </a:p>
        </p:txBody>
      </p:sp>
      <p:sp>
        <p:nvSpPr>
          <p:cNvPr id="34" name="Shape 31"/>
          <p:cNvSpPr/>
          <p:nvPr/>
        </p:nvSpPr>
        <p:spPr>
          <a:xfrm>
            <a:off x="594360" y="4032504"/>
            <a:ext cx="2286000" cy="621792"/>
          </a:xfrm>
          <a:prstGeom prst="rect">
            <a:avLst/>
          </a:prstGeom>
          <a:solidFill>
            <a:srgbClr val="EEEEF1"/>
          </a:solidFill>
          <a:ln w="8890">
            <a:solidFill>
              <a:srgbClr val="DEDEE2"/>
            </a:solidFill>
            <a:prstDash val="solid"/>
          </a:ln>
        </p:spPr>
      </p:sp>
      <p:sp>
        <p:nvSpPr>
          <p:cNvPr id="35" name="Text 32"/>
          <p:cNvSpPr/>
          <p:nvPr/>
        </p:nvSpPr>
        <p:spPr>
          <a:xfrm>
            <a:off x="713232" y="4169664"/>
            <a:ext cx="2048256" cy="438912"/>
          </a:xfrm>
          <a:prstGeom prst="rect">
            <a:avLst/>
          </a:prstGeom>
          <a:noFill/>
          <a:ln/>
        </p:spPr>
        <p:txBody>
          <a:bodyPr wrap="square" lIns="0" tIns="0" rIns="0" bIns="0" rtlCol="0" anchor="t">
            <a:normAutofit/>
          </a:bodyPr>
          <a:lstStyle/>
          <a:p>
            <a:pPr indent="0" marL="0">
              <a:buNone/>
            </a:pPr>
            <a:r>
              <a:rPr lang="en-US" sz="1600" b="1" dirty="0">
                <a:solidFill>
                  <a:srgbClr val="242426"/>
                </a:solidFill>
                <a:latin typeface="Arial" pitchFamily="34" charset="0"/>
                <a:ea typeface="Arial" pitchFamily="34" charset="-122"/>
                <a:cs typeface="Arial" pitchFamily="34" charset="-120"/>
              </a:rPr>
              <a:t>Brand / Terminology</a:t>
            </a:r>
            <a:endParaRPr lang="en-US" sz="1600" dirty="0"/>
          </a:p>
        </p:txBody>
      </p:sp>
      <p:sp>
        <p:nvSpPr>
          <p:cNvPr id="36" name="Shape 33"/>
          <p:cNvSpPr/>
          <p:nvPr/>
        </p:nvSpPr>
        <p:spPr>
          <a:xfrm>
            <a:off x="2880360" y="4032504"/>
            <a:ext cx="3337560" cy="621792"/>
          </a:xfrm>
          <a:prstGeom prst="rect">
            <a:avLst/>
          </a:prstGeom>
          <a:solidFill>
            <a:srgbClr val="EEEEF1"/>
          </a:solidFill>
          <a:ln w="8890">
            <a:solidFill>
              <a:srgbClr val="DEDEE2"/>
            </a:solidFill>
            <a:prstDash val="solid"/>
          </a:ln>
        </p:spPr>
      </p:sp>
      <p:sp>
        <p:nvSpPr>
          <p:cNvPr id="37" name="Text 34"/>
          <p:cNvSpPr/>
          <p:nvPr/>
        </p:nvSpPr>
        <p:spPr>
          <a:xfrm>
            <a:off x="2999232" y="4169664"/>
            <a:ext cx="3099816" cy="438912"/>
          </a:xfrm>
          <a:prstGeom prst="rect">
            <a:avLst/>
          </a:prstGeom>
          <a:noFill/>
          <a:ln/>
        </p:spPr>
        <p:txBody>
          <a:bodyPr wrap="square" lIns="0" tIns="0" rIns="0" bIns="0" rtlCol="0" anchor="t">
            <a:normAutofit/>
          </a:bodyPr>
          <a:lstStyle/>
          <a:p>
            <a:pPr indent="0" marL="0">
              <a:buNone/>
            </a:pPr>
            <a:r>
              <a:rPr lang="en-US" sz="1600" dirty="0">
                <a:solidFill>
                  <a:srgbClr val="626269"/>
                </a:solidFill>
                <a:latin typeface="Arial" pitchFamily="34" charset="0"/>
                <a:ea typeface="Arial" pitchFamily="34" charset="-122"/>
                <a:cs typeface="Arial" pitchFamily="34" charset="-120"/>
              </a:rPr>
              <a:t>Voz de marca + terminología</a:t>
            </a:r>
            <a:endParaRPr lang="en-US" sz="1600" dirty="0"/>
          </a:p>
        </p:txBody>
      </p:sp>
      <p:sp>
        <p:nvSpPr>
          <p:cNvPr id="38" name="Shape 35"/>
          <p:cNvSpPr/>
          <p:nvPr/>
        </p:nvSpPr>
        <p:spPr>
          <a:xfrm>
            <a:off x="6217920" y="4032504"/>
            <a:ext cx="5349240" cy="621792"/>
          </a:xfrm>
          <a:prstGeom prst="rect">
            <a:avLst/>
          </a:prstGeom>
          <a:solidFill>
            <a:srgbClr val="EEEEF1"/>
          </a:solidFill>
          <a:ln w="8890">
            <a:solidFill>
              <a:srgbClr val="DEDEE2"/>
            </a:solidFill>
            <a:prstDash val="solid"/>
          </a:ln>
        </p:spPr>
      </p:sp>
      <p:sp>
        <p:nvSpPr>
          <p:cNvPr id="39" name="Text 36"/>
          <p:cNvSpPr/>
          <p:nvPr/>
        </p:nvSpPr>
        <p:spPr>
          <a:xfrm>
            <a:off x="6336792" y="4169664"/>
            <a:ext cx="5111496" cy="438912"/>
          </a:xfrm>
          <a:prstGeom prst="rect">
            <a:avLst/>
          </a:prstGeom>
          <a:noFill/>
          <a:ln/>
        </p:spPr>
        <p:txBody>
          <a:bodyPr wrap="square" lIns="0" tIns="0" rIns="0" bIns="0" rtlCol="0" anchor="t">
            <a:normAutofit/>
          </a:bodyPr>
          <a:lstStyle/>
          <a:p>
            <a:pPr indent="0" marL="0">
              <a:buNone/>
            </a:pPr>
            <a:r>
              <a:rPr lang="en-US" sz="1600" dirty="0">
                <a:solidFill>
                  <a:srgbClr val="626269"/>
                </a:solidFill>
                <a:latin typeface="Arial" pitchFamily="34" charset="0"/>
                <a:ea typeface="Arial" pitchFamily="34" charset="-122"/>
                <a:cs typeface="Arial" pitchFamily="34" charset="-120"/>
              </a:rPr>
              <a:t>Reglas de marca y glosario en contexto</a:t>
            </a:r>
            <a:endParaRPr lang="en-US" sz="1600" dirty="0"/>
          </a:p>
        </p:txBody>
      </p:sp>
      <p:sp>
        <p:nvSpPr>
          <p:cNvPr id="40" name="Shape 37"/>
          <p:cNvSpPr/>
          <p:nvPr/>
        </p:nvSpPr>
        <p:spPr>
          <a:xfrm>
            <a:off x="594360" y="4654296"/>
            <a:ext cx="2286000" cy="621792"/>
          </a:xfrm>
          <a:prstGeom prst="rect">
            <a:avLst/>
          </a:prstGeom>
          <a:solidFill>
            <a:srgbClr val="FFFFFF"/>
          </a:solidFill>
          <a:ln w="8890">
            <a:solidFill>
              <a:srgbClr val="DEDEE2"/>
            </a:solidFill>
            <a:prstDash val="solid"/>
          </a:ln>
        </p:spPr>
      </p:sp>
      <p:sp>
        <p:nvSpPr>
          <p:cNvPr id="41" name="Text 38"/>
          <p:cNvSpPr/>
          <p:nvPr/>
        </p:nvSpPr>
        <p:spPr>
          <a:xfrm>
            <a:off x="713232" y="4791456"/>
            <a:ext cx="2048256" cy="438912"/>
          </a:xfrm>
          <a:prstGeom prst="rect">
            <a:avLst/>
          </a:prstGeom>
          <a:noFill/>
          <a:ln/>
        </p:spPr>
        <p:txBody>
          <a:bodyPr wrap="square" lIns="0" tIns="0" rIns="0" bIns="0" rtlCol="0" anchor="t">
            <a:normAutofit/>
          </a:bodyPr>
          <a:lstStyle/>
          <a:p>
            <a:pPr indent="0" marL="0">
              <a:buNone/>
            </a:pPr>
            <a:r>
              <a:rPr lang="en-US" sz="1600" b="1" dirty="0">
                <a:solidFill>
                  <a:srgbClr val="242426"/>
                </a:solidFill>
                <a:latin typeface="Arial" pitchFamily="34" charset="0"/>
                <a:ea typeface="Arial" pitchFamily="34" charset="-122"/>
                <a:cs typeface="Arial" pitchFamily="34" charset="-120"/>
              </a:rPr>
              <a:t>Translation Quality</a:t>
            </a:r>
            <a:endParaRPr lang="en-US" sz="1600" dirty="0"/>
          </a:p>
        </p:txBody>
      </p:sp>
      <p:sp>
        <p:nvSpPr>
          <p:cNvPr id="42" name="Shape 39"/>
          <p:cNvSpPr/>
          <p:nvPr/>
        </p:nvSpPr>
        <p:spPr>
          <a:xfrm>
            <a:off x="2880360" y="4654296"/>
            <a:ext cx="3337560" cy="621792"/>
          </a:xfrm>
          <a:prstGeom prst="rect">
            <a:avLst/>
          </a:prstGeom>
          <a:solidFill>
            <a:srgbClr val="FFFFFF"/>
          </a:solidFill>
          <a:ln w="8890">
            <a:solidFill>
              <a:srgbClr val="DEDEE2"/>
            </a:solidFill>
            <a:prstDash val="solid"/>
          </a:ln>
        </p:spPr>
      </p:sp>
      <p:sp>
        <p:nvSpPr>
          <p:cNvPr id="43" name="Text 40"/>
          <p:cNvSpPr/>
          <p:nvPr/>
        </p:nvSpPr>
        <p:spPr>
          <a:xfrm>
            <a:off x="2999232" y="4791456"/>
            <a:ext cx="3099816" cy="438912"/>
          </a:xfrm>
          <a:prstGeom prst="rect">
            <a:avLst/>
          </a:prstGeom>
          <a:noFill/>
          <a:ln/>
        </p:spPr>
        <p:txBody>
          <a:bodyPr wrap="square" lIns="0" tIns="0" rIns="0" bIns="0" rtlCol="0" anchor="t">
            <a:normAutofit/>
          </a:bodyPr>
          <a:lstStyle/>
          <a:p>
            <a:pPr indent="0" marL="0">
              <a:buNone/>
            </a:pPr>
            <a:r>
              <a:rPr lang="en-US" sz="1600" dirty="0">
                <a:solidFill>
                  <a:srgbClr val="626269"/>
                </a:solidFill>
                <a:latin typeface="Arial" pitchFamily="34" charset="0"/>
                <a:ea typeface="Arial" pitchFamily="34" charset="-122"/>
                <a:cs typeface="Arial" pitchFamily="34" charset="-120"/>
              </a:rPr>
              <a:t>Calidad de traducción</a:t>
            </a:r>
            <a:endParaRPr lang="en-US" sz="1600" dirty="0"/>
          </a:p>
        </p:txBody>
      </p:sp>
      <p:sp>
        <p:nvSpPr>
          <p:cNvPr id="44" name="Shape 41"/>
          <p:cNvSpPr/>
          <p:nvPr/>
        </p:nvSpPr>
        <p:spPr>
          <a:xfrm>
            <a:off x="6217920" y="4654296"/>
            <a:ext cx="5349240" cy="621792"/>
          </a:xfrm>
          <a:prstGeom prst="rect">
            <a:avLst/>
          </a:prstGeom>
          <a:solidFill>
            <a:srgbClr val="FFFFFF"/>
          </a:solidFill>
          <a:ln w="8890">
            <a:solidFill>
              <a:srgbClr val="DEDEE2"/>
            </a:solidFill>
            <a:prstDash val="solid"/>
          </a:ln>
        </p:spPr>
      </p:sp>
      <p:sp>
        <p:nvSpPr>
          <p:cNvPr id="45" name="Text 42"/>
          <p:cNvSpPr/>
          <p:nvPr/>
        </p:nvSpPr>
        <p:spPr>
          <a:xfrm>
            <a:off x="6336792" y="4791456"/>
            <a:ext cx="5111496" cy="438912"/>
          </a:xfrm>
          <a:prstGeom prst="rect">
            <a:avLst/>
          </a:prstGeom>
          <a:noFill/>
          <a:ln/>
        </p:spPr>
        <p:txBody>
          <a:bodyPr wrap="square" lIns="0" tIns="0" rIns="0" bIns="0" rtlCol="0" anchor="t">
            <a:normAutofit/>
          </a:bodyPr>
          <a:lstStyle/>
          <a:p>
            <a:pPr indent="0" marL="0">
              <a:buNone/>
            </a:pPr>
            <a:r>
              <a:rPr lang="en-US" sz="1600" dirty="0">
                <a:solidFill>
                  <a:srgbClr val="626269"/>
                </a:solidFill>
                <a:latin typeface="Arial" pitchFamily="34" charset="0"/>
                <a:ea typeface="Arial" pitchFamily="34" charset="-122"/>
                <a:cs typeface="Arial" pitchFamily="34" charset="-120"/>
              </a:rPr>
              <a:t>Referencia Markdown vs. texto destino</a:t>
            </a:r>
            <a:endParaRPr lang="en-US" sz="1600" dirty="0"/>
          </a:p>
        </p:txBody>
      </p:sp>
      <p:sp>
        <p:nvSpPr>
          <p:cNvPr id="46" name="Shape 43"/>
          <p:cNvSpPr/>
          <p:nvPr/>
        </p:nvSpPr>
        <p:spPr>
          <a:xfrm>
            <a:off x="594360" y="5276088"/>
            <a:ext cx="2286000" cy="621792"/>
          </a:xfrm>
          <a:prstGeom prst="rect">
            <a:avLst/>
          </a:prstGeom>
          <a:solidFill>
            <a:srgbClr val="EEEEF1"/>
          </a:solidFill>
          <a:ln w="8890">
            <a:solidFill>
              <a:srgbClr val="DEDEE2"/>
            </a:solidFill>
            <a:prstDash val="solid"/>
          </a:ln>
        </p:spPr>
      </p:sp>
      <p:sp>
        <p:nvSpPr>
          <p:cNvPr id="47" name="Text 44"/>
          <p:cNvSpPr/>
          <p:nvPr/>
        </p:nvSpPr>
        <p:spPr>
          <a:xfrm>
            <a:off x="713232" y="5413248"/>
            <a:ext cx="2048256" cy="438912"/>
          </a:xfrm>
          <a:prstGeom prst="rect">
            <a:avLst/>
          </a:prstGeom>
          <a:noFill/>
          <a:ln/>
        </p:spPr>
        <p:txBody>
          <a:bodyPr wrap="square" lIns="0" tIns="0" rIns="0" bIns="0" rtlCol="0" anchor="t">
            <a:normAutofit/>
          </a:bodyPr>
          <a:lstStyle/>
          <a:p>
            <a:pPr indent="0" marL="0">
              <a:buNone/>
            </a:pPr>
            <a:r>
              <a:rPr lang="en-US" sz="1600" b="1" dirty="0">
                <a:solidFill>
                  <a:srgbClr val="242426"/>
                </a:solidFill>
                <a:latin typeface="Arial" pitchFamily="34" charset="0"/>
                <a:ea typeface="Arial" pitchFamily="34" charset="-122"/>
                <a:cs typeface="Arial" pitchFamily="34" charset="-120"/>
              </a:rPr>
              <a:t>Media</a:t>
            </a:r>
            <a:endParaRPr lang="en-US" sz="1600" dirty="0"/>
          </a:p>
        </p:txBody>
      </p:sp>
      <p:sp>
        <p:nvSpPr>
          <p:cNvPr id="48" name="Shape 45"/>
          <p:cNvSpPr/>
          <p:nvPr/>
        </p:nvSpPr>
        <p:spPr>
          <a:xfrm>
            <a:off x="2880360" y="5276088"/>
            <a:ext cx="3337560" cy="621792"/>
          </a:xfrm>
          <a:prstGeom prst="rect">
            <a:avLst/>
          </a:prstGeom>
          <a:solidFill>
            <a:srgbClr val="EEEEF1"/>
          </a:solidFill>
          <a:ln w="8890">
            <a:solidFill>
              <a:srgbClr val="DEDEE2"/>
            </a:solidFill>
            <a:prstDash val="solid"/>
          </a:ln>
        </p:spPr>
      </p:sp>
      <p:sp>
        <p:nvSpPr>
          <p:cNvPr id="49" name="Text 46"/>
          <p:cNvSpPr/>
          <p:nvPr/>
        </p:nvSpPr>
        <p:spPr>
          <a:xfrm>
            <a:off x="2999232" y="5413248"/>
            <a:ext cx="3099816" cy="438912"/>
          </a:xfrm>
          <a:prstGeom prst="rect">
            <a:avLst/>
          </a:prstGeom>
          <a:noFill/>
          <a:ln/>
        </p:spPr>
        <p:txBody>
          <a:bodyPr wrap="square" lIns="0" tIns="0" rIns="0" bIns="0" rtlCol="0" anchor="t">
            <a:normAutofit/>
          </a:bodyPr>
          <a:lstStyle/>
          <a:p>
            <a:pPr indent="0" marL="0">
              <a:buNone/>
            </a:pPr>
            <a:r>
              <a:rPr lang="en-US" sz="1600" dirty="0">
                <a:solidFill>
                  <a:srgbClr val="626269"/>
                </a:solidFill>
                <a:latin typeface="Arial" pitchFamily="34" charset="0"/>
                <a:ea typeface="Arial" pitchFamily="34" charset="-122"/>
                <a:cs typeface="Arial" pitchFamily="34" charset="-120"/>
              </a:rPr>
              <a:t>Imágenes y video</a:t>
            </a:r>
            <a:endParaRPr lang="en-US" sz="1600" dirty="0"/>
          </a:p>
        </p:txBody>
      </p:sp>
      <p:sp>
        <p:nvSpPr>
          <p:cNvPr id="50" name="Shape 47"/>
          <p:cNvSpPr/>
          <p:nvPr/>
        </p:nvSpPr>
        <p:spPr>
          <a:xfrm>
            <a:off x="6217920" y="5276088"/>
            <a:ext cx="5349240" cy="621792"/>
          </a:xfrm>
          <a:prstGeom prst="rect">
            <a:avLst/>
          </a:prstGeom>
          <a:solidFill>
            <a:srgbClr val="EEEEF1"/>
          </a:solidFill>
          <a:ln w="8890">
            <a:solidFill>
              <a:srgbClr val="DEDEE2"/>
            </a:solidFill>
            <a:prstDash val="solid"/>
          </a:ln>
        </p:spPr>
      </p:sp>
      <p:sp>
        <p:nvSpPr>
          <p:cNvPr id="51" name="Text 48"/>
          <p:cNvSpPr/>
          <p:nvPr/>
        </p:nvSpPr>
        <p:spPr>
          <a:xfrm>
            <a:off x="6336792" y="5413248"/>
            <a:ext cx="5111496" cy="438912"/>
          </a:xfrm>
          <a:prstGeom prst="rect">
            <a:avLst/>
          </a:prstGeom>
          <a:noFill/>
          <a:ln/>
        </p:spPr>
        <p:txBody>
          <a:bodyPr wrap="square" lIns="0" tIns="0" rIns="0" bIns="0" rtlCol="0" anchor="t">
            <a:normAutofit/>
          </a:bodyPr>
          <a:lstStyle/>
          <a:p>
            <a:pPr indent="0" marL="0">
              <a:buNone/>
            </a:pPr>
            <a:r>
              <a:rPr lang="en-US" sz="1600" dirty="0">
                <a:solidFill>
                  <a:srgbClr val="626269"/>
                </a:solidFill>
                <a:latin typeface="Arial" pitchFamily="34" charset="0"/>
                <a:ea typeface="Arial" pitchFamily="34" charset="-122"/>
                <a:cs typeface="Arial" pitchFamily="34" charset="-120"/>
              </a:rPr>
              <a:t>Recursos + alt + WebVTT + visión</a:t>
            </a:r>
            <a:endParaRPr lang="en-US" sz="1600" dirty="0"/>
          </a:p>
        </p:txBody>
      </p:sp>
      <p:sp>
        <p:nvSpPr>
          <p:cNvPr id="52" name="Text 49"/>
          <p:cNvSpPr/>
          <p:nvPr/>
        </p:nvSpPr>
        <p:spPr>
          <a:xfrm>
            <a:off x="594360" y="6053328"/>
            <a:ext cx="10972800" cy="274320"/>
          </a:xfrm>
          <a:prstGeom prst="rect">
            <a:avLst/>
          </a:prstGeom>
          <a:noFill/>
          <a:ln/>
        </p:spPr>
        <p:txBody>
          <a:bodyPr wrap="square" lIns="0" tIns="0" rIns="0" bIns="0" rtlCol="0" anchor="t">
            <a:normAutofit/>
          </a:bodyPr>
          <a:lstStyle/>
          <a:p>
            <a:pPr indent="0" marL="0">
              <a:buNone/>
            </a:pPr>
            <a:r>
              <a:rPr lang="en-US" sz="1400" dirty="0">
                <a:solidFill>
                  <a:srgbClr val="626269"/>
                </a:solidFill>
                <a:latin typeface="Arial" pitchFamily="34" charset="0"/>
                <a:ea typeface="Arial" pitchFamily="34" charset="-122"/>
                <a:cs typeface="Arial" pitchFamily="34" charset="-120"/>
              </a:rPr>
              <a:t>Las comprobaciones visuales del modelo se identifican como observaciones que requieren revisión.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4F5"/>
        </a:solidFill>
      </p:bgPr>
    </p:bg>
    <p:spTree>
      <p:nvGrpSpPr>
        <p:cNvPr id="1" name=""/>
        <p:cNvGrpSpPr/>
        <p:nvPr/>
      </p:nvGrpSpPr>
      <p:grpSpPr>
        <a:xfrm>
          <a:off x="0" y="0"/>
          <a:ext cx="0" cy="0"/>
          <a:chOff x="0" y="0"/>
          <a:chExt cx="0" cy="0"/>
        </a:xfrm>
      </p:grpSpPr>
      <p:sp>
        <p:nvSpPr>
          <p:cNvPr id="2" name="Shape 0"/>
          <p:cNvSpPr/>
          <p:nvPr/>
        </p:nvSpPr>
        <p:spPr>
          <a:xfrm>
            <a:off x="0" y="0"/>
            <a:ext cx="12192000" cy="68580"/>
          </a:xfrm>
          <a:prstGeom prst="rect">
            <a:avLst/>
          </a:prstGeom>
          <a:solidFill>
            <a:srgbClr val="A80000"/>
          </a:solidFill>
          <a:ln w="8890">
            <a:solidFill>
              <a:srgbClr val="A80000"/>
            </a:solidFill>
            <a:prstDash val="solid"/>
          </a:ln>
        </p:spPr>
      </p:sp>
      <p:sp>
        <p:nvSpPr>
          <p:cNvPr id="3" name="Text 1"/>
          <p:cNvSpPr/>
          <p:nvPr/>
        </p:nvSpPr>
        <p:spPr>
          <a:xfrm>
            <a:off x="594360" y="274320"/>
            <a:ext cx="10058400" cy="219456"/>
          </a:xfrm>
          <a:prstGeom prst="rect">
            <a:avLst/>
          </a:prstGeom>
          <a:noFill/>
          <a:ln/>
        </p:spPr>
        <p:txBody>
          <a:bodyPr wrap="square" lIns="0" tIns="0" rIns="0" bIns="0" rtlCol="0" anchor="t">
            <a:normAutofit/>
          </a:bodyPr>
          <a:lstStyle/>
          <a:p>
            <a:pPr indent="0" marL="0">
              <a:buNone/>
            </a:pPr>
            <a:r>
              <a:rPr lang="en-US" sz="1000" b="1" dirty="0">
                <a:solidFill>
                  <a:srgbClr val="A80000"/>
                </a:solidFill>
                <a:latin typeface="Arial" pitchFamily="34" charset="0"/>
                <a:ea typeface="Arial" pitchFamily="34" charset="-122"/>
                <a:cs typeface="Arial" pitchFamily="34" charset="-120"/>
              </a:rPr>
              <a:t>CALIDAD DE LA EVIDENCIA</a:t>
            </a:r>
            <a:endParaRPr lang="en-US" sz="1000" dirty="0"/>
          </a:p>
        </p:txBody>
      </p:sp>
      <p:sp>
        <p:nvSpPr>
          <p:cNvPr id="4" name="Text 2"/>
          <p:cNvSpPr/>
          <p:nvPr/>
        </p:nvSpPr>
        <p:spPr>
          <a:xfrm>
            <a:off x="594360" y="667512"/>
            <a:ext cx="10972800" cy="594360"/>
          </a:xfrm>
          <a:prstGeom prst="rect">
            <a:avLst/>
          </a:prstGeom>
          <a:noFill/>
          <a:ln/>
        </p:spPr>
        <p:txBody>
          <a:bodyPr wrap="square" lIns="0" tIns="0" rIns="0" bIns="0" rtlCol="0" anchor="t">
            <a:normAutofit/>
          </a:bodyPr>
          <a:lstStyle/>
          <a:p>
            <a:pPr indent="0" marL="0">
              <a:buNone/>
            </a:pPr>
            <a:r>
              <a:rPr lang="en-US" sz="3000" b="1" dirty="0">
                <a:solidFill>
                  <a:srgbClr val="242426"/>
                </a:solidFill>
                <a:latin typeface="Arial" pitchFamily="34" charset="0"/>
                <a:ea typeface="Arial" pitchFamily="34" charset="-122"/>
                <a:cs typeface="Arial" pitchFamily="34" charset="-120"/>
              </a:rPr>
              <a:t>De una respuesta de IA a un hallazgo revisable</a:t>
            </a:r>
            <a:endParaRPr lang="en-US" sz="3000" dirty="0"/>
          </a:p>
        </p:txBody>
      </p:sp>
      <p:sp>
        <p:nvSpPr>
          <p:cNvPr id="5" name="Shape 3"/>
          <p:cNvSpPr/>
          <p:nvPr/>
        </p:nvSpPr>
        <p:spPr>
          <a:xfrm>
            <a:off x="594360" y="6428232"/>
            <a:ext cx="10972800" cy="0"/>
          </a:xfrm>
          <a:prstGeom prst="line">
            <a:avLst/>
          </a:prstGeom>
          <a:noFill/>
          <a:ln w="17780">
            <a:solidFill>
              <a:srgbClr val="DEDEE2"/>
            </a:solidFill>
            <a:prstDash val="solid"/>
          </a:ln>
        </p:spPr>
      </p:sp>
      <p:sp>
        <p:nvSpPr>
          <p:cNvPr id="6" name="Text 4"/>
          <p:cNvSpPr/>
          <p:nvPr/>
        </p:nvSpPr>
        <p:spPr>
          <a:xfrm>
            <a:off x="594360" y="6547104"/>
            <a:ext cx="3749040" cy="164592"/>
          </a:xfrm>
          <a:prstGeom prst="rect">
            <a:avLst/>
          </a:prstGeom>
          <a:noFill/>
          <a:ln/>
        </p:spPr>
        <p:txBody>
          <a:bodyPr wrap="square" lIns="0" tIns="0" rIns="0" bIns="0" rtlCol="0" anchor="t">
            <a:normAutofit/>
          </a:bodyPr>
          <a:lstStyle/>
          <a:p>
            <a:pPr indent="0" marL="0">
              <a:buNone/>
            </a:pPr>
            <a:r>
              <a:rPr lang="en-US" sz="900" dirty="0">
                <a:solidFill>
                  <a:srgbClr val="626269"/>
                </a:solidFill>
                <a:latin typeface="Arial" pitchFamily="34" charset="0"/>
                <a:ea typeface="Arial" pitchFamily="34" charset="-122"/>
                <a:cs typeface="Arial" pitchFamily="34" charset="-120"/>
              </a:rPr>
              <a:t>SKYNET · 15 OCT 2026 · PRELIMINAR</a:t>
            </a:r>
            <a:endParaRPr lang="en-US" sz="900" dirty="0"/>
          </a:p>
        </p:txBody>
      </p:sp>
      <p:sp>
        <p:nvSpPr>
          <p:cNvPr id="7" name="Text 5"/>
          <p:cNvSpPr/>
          <p:nvPr/>
        </p:nvSpPr>
        <p:spPr>
          <a:xfrm>
            <a:off x="3931920" y="6547104"/>
            <a:ext cx="7178040" cy="164592"/>
          </a:xfrm>
          <a:prstGeom prst="rect">
            <a:avLst/>
          </a:prstGeom>
          <a:noFill/>
          <a:ln/>
        </p:spPr>
        <p:txBody>
          <a:bodyPr wrap="square" lIns="0" tIns="0" rIns="0" bIns="0" rtlCol="0" anchor="t">
            <a:normAutofit/>
          </a:bodyPr>
          <a:lstStyle/>
          <a:p>
            <a:pPr algn="r" indent="0" marL="0">
              <a:buNone/>
            </a:pPr>
            <a:r>
              <a:rPr lang="en-US" sz="850" dirty="0">
                <a:solidFill>
                  <a:srgbClr val="626269"/>
                </a:solidFill>
                <a:latin typeface="Arial" pitchFamily="34" charset="0"/>
                <a:ea typeface="Arial" pitchFamily="34" charset="-122"/>
                <a:cs typeface="Arial" pitchFamily="34" charset="-120"/>
              </a:rPr>
              <a:t>docs/ISSUE_SCHEMA.json; model-check.ts; translation-quality.ts; media.ts</a:t>
            </a:r>
            <a:endParaRPr lang="en-US" sz="850" dirty="0"/>
          </a:p>
        </p:txBody>
      </p:sp>
      <p:sp>
        <p:nvSpPr>
          <p:cNvPr id="8" name="Text 6"/>
          <p:cNvSpPr/>
          <p:nvPr/>
        </p:nvSpPr>
        <p:spPr>
          <a:xfrm>
            <a:off x="11292840" y="6510528"/>
            <a:ext cx="320040" cy="228600"/>
          </a:xfrm>
          <a:prstGeom prst="rect">
            <a:avLst/>
          </a:prstGeom>
          <a:noFill/>
          <a:ln/>
        </p:spPr>
        <p:txBody>
          <a:bodyPr wrap="square" lIns="0" tIns="0" rIns="0" bIns="0" rtlCol="0" anchor="t">
            <a:normAutofit/>
          </a:bodyPr>
          <a:lstStyle/>
          <a:p>
            <a:pPr algn="r" indent="0" marL="0">
              <a:buNone/>
            </a:pPr>
            <a:r>
              <a:rPr lang="en-US" sz="1100" b="1" dirty="0">
                <a:solidFill>
                  <a:srgbClr val="A80000"/>
                </a:solidFill>
                <a:latin typeface="Arial" pitchFamily="34" charset="0"/>
                <a:ea typeface="Arial" pitchFamily="34" charset="-122"/>
                <a:cs typeface="Arial" pitchFamily="34" charset="-120"/>
              </a:rPr>
              <a:t>10</a:t>
            </a:r>
            <a:endParaRPr lang="en-US" sz="1100" dirty="0"/>
          </a:p>
        </p:txBody>
      </p:sp>
      <p:sp>
        <p:nvSpPr>
          <p:cNvPr id="10" name="Shape 7"/>
          <p:cNvSpPr/>
          <p:nvPr/>
        </p:nvSpPr>
        <p:spPr>
          <a:xfrm>
            <a:off x="731520" y="1938528"/>
            <a:ext cx="64008" cy="64008"/>
          </a:xfrm>
          <a:prstGeom prst="rect">
            <a:avLst/>
          </a:prstGeom>
          <a:solidFill>
            <a:srgbClr val="A80000"/>
          </a:solidFill>
          <a:ln w="8890">
            <a:solidFill>
              <a:srgbClr val="A80000"/>
            </a:solidFill>
            <a:prstDash val="solid"/>
          </a:ln>
        </p:spPr>
      </p:sp>
      <p:sp>
        <p:nvSpPr>
          <p:cNvPr id="11" name="Text 8"/>
          <p:cNvSpPr/>
          <p:nvPr/>
        </p:nvSpPr>
        <p:spPr>
          <a:xfrm>
            <a:off x="932688" y="1828800"/>
            <a:ext cx="10314432" cy="804672"/>
          </a:xfrm>
          <a:prstGeom prst="rect">
            <a:avLst/>
          </a:prstGeom>
          <a:noFill/>
          <a:ln/>
        </p:spPr>
        <p:txBody>
          <a:bodyPr wrap="square" lIns="0" tIns="0" rIns="0" bIns="0" rtlCol="0" anchor="t">
            <a:normAutofit/>
          </a:bodyPr>
          <a:lstStyle/>
          <a:p>
            <a:pPr indent="0" marL="0">
              <a:buNone/>
            </a:pPr>
            <a:r>
              <a:rPr lang="en-US" sz="2200" dirty="0">
                <a:solidFill>
                  <a:srgbClr val="242426"/>
                </a:solidFill>
                <a:latin typeface="Arial" pitchFamily="34" charset="0"/>
                <a:ea typeface="Arial" pitchFamily="34" charset="-122"/>
                <a:cs typeface="Arial" pitchFamily="34" charset="-120"/>
              </a:rPr>
              <a:t>Estructura validada: categoría, severidad, ubicación, evidencia y estado.</a:t>
            </a:r>
            <a:endParaRPr lang="en-US" sz="2200" dirty="0"/>
          </a:p>
        </p:txBody>
      </p:sp>
      <p:sp>
        <p:nvSpPr>
          <p:cNvPr id="12" name="Shape 9"/>
          <p:cNvSpPr/>
          <p:nvPr/>
        </p:nvSpPr>
        <p:spPr>
          <a:xfrm>
            <a:off x="731520" y="2852928"/>
            <a:ext cx="64008" cy="64008"/>
          </a:xfrm>
          <a:prstGeom prst="rect">
            <a:avLst/>
          </a:prstGeom>
          <a:solidFill>
            <a:srgbClr val="A80000"/>
          </a:solidFill>
          <a:ln w="8890">
            <a:solidFill>
              <a:srgbClr val="A80000"/>
            </a:solidFill>
            <a:prstDash val="solid"/>
          </a:ln>
        </p:spPr>
      </p:sp>
      <p:sp>
        <p:nvSpPr>
          <p:cNvPr id="13" name="Text 10"/>
          <p:cNvSpPr/>
          <p:nvPr/>
        </p:nvSpPr>
        <p:spPr>
          <a:xfrm>
            <a:off x="932688" y="2743200"/>
            <a:ext cx="10314432" cy="804672"/>
          </a:xfrm>
          <a:prstGeom prst="rect">
            <a:avLst/>
          </a:prstGeom>
          <a:noFill/>
          <a:ln/>
        </p:spPr>
        <p:txBody>
          <a:bodyPr wrap="square" lIns="0" tIns="0" rIns="0" bIns="0" rtlCol="0" anchor="t">
            <a:normAutofit/>
          </a:bodyPr>
          <a:lstStyle/>
          <a:p>
            <a:pPr indent="0" marL="0">
              <a:buNone/>
            </a:pPr>
            <a:r>
              <a:rPr lang="en-US" sz="2200" dirty="0">
                <a:solidFill>
                  <a:srgbClr val="242426"/>
                </a:solidFill>
                <a:latin typeface="Arial" pitchFamily="34" charset="0"/>
                <a:ea typeface="Arial" pitchFamily="34" charset="-122"/>
                <a:cs typeface="Arial" pitchFamily="34" charset="-120"/>
              </a:rPr>
              <a:t>Citas de texto verificadas contra las entradas; traducción valida origen y destino.</a:t>
            </a:r>
            <a:endParaRPr lang="en-US" sz="2200" dirty="0"/>
          </a:p>
        </p:txBody>
      </p:sp>
      <p:sp>
        <p:nvSpPr>
          <p:cNvPr id="14" name="Shape 11"/>
          <p:cNvSpPr/>
          <p:nvPr/>
        </p:nvSpPr>
        <p:spPr>
          <a:xfrm>
            <a:off x="731520" y="3767328"/>
            <a:ext cx="64008" cy="64008"/>
          </a:xfrm>
          <a:prstGeom prst="rect">
            <a:avLst/>
          </a:prstGeom>
          <a:solidFill>
            <a:srgbClr val="A80000"/>
          </a:solidFill>
          <a:ln w="8890">
            <a:solidFill>
              <a:srgbClr val="A80000"/>
            </a:solidFill>
            <a:prstDash val="solid"/>
          </a:ln>
        </p:spPr>
      </p:sp>
      <p:sp>
        <p:nvSpPr>
          <p:cNvPr id="15" name="Text 12"/>
          <p:cNvSpPr/>
          <p:nvPr/>
        </p:nvSpPr>
        <p:spPr>
          <a:xfrm>
            <a:off x="932688" y="3657600"/>
            <a:ext cx="10314432" cy="804672"/>
          </a:xfrm>
          <a:prstGeom prst="rect">
            <a:avLst/>
          </a:prstGeom>
          <a:noFill/>
          <a:ln/>
        </p:spPr>
        <p:txBody>
          <a:bodyPr wrap="square" lIns="0" tIns="0" rIns="0" bIns="0" rtlCol="0" anchor="t">
            <a:normAutofit/>
          </a:bodyPr>
          <a:lstStyle/>
          <a:p>
            <a:pPr indent="0" marL="0">
              <a:buNone/>
            </a:pPr>
            <a:r>
              <a:rPr lang="en-US" sz="2200" dirty="0">
                <a:solidFill>
                  <a:srgbClr val="242426"/>
                </a:solidFill>
                <a:latin typeface="Arial" pitchFamily="34" charset="0"/>
                <a:ea typeface="Arial" pitchFamily="34" charset="-122"/>
                <a:cs typeface="Arial" pitchFamily="34" charset="-120"/>
              </a:rPr>
              <a:t>Observaciones visuales explícitamente marcadas para revisión humana.</a:t>
            </a:r>
            <a:endParaRPr lang="en-US" sz="2200" dirty="0"/>
          </a:p>
        </p:txBody>
      </p:sp>
      <p:sp>
        <p:nvSpPr>
          <p:cNvPr id="16" name="Shape 13"/>
          <p:cNvSpPr/>
          <p:nvPr/>
        </p:nvSpPr>
        <p:spPr>
          <a:xfrm>
            <a:off x="731520" y="4681728"/>
            <a:ext cx="64008" cy="64008"/>
          </a:xfrm>
          <a:prstGeom prst="rect">
            <a:avLst/>
          </a:prstGeom>
          <a:solidFill>
            <a:srgbClr val="A80000"/>
          </a:solidFill>
          <a:ln w="8890">
            <a:solidFill>
              <a:srgbClr val="A80000"/>
            </a:solidFill>
            <a:prstDash val="solid"/>
          </a:ln>
        </p:spPr>
      </p:sp>
      <p:sp>
        <p:nvSpPr>
          <p:cNvPr id="17" name="Text 14"/>
          <p:cNvSpPr/>
          <p:nvPr/>
        </p:nvSpPr>
        <p:spPr>
          <a:xfrm>
            <a:off x="932688" y="4572000"/>
            <a:ext cx="10314432" cy="804672"/>
          </a:xfrm>
          <a:prstGeom prst="rect">
            <a:avLst/>
          </a:prstGeom>
          <a:noFill/>
          <a:ln/>
        </p:spPr>
        <p:txBody>
          <a:bodyPr wrap="square" lIns="0" tIns="0" rIns="0" bIns="0" rtlCol="0" anchor="t">
            <a:normAutofit/>
          </a:bodyPr>
          <a:lstStyle/>
          <a:p>
            <a:pPr indent="0" marL="0">
              <a:buNone/>
            </a:pPr>
            <a:r>
              <a:rPr lang="en-US" sz="2200" dirty="0">
                <a:solidFill>
                  <a:srgbClr val="242426"/>
                </a:solidFill>
                <a:latin typeface="Arial" pitchFamily="34" charset="0"/>
                <a:ea typeface="Arial" pitchFamily="34" charset="-122"/>
                <a:cs typeface="Arial" pitchFamily="34" charset="-120"/>
              </a:rPr>
              <a:t>IDs estables y deduplicación para evitar hallazgos repetidos.</a:t>
            </a:r>
            <a:endParaRPr lang="en-US" sz="2200" dirty="0"/>
          </a:p>
        </p:txBody>
      </p:sp>
      <p:sp>
        <p:nvSpPr>
          <p:cNvPr id="18" name="Shape 15"/>
          <p:cNvSpPr/>
          <p:nvPr/>
        </p:nvSpPr>
        <p:spPr>
          <a:xfrm>
            <a:off x="594360" y="5760720"/>
            <a:ext cx="10972800" cy="438912"/>
          </a:xfrm>
          <a:prstGeom prst="rect">
            <a:avLst/>
          </a:prstGeom>
          <a:solidFill>
            <a:srgbClr val="151515"/>
          </a:solidFill>
          <a:ln w="8890">
            <a:solidFill>
              <a:srgbClr val="151515"/>
            </a:solidFill>
            <a:prstDash val="solid"/>
          </a:ln>
        </p:spPr>
      </p:sp>
      <p:sp>
        <p:nvSpPr>
          <p:cNvPr id="19" name="Text 16"/>
          <p:cNvSpPr/>
          <p:nvPr/>
        </p:nvSpPr>
        <p:spPr>
          <a:xfrm>
            <a:off x="777240" y="5852160"/>
            <a:ext cx="10607040" cy="274320"/>
          </a:xfrm>
          <a:prstGeom prst="rect">
            <a:avLst/>
          </a:prstGeom>
          <a:noFill/>
          <a:ln/>
        </p:spPr>
        <p:txBody>
          <a:bodyPr wrap="square" lIns="0" tIns="0" rIns="0" bIns="0" rtlCol="0" anchor="t">
            <a:normAutofit/>
          </a:bodyPr>
          <a:lstStyle/>
          <a:p>
            <a:pPr indent="0" marL="0">
              <a:buNone/>
            </a:pPr>
            <a:r>
              <a:rPr lang="en-US" sz="1500" b="1" dirty="0">
                <a:solidFill>
                  <a:srgbClr val="FFFFFF"/>
                </a:solidFill>
                <a:latin typeface="Arial" pitchFamily="34" charset="0"/>
                <a:ea typeface="Arial" pitchFamily="34" charset="-122"/>
                <a:cs typeface="Arial" pitchFamily="34" charset="-120"/>
              </a:rPr>
              <a:t>Verified = hallazgo confirmado. No significa que el contenido del sitio ya esté corregido.</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4F5"/>
        </a:solidFill>
      </p:bgPr>
    </p:bg>
    <p:spTree>
      <p:nvGrpSpPr>
        <p:cNvPr id="1" name=""/>
        <p:cNvGrpSpPr/>
        <p:nvPr/>
      </p:nvGrpSpPr>
      <p:grpSpPr>
        <a:xfrm>
          <a:off x="0" y="0"/>
          <a:ext cx="0" cy="0"/>
          <a:chOff x="0" y="0"/>
          <a:chExt cx="0" cy="0"/>
        </a:xfrm>
      </p:grpSpPr>
      <p:sp>
        <p:nvSpPr>
          <p:cNvPr id="2" name="Shape 0"/>
          <p:cNvSpPr/>
          <p:nvPr/>
        </p:nvSpPr>
        <p:spPr>
          <a:xfrm>
            <a:off x="0" y="0"/>
            <a:ext cx="12192000" cy="68580"/>
          </a:xfrm>
          <a:prstGeom prst="rect">
            <a:avLst/>
          </a:prstGeom>
          <a:solidFill>
            <a:srgbClr val="A80000"/>
          </a:solidFill>
          <a:ln w="8890">
            <a:solidFill>
              <a:srgbClr val="A80000"/>
            </a:solidFill>
            <a:prstDash val="solid"/>
          </a:ln>
        </p:spPr>
      </p:sp>
      <p:sp>
        <p:nvSpPr>
          <p:cNvPr id="3" name="Text 1"/>
          <p:cNvSpPr/>
          <p:nvPr/>
        </p:nvSpPr>
        <p:spPr>
          <a:xfrm>
            <a:off x="594360" y="274320"/>
            <a:ext cx="10058400" cy="219456"/>
          </a:xfrm>
          <a:prstGeom prst="rect">
            <a:avLst/>
          </a:prstGeom>
          <a:noFill/>
          <a:ln/>
        </p:spPr>
        <p:txBody>
          <a:bodyPr wrap="square" lIns="0" tIns="0" rIns="0" bIns="0" rtlCol="0" anchor="t">
            <a:normAutofit/>
          </a:bodyPr>
          <a:lstStyle/>
          <a:p>
            <a:pPr indent="0" marL="0">
              <a:buNone/>
            </a:pPr>
            <a:r>
              <a:rPr lang="en-US" sz="1000" b="1" dirty="0">
                <a:solidFill>
                  <a:srgbClr val="A80000"/>
                </a:solidFill>
                <a:latin typeface="Arial" pitchFamily="34" charset="0"/>
                <a:ea typeface="Arial" pitchFamily="34" charset="-122"/>
                <a:cs typeface="Arial" pitchFamily="34" charset="-120"/>
              </a:rPr>
              <a:t>PRODUCTO ACTUAL</a:t>
            </a:r>
            <a:endParaRPr lang="en-US" sz="1000" dirty="0"/>
          </a:p>
        </p:txBody>
      </p:sp>
      <p:sp>
        <p:nvSpPr>
          <p:cNvPr id="4" name="Text 2"/>
          <p:cNvSpPr/>
          <p:nvPr/>
        </p:nvSpPr>
        <p:spPr>
          <a:xfrm>
            <a:off x="594360" y="667512"/>
            <a:ext cx="10972800" cy="594360"/>
          </a:xfrm>
          <a:prstGeom prst="rect">
            <a:avLst/>
          </a:prstGeom>
          <a:noFill/>
          <a:ln/>
        </p:spPr>
        <p:txBody>
          <a:bodyPr wrap="square" lIns="0" tIns="0" rIns="0" bIns="0" rtlCol="0" anchor="t">
            <a:normAutofit/>
          </a:bodyPr>
          <a:lstStyle/>
          <a:p>
            <a:pPr indent="0" marL="0">
              <a:buNone/>
            </a:pPr>
            <a:r>
              <a:rPr lang="en-US" sz="3000" b="1" dirty="0">
                <a:solidFill>
                  <a:srgbClr val="242426"/>
                </a:solidFill>
                <a:latin typeface="Arial" pitchFamily="34" charset="0"/>
                <a:ea typeface="Arial" pitchFamily="34" charset="-122"/>
                <a:cs typeface="Arial" pitchFamily="34" charset="-120"/>
              </a:rPr>
              <a:t>La app: una superficie de revisión</a:t>
            </a:r>
            <a:endParaRPr lang="en-US" sz="3000" dirty="0"/>
          </a:p>
        </p:txBody>
      </p:sp>
      <p:sp>
        <p:nvSpPr>
          <p:cNvPr id="5" name="Shape 3"/>
          <p:cNvSpPr/>
          <p:nvPr/>
        </p:nvSpPr>
        <p:spPr>
          <a:xfrm>
            <a:off x="594360" y="6428232"/>
            <a:ext cx="10972800" cy="0"/>
          </a:xfrm>
          <a:prstGeom prst="line">
            <a:avLst/>
          </a:prstGeom>
          <a:noFill/>
          <a:ln w="17780">
            <a:solidFill>
              <a:srgbClr val="DEDEE2"/>
            </a:solidFill>
            <a:prstDash val="solid"/>
          </a:ln>
        </p:spPr>
      </p:sp>
      <p:sp>
        <p:nvSpPr>
          <p:cNvPr id="6" name="Text 4"/>
          <p:cNvSpPr/>
          <p:nvPr/>
        </p:nvSpPr>
        <p:spPr>
          <a:xfrm>
            <a:off x="594360" y="6547104"/>
            <a:ext cx="3749040" cy="164592"/>
          </a:xfrm>
          <a:prstGeom prst="rect">
            <a:avLst/>
          </a:prstGeom>
          <a:noFill/>
          <a:ln/>
        </p:spPr>
        <p:txBody>
          <a:bodyPr wrap="square" lIns="0" tIns="0" rIns="0" bIns="0" rtlCol="0" anchor="t">
            <a:normAutofit/>
          </a:bodyPr>
          <a:lstStyle/>
          <a:p>
            <a:pPr indent="0" marL="0">
              <a:buNone/>
            </a:pPr>
            <a:r>
              <a:rPr lang="en-US" sz="900" dirty="0">
                <a:solidFill>
                  <a:srgbClr val="626269"/>
                </a:solidFill>
                <a:latin typeface="Arial" pitchFamily="34" charset="0"/>
                <a:ea typeface="Arial" pitchFamily="34" charset="-122"/>
                <a:cs typeface="Arial" pitchFamily="34" charset="-120"/>
              </a:rPr>
              <a:t>SKYNET · 15 OCT 2026 · PRELIMINAR</a:t>
            </a:r>
            <a:endParaRPr lang="en-US" sz="900" dirty="0"/>
          </a:p>
        </p:txBody>
      </p:sp>
      <p:sp>
        <p:nvSpPr>
          <p:cNvPr id="7" name="Text 5"/>
          <p:cNvSpPr/>
          <p:nvPr/>
        </p:nvSpPr>
        <p:spPr>
          <a:xfrm>
            <a:off x="3931920" y="6547104"/>
            <a:ext cx="7178040" cy="164592"/>
          </a:xfrm>
          <a:prstGeom prst="rect">
            <a:avLst/>
          </a:prstGeom>
          <a:noFill/>
          <a:ln/>
        </p:spPr>
        <p:txBody>
          <a:bodyPr wrap="square" lIns="0" tIns="0" rIns="0" bIns="0" rtlCol="0" anchor="t">
            <a:normAutofit/>
          </a:bodyPr>
          <a:lstStyle/>
          <a:p>
            <a:pPr algn="r" indent="0" marL="0">
              <a:buNone/>
            </a:pPr>
            <a:r>
              <a:rPr lang="en-US" sz="850" dirty="0">
                <a:solidFill>
                  <a:srgbClr val="626269"/>
                </a:solidFill>
                <a:latin typeface="Arial" pitchFamily="34" charset="0"/>
                <a:ea typeface="Arial" pitchFamily="34" charset="-122"/>
                <a:cs typeface="Arial" pitchFamily="34" charset="-120"/>
              </a:rPr>
              <a:t>Captura real del dashboard · localhost:3000</a:t>
            </a:r>
            <a:endParaRPr lang="en-US" sz="850" dirty="0"/>
          </a:p>
        </p:txBody>
      </p:sp>
      <p:sp>
        <p:nvSpPr>
          <p:cNvPr id="8" name="Text 6"/>
          <p:cNvSpPr/>
          <p:nvPr/>
        </p:nvSpPr>
        <p:spPr>
          <a:xfrm>
            <a:off x="11292840" y="6510528"/>
            <a:ext cx="320040" cy="228600"/>
          </a:xfrm>
          <a:prstGeom prst="rect">
            <a:avLst/>
          </a:prstGeom>
          <a:noFill/>
          <a:ln/>
        </p:spPr>
        <p:txBody>
          <a:bodyPr wrap="square" lIns="0" tIns="0" rIns="0" bIns="0" rtlCol="0" anchor="t">
            <a:normAutofit/>
          </a:bodyPr>
          <a:lstStyle/>
          <a:p>
            <a:pPr algn="r" indent="0" marL="0">
              <a:buNone/>
            </a:pPr>
            <a:r>
              <a:rPr lang="en-US" sz="1100" b="1" dirty="0">
                <a:solidFill>
                  <a:srgbClr val="A80000"/>
                </a:solidFill>
                <a:latin typeface="Arial" pitchFamily="34" charset="0"/>
                <a:ea typeface="Arial" pitchFamily="34" charset="-122"/>
                <a:cs typeface="Arial" pitchFamily="34" charset="-120"/>
              </a:rPr>
              <a:t>11</a:t>
            </a:r>
            <a:endParaRPr lang="en-US" sz="1100" dirty="0"/>
          </a:p>
        </p:txBody>
      </p:sp>
      <p:sp>
        <p:nvSpPr>
          <p:cNvPr id="10" name="Shape 7"/>
          <p:cNvSpPr/>
          <p:nvPr/>
        </p:nvSpPr>
        <p:spPr>
          <a:xfrm>
            <a:off x="594360" y="1508760"/>
            <a:ext cx="7863840" cy="4544568"/>
          </a:xfrm>
          <a:prstGeom prst="rect">
            <a:avLst/>
          </a:prstGeom>
          <a:solidFill>
            <a:srgbClr val="FFFFFF"/>
          </a:solidFill>
          <a:ln w="8890">
            <a:solidFill>
              <a:srgbClr val="DEDEE2"/>
            </a:solidFill>
            <a:prstDash val="solid"/>
          </a:ln>
        </p:spPr>
      </p:sp>
      <p:pic>
        <p:nvPicPr>
          <p:cNvPr id="11" name="Image 0" descr="/Users/gabrielcespedes/customers/endava/ai-assisted-web-qa-hackathon-main/docs/presentations/skynet-preliminar-2026-10-15/assets/dashboard.png">    </p:cNvPr>
          <p:cNvPicPr>
            <a:picLocks noChangeAspect="1"/>
          </p:cNvPicPr>
          <p:nvPr/>
        </p:nvPicPr>
        <p:blipFill>
          <a:blip r:embed="rId1"/>
          <a:stretch>
            <a:fillRect/>
          </a:stretch>
        </p:blipFill>
        <p:spPr>
          <a:xfrm>
            <a:off x="993038" y="1572768"/>
            <a:ext cx="7066483" cy="4416552"/>
          </a:xfrm>
          <a:prstGeom prst="rect">
            <a:avLst/>
          </a:prstGeom>
        </p:spPr>
      </p:pic>
      <p:sp>
        <p:nvSpPr>
          <p:cNvPr id="12" name="Shape 8"/>
          <p:cNvSpPr/>
          <p:nvPr/>
        </p:nvSpPr>
        <p:spPr>
          <a:xfrm>
            <a:off x="8732520" y="1938528"/>
            <a:ext cx="64008" cy="64008"/>
          </a:xfrm>
          <a:prstGeom prst="rect">
            <a:avLst/>
          </a:prstGeom>
          <a:solidFill>
            <a:srgbClr val="A80000"/>
          </a:solidFill>
          <a:ln w="8890">
            <a:solidFill>
              <a:srgbClr val="A80000"/>
            </a:solidFill>
            <a:prstDash val="solid"/>
          </a:ln>
        </p:spPr>
      </p:sp>
      <p:sp>
        <p:nvSpPr>
          <p:cNvPr id="13" name="Text 9"/>
          <p:cNvSpPr/>
          <p:nvPr/>
        </p:nvSpPr>
        <p:spPr>
          <a:xfrm>
            <a:off x="8933688" y="1828800"/>
            <a:ext cx="2587752" cy="850392"/>
          </a:xfrm>
          <a:prstGeom prst="rect">
            <a:avLst/>
          </a:prstGeom>
          <a:noFill/>
          <a:ln/>
        </p:spPr>
        <p:txBody>
          <a:bodyPr wrap="square" lIns="0" tIns="0" rIns="0" bIns="0" rtlCol="0" anchor="t">
            <a:normAutofit/>
          </a:bodyPr>
          <a:lstStyle/>
          <a:p>
            <a:pPr indent="0" marL="0">
              <a:buNone/>
            </a:pPr>
            <a:r>
              <a:rPr lang="en-US" sz="2000" dirty="0">
                <a:solidFill>
                  <a:srgbClr val="242426"/>
                </a:solidFill>
                <a:latin typeface="Arial" pitchFamily="34" charset="0"/>
                <a:ea typeface="Arial" pitchFamily="34" charset="-122"/>
                <a:cs typeface="Arial" pitchFamily="34" charset="-120"/>
              </a:rPr>
              <a:t>Acciones de ejecución</a:t>
            </a:r>
            <a:endParaRPr lang="en-US" sz="2000" dirty="0"/>
          </a:p>
        </p:txBody>
      </p:sp>
      <p:sp>
        <p:nvSpPr>
          <p:cNvPr id="14" name="Shape 10"/>
          <p:cNvSpPr/>
          <p:nvPr/>
        </p:nvSpPr>
        <p:spPr>
          <a:xfrm>
            <a:off x="8732520" y="2898648"/>
            <a:ext cx="64008" cy="64008"/>
          </a:xfrm>
          <a:prstGeom prst="rect">
            <a:avLst/>
          </a:prstGeom>
          <a:solidFill>
            <a:srgbClr val="A80000"/>
          </a:solidFill>
          <a:ln w="8890">
            <a:solidFill>
              <a:srgbClr val="A80000"/>
            </a:solidFill>
            <a:prstDash val="solid"/>
          </a:ln>
        </p:spPr>
      </p:sp>
      <p:sp>
        <p:nvSpPr>
          <p:cNvPr id="15" name="Text 11"/>
          <p:cNvSpPr/>
          <p:nvPr/>
        </p:nvSpPr>
        <p:spPr>
          <a:xfrm>
            <a:off x="8933688" y="2788920"/>
            <a:ext cx="2587752" cy="850392"/>
          </a:xfrm>
          <a:prstGeom prst="rect">
            <a:avLst/>
          </a:prstGeom>
          <a:noFill/>
          <a:ln/>
        </p:spPr>
        <p:txBody>
          <a:bodyPr wrap="square" lIns="0" tIns="0" rIns="0" bIns="0" rtlCol="0" anchor="t">
            <a:normAutofit/>
          </a:bodyPr>
          <a:lstStyle/>
          <a:p>
            <a:pPr indent="0" marL="0">
              <a:buNone/>
            </a:pPr>
            <a:r>
              <a:rPr lang="en-US" sz="2000" dirty="0">
                <a:solidFill>
                  <a:srgbClr val="242426"/>
                </a:solidFill>
                <a:latin typeface="Arial" pitchFamily="34" charset="0"/>
                <a:ea typeface="Arial" pitchFamily="34" charset="-122"/>
                <a:cs typeface="Arial" pitchFamily="34" charset="-120"/>
              </a:rPr>
              <a:t>Resumen compacto</a:t>
            </a:r>
            <a:endParaRPr lang="en-US" sz="2000" dirty="0"/>
          </a:p>
        </p:txBody>
      </p:sp>
      <p:sp>
        <p:nvSpPr>
          <p:cNvPr id="16" name="Shape 12"/>
          <p:cNvSpPr/>
          <p:nvPr/>
        </p:nvSpPr>
        <p:spPr>
          <a:xfrm>
            <a:off x="8732520" y="3858768"/>
            <a:ext cx="64008" cy="64008"/>
          </a:xfrm>
          <a:prstGeom prst="rect">
            <a:avLst/>
          </a:prstGeom>
          <a:solidFill>
            <a:srgbClr val="A80000"/>
          </a:solidFill>
          <a:ln w="8890">
            <a:solidFill>
              <a:srgbClr val="A80000"/>
            </a:solidFill>
            <a:prstDash val="solid"/>
          </a:ln>
        </p:spPr>
      </p:sp>
      <p:sp>
        <p:nvSpPr>
          <p:cNvPr id="17" name="Text 13"/>
          <p:cNvSpPr/>
          <p:nvPr/>
        </p:nvSpPr>
        <p:spPr>
          <a:xfrm>
            <a:off x="8933688" y="3749040"/>
            <a:ext cx="2587752" cy="850392"/>
          </a:xfrm>
          <a:prstGeom prst="rect">
            <a:avLst/>
          </a:prstGeom>
          <a:noFill/>
          <a:ln/>
        </p:spPr>
        <p:txBody>
          <a:bodyPr wrap="square" lIns="0" tIns="0" rIns="0" bIns="0" rtlCol="0" anchor="t">
            <a:normAutofit/>
          </a:bodyPr>
          <a:lstStyle/>
          <a:p>
            <a:pPr indent="0" marL="0">
              <a:buNone/>
            </a:pPr>
            <a:r>
              <a:rPr lang="en-US" sz="2000" dirty="0">
                <a:solidFill>
                  <a:srgbClr val="242426"/>
                </a:solidFill>
                <a:latin typeface="Arial" pitchFamily="34" charset="0"/>
                <a:ea typeface="Arial" pitchFamily="34" charset="-122"/>
                <a:cs typeface="Arial" pitchFamily="34" charset="-120"/>
              </a:rPr>
              <a:t>Páginas y destinos rotos</a:t>
            </a:r>
            <a:endParaRPr lang="en-US" sz="2000" dirty="0"/>
          </a:p>
        </p:txBody>
      </p:sp>
      <p:sp>
        <p:nvSpPr>
          <p:cNvPr id="18" name="Shape 14"/>
          <p:cNvSpPr/>
          <p:nvPr/>
        </p:nvSpPr>
        <p:spPr>
          <a:xfrm>
            <a:off x="8732520" y="4818888"/>
            <a:ext cx="64008" cy="64008"/>
          </a:xfrm>
          <a:prstGeom prst="rect">
            <a:avLst/>
          </a:prstGeom>
          <a:solidFill>
            <a:srgbClr val="A80000"/>
          </a:solidFill>
          <a:ln w="8890">
            <a:solidFill>
              <a:srgbClr val="A80000"/>
            </a:solidFill>
            <a:prstDash val="solid"/>
          </a:ln>
        </p:spPr>
      </p:sp>
      <p:sp>
        <p:nvSpPr>
          <p:cNvPr id="19" name="Text 15"/>
          <p:cNvSpPr/>
          <p:nvPr/>
        </p:nvSpPr>
        <p:spPr>
          <a:xfrm>
            <a:off x="8933688" y="4709160"/>
            <a:ext cx="2587752" cy="850392"/>
          </a:xfrm>
          <a:prstGeom prst="rect">
            <a:avLst/>
          </a:prstGeom>
          <a:noFill/>
          <a:ln/>
        </p:spPr>
        <p:txBody>
          <a:bodyPr wrap="square" lIns="0" tIns="0" rIns="0" bIns="0" rtlCol="0" anchor="t">
            <a:normAutofit/>
          </a:bodyPr>
          <a:lstStyle/>
          <a:p>
            <a:pPr indent="0" marL="0">
              <a:buNone/>
            </a:pPr>
            <a:r>
              <a:rPr lang="en-US" sz="2000" dirty="0">
                <a:solidFill>
                  <a:srgbClr val="242426"/>
                </a:solidFill>
                <a:latin typeface="Arial" pitchFamily="34" charset="0"/>
                <a:ea typeface="Arial" pitchFamily="34" charset="-122"/>
                <a:cs typeface="Arial" pitchFamily="34" charset="-120"/>
              </a:rPr>
              <a:t>Filtros y hallazgos</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4F5"/>
        </a:solidFill>
      </p:bgPr>
    </p:bg>
    <p:spTree>
      <p:nvGrpSpPr>
        <p:cNvPr id="1" name=""/>
        <p:cNvGrpSpPr/>
        <p:nvPr/>
      </p:nvGrpSpPr>
      <p:grpSpPr>
        <a:xfrm>
          <a:off x="0" y="0"/>
          <a:ext cx="0" cy="0"/>
          <a:chOff x="0" y="0"/>
          <a:chExt cx="0" cy="0"/>
        </a:xfrm>
      </p:grpSpPr>
      <p:sp>
        <p:nvSpPr>
          <p:cNvPr id="2" name="Shape 0"/>
          <p:cNvSpPr/>
          <p:nvPr/>
        </p:nvSpPr>
        <p:spPr>
          <a:xfrm>
            <a:off x="0" y="0"/>
            <a:ext cx="12192000" cy="68580"/>
          </a:xfrm>
          <a:prstGeom prst="rect">
            <a:avLst/>
          </a:prstGeom>
          <a:solidFill>
            <a:srgbClr val="A80000"/>
          </a:solidFill>
          <a:ln w="8890">
            <a:solidFill>
              <a:srgbClr val="A80000"/>
            </a:solidFill>
            <a:prstDash val="solid"/>
          </a:ln>
        </p:spPr>
      </p:sp>
      <p:sp>
        <p:nvSpPr>
          <p:cNvPr id="3" name="Text 1"/>
          <p:cNvSpPr/>
          <p:nvPr/>
        </p:nvSpPr>
        <p:spPr>
          <a:xfrm>
            <a:off x="594360" y="274320"/>
            <a:ext cx="10058400" cy="219456"/>
          </a:xfrm>
          <a:prstGeom prst="rect">
            <a:avLst/>
          </a:prstGeom>
          <a:noFill/>
          <a:ln/>
        </p:spPr>
        <p:txBody>
          <a:bodyPr wrap="square" lIns="0" tIns="0" rIns="0" bIns="0" rtlCol="0" anchor="t">
            <a:normAutofit/>
          </a:bodyPr>
          <a:lstStyle/>
          <a:p>
            <a:pPr indent="0" marL="0">
              <a:buNone/>
            </a:pPr>
            <a:r>
              <a:rPr lang="en-US" sz="1000" b="1" dirty="0">
                <a:solidFill>
                  <a:srgbClr val="A80000"/>
                </a:solidFill>
                <a:latin typeface="Arial" pitchFamily="34" charset="0"/>
                <a:ea typeface="Arial" pitchFamily="34" charset="-122"/>
                <a:cs typeface="Arial" pitchFamily="34" charset="-120"/>
              </a:rPr>
              <a:t>OBSERVABILIDAD</a:t>
            </a:r>
            <a:endParaRPr lang="en-US" sz="1000" dirty="0"/>
          </a:p>
        </p:txBody>
      </p:sp>
      <p:sp>
        <p:nvSpPr>
          <p:cNvPr id="4" name="Text 2"/>
          <p:cNvSpPr/>
          <p:nvPr/>
        </p:nvSpPr>
        <p:spPr>
          <a:xfrm>
            <a:off x="594360" y="667512"/>
            <a:ext cx="10972800" cy="594360"/>
          </a:xfrm>
          <a:prstGeom prst="rect">
            <a:avLst/>
          </a:prstGeom>
          <a:noFill/>
          <a:ln/>
        </p:spPr>
        <p:txBody>
          <a:bodyPr wrap="square" lIns="0" tIns="0" rIns="0" bIns="0" rtlCol="0" anchor="t">
            <a:normAutofit/>
          </a:bodyPr>
          <a:lstStyle/>
          <a:p>
            <a:pPr indent="0" marL="0">
              <a:buNone/>
            </a:pPr>
            <a:r>
              <a:rPr lang="en-US" sz="3000" b="1" dirty="0">
                <a:solidFill>
                  <a:srgbClr val="242426"/>
                </a:solidFill>
                <a:latin typeface="Arial" pitchFamily="34" charset="0"/>
                <a:ea typeface="Arial" pitchFamily="34" charset="-122"/>
                <a:cs typeface="Arial" pitchFamily="34" charset="-120"/>
              </a:rPr>
              <a:t>Actividad visible sin saturar la página</a:t>
            </a:r>
            <a:endParaRPr lang="en-US" sz="3000" dirty="0"/>
          </a:p>
        </p:txBody>
      </p:sp>
      <p:sp>
        <p:nvSpPr>
          <p:cNvPr id="5" name="Shape 3"/>
          <p:cNvSpPr/>
          <p:nvPr/>
        </p:nvSpPr>
        <p:spPr>
          <a:xfrm>
            <a:off x="594360" y="6428232"/>
            <a:ext cx="10972800" cy="0"/>
          </a:xfrm>
          <a:prstGeom prst="line">
            <a:avLst/>
          </a:prstGeom>
          <a:noFill/>
          <a:ln w="17780">
            <a:solidFill>
              <a:srgbClr val="DEDEE2"/>
            </a:solidFill>
            <a:prstDash val="solid"/>
          </a:ln>
        </p:spPr>
      </p:sp>
      <p:sp>
        <p:nvSpPr>
          <p:cNvPr id="6" name="Text 4"/>
          <p:cNvSpPr/>
          <p:nvPr/>
        </p:nvSpPr>
        <p:spPr>
          <a:xfrm>
            <a:off x="594360" y="6547104"/>
            <a:ext cx="3749040" cy="164592"/>
          </a:xfrm>
          <a:prstGeom prst="rect">
            <a:avLst/>
          </a:prstGeom>
          <a:noFill/>
          <a:ln/>
        </p:spPr>
        <p:txBody>
          <a:bodyPr wrap="square" lIns="0" tIns="0" rIns="0" bIns="0" rtlCol="0" anchor="t">
            <a:normAutofit/>
          </a:bodyPr>
          <a:lstStyle/>
          <a:p>
            <a:pPr indent="0" marL="0">
              <a:buNone/>
            </a:pPr>
            <a:r>
              <a:rPr lang="en-US" sz="900" dirty="0">
                <a:solidFill>
                  <a:srgbClr val="626269"/>
                </a:solidFill>
                <a:latin typeface="Arial" pitchFamily="34" charset="0"/>
                <a:ea typeface="Arial" pitchFamily="34" charset="-122"/>
                <a:cs typeface="Arial" pitchFamily="34" charset="-120"/>
              </a:rPr>
              <a:t>SKYNET · 15 OCT 2026 · PRELIMINAR</a:t>
            </a:r>
            <a:endParaRPr lang="en-US" sz="900" dirty="0"/>
          </a:p>
        </p:txBody>
      </p:sp>
      <p:sp>
        <p:nvSpPr>
          <p:cNvPr id="7" name="Text 5"/>
          <p:cNvSpPr/>
          <p:nvPr/>
        </p:nvSpPr>
        <p:spPr>
          <a:xfrm>
            <a:off x="3931920" y="6547104"/>
            <a:ext cx="7178040" cy="164592"/>
          </a:xfrm>
          <a:prstGeom prst="rect">
            <a:avLst/>
          </a:prstGeom>
          <a:noFill/>
          <a:ln/>
        </p:spPr>
        <p:txBody>
          <a:bodyPr wrap="square" lIns="0" tIns="0" rIns="0" bIns="0" rtlCol="0" anchor="t">
            <a:normAutofit/>
          </a:bodyPr>
          <a:lstStyle/>
          <a:p>
            <a:pPr algn="r" indent="0" marL="0">
              <a:buNone/>
            </a:pPr>
            <a:r>
              <a:rPr lang="en-US" sz="850" dirty="0">
                <a:solidFill>
                  <a:srgbClr val="626269"/>
                </a:solidFill>
                <a:latin typeface="Arial" pitchFamily="34" charset="0"/>
                <a:ea typeface="Arial" pitchFamily="34" charset="-122"/>
                <a:cs typeface="Arial" pitchFamily="34" charset="-120"/>
              </a:rPr>
              <a:t>activity.js; polling de GET /api/audits/latest</a:t>
            </a:r>
            <a:endParaRPr lang="en-US" sz="850" dirty="0"/>
          </a:p>
        </p:txBody>
      </p:sp>
      <p:sp>
        <p:nvSpPr>
          <p:cNvPr id="8" name="Text 6"/>
          <p:cNvSpPr/>
          <p:nvPr/>
        </p:nvSpPr>
        <p:spPr>
          <a:xfrm>
            <a:off x="11292840" y="6510528"/>
            <a:ext cx="320040" cy="228600"/>
          </a:xfrm>
          <a:prstGeom prst="rect">
            <a:avLst/>
          </a:prstGeom>
          <a:noFill/>
          <a:ln/>
        </p:spPr>
        <p:txBody>
          <a:bodyPr wrap="square" lIns="0" tIns="0" rIns="0" bIns="0" rtlCol="0" anchor="t">
            <a:normAutofit/>
          </a:bodyPr>
          <a:lstStyle/>
          <a:p>
            <a:pPr algn="r" indent="0" marL="0">
              <a:buNone/>
            </a:pPr>
            <a:r>
              <a:rPr lang="en-US" sz="1100" b="1" dirty="0">
                <a:solidFill>
                  <a:srgbClr val="A80000"/>
                </a:solidFill>
                <a:latin typeface="Arial" pitchFamily="34" charset="0"/>
                <a:ea typeface="Arial" pitchFamily="34" charset="-122"/>
                <a:cs typeface="Arial" pitchFamily="34" charset="-120"/>
              </a:rPr>
              <a:t>12</a:t>
            </a:r>
            <a:endParaRPr lang="en-US" sz="1100" dirty="0"/>
          </a:p>
        </p:txBody>
      </p:sp>
      <p:pic>
        <p:nvPicPr>
          <p:cNvPr id="10" name="Image 0" descr="/Users/gabrielcespedes/customers/endava/ai-assisted-web-qa-hackathon-main/docs/presentations/skynet-preliminar-2026-10-15/assets/activity-panel.png">    </p:cNvPr>
          <p:cNvPicPr>
            <a:picLocks noChangeAspect="1"/>
          </p:cNvPicPr>
          <p:nvPr/>
        </p:nvPicPr>
        <p:blipFill>
          <a:blip r:embed="rId1"/>
          <a:stretch>
            <a:fillRect/>
          </a:stretch>
        </p:blipFill>
        <p:spPr>
          <a:xfrm>
            <a:off x="653796" y="1481328"/>
            <a:ext cx="2852928" cy="4754880"/>
          </a:xfrm>
          <a:prstGeom prst="rect">
            <a:avLst/>
          </a:prstGeom>
        </p:spPr>
      </p:pic>
      <p:sp>
        <p:nvSpPr>
          <p:cNvPr id="11" name="Shape 7"/>
          <p:cNvSpPr/>
          <p:nvPr/>
        </p:nvSpPr>
        <p:spPr>
          <a:xfrm>
            <a:off x="3931920" y="1691640"/>
            <a:ext cx="7635240" cy="1234440"/>
          </a:xfrm>
          <a:prstGeom prst="rect">
            <a:avLst/>
          </a:prstGeom>
          <a:solidFill>
            <a:srgbClr val="FFFFFF"/>
          </a:solidFill>
          <a:ln w="8890">
            <a:solidFill>
              <a:srgbClr val="DEDEE2"/>
            </a:solidFill>
            <a:prstDash val="solid"/>
          </a:ln>
        </p:spPr>
      </p:sp>
      <p:sp>
        <p:nvSpPr>
          <p:cNvPr id="12" name="Shape 8"/>
          <p:cNvSpPr/>
          <p:nvPr/>
        </p:nvSpPr>
        <p:spPr>
          <a:xfrm>
            <a:off x="3931920" y="1691640"/>
            <a:ext cx="50292" cy="1234440"/>
          </a:xfrm>
          <a:prstGeom prst="rect">
            <a:avLst/>
          </a:prstGeom>
          <a:solidFill>
            <a:srgbClr val="A80000"/>
          </a:solidFill>
          <a:ln w="8890">
            <a:solidFill>
              <a:srgbClr val="A80000"/>
            </a:solidFill>
            <a:prstDash val="solid"/>
          </a:ln>
        </p:spPr>
      </p:sp>
      <p:sp>
        <p:nvSpPr>
          <p:cNvPr id="13" name="Text 9"/>
          <p:cNvSpPr/>
          <p:nvPr/>
        </p:nvSpPr>
        <p:spPr>
          <a:xfrm>
            <a:off x="4114800" y="1856232"/>
            <a:ext cx="7269480" cy="457200"/>
          </a:xfrm>
          <a:prstGeom prst="rect">
            <a:avLst/>
          </a:prstGeom>
          <a:noFill/>
          <a:ln/>
        </p:spPr>
        <p:txBody>
          <a:bodyPr wrap="square" lIns="0" tIns="0" rIns="0" bIns="0" rtlCol="0" anchor="t">
            <a:normAutofit/>
          </a:bodyPr>
          <a:lstStyle/>
          <a:p>
            <a:pPr indent="0" marL="0">
              <a:buNone/>
            </a:pPr>
            <a:r>
              <a:rPr lang="en-US" sz="1900" b="1" dirty="0">
                <a:solidFill>
                  <a:srgbClr val="242426"/>
                </a:solidFill>
                <a:latin typeface="Arial" pitchFamily="34" charset="0"/>
                <a:ea typeface="Arial" pitchFamily="34" charset="-122"/>
                <a:cs typeface="Arial" pitchFamily="34" charset="-120"/>
              </a:rPr>
              <a:t>Vista humana</a:t>
            </a:r>
            <a:endParaRPr lang="en-US" sz="1900" dirty="0"/>
          </a:p>
        </p:txBody>
      </p:sp>
      <p:sp>
        <p:nvSpPr>
          <p:cNvPr id="14" name="Text 10"/>
          <p:cNvSpPr/>
          <p:nvPr/>
        </p:nvSpPr>
        <p:spPr>
          <a:xfrm>
            <a:off x="4114800" y="2286000"/>
            <a:ext cx="7269480" cy="502920"/>
          </a:xfrm>
          <a:prstGeom prst="rect">
            <a:avLst/>
          </a:prstGeom>
          <a:noFill/>
          <a:ln/>
        </p:spPr>
        <p:txBody>
          <a:bodyPr wrap="square" lIns="0" tIns="0" rIns="0" bIns="0" rtlCol="0" anchor="t">
            <a:normAutofit/>
          </a:bodyPr>
          <a:lstStyle/>
          <a:p>
            <a:pPr indent="0" marL="0">
              <a:buNone/>
            </a:pPr>
            <a:r>
              <a:rPr lang="en-US" sz="1800" dirty="0">
                <a:solidFill>
                  <a:srgbClr val="626269"/>
                </a:solidFill>
                <a:latin typeface="Arial" pitchFamily="34" charset="0"/>
                <a:ea typeface="Arial" pitchFamily="34" charset="-122"/>
                <a:cs typeface="Arial" pitchFamily="34" charset="-120"/>
              </a:rPr>
              <a:t>Quién está trabajando, qué terminó y qué requiere atención.</a:t>
            </a:r>
            <a:endParaRPr lang="en-US" sz="1800" dirty="0"/>
          </a:p>
        </p:txBody>
      </p:sp>
      <p:sp>
        <p:nvSpPr>
          <p:cNvPr id="15" name="Shape 11"/>
          <p:cNvSpPr/>
          <p:nvPr/>
        </p:nvSpPr>
        <p:spPr>
          <a:xfrm>
            <a:off x="3931920" y="3154680"/>
            <a:ext cx="7635240" cy="1234440"/>
          </a:xfrm>
          <a:prstGeom prst="rect">
            <a:avLst/>
          </a:prstGeom>
          <a:solidFill>
            <a:srgbClr val="FFFFFF"/>
          </a:solidFill>
          <a:ln w="8890">
            <a:solidFill>
              <a:srgbClr val="DEDEE2"/>
            </a:solidFill>
            <a:prstDash val="solid"/>
          </a:ln>
        </p:spPr>
      </p:sp>
      <p:sp>
        <p:nvSpPr>
          <p:cNvPr id="16" name="Shape 12"/>
          <p:cNvSpPr/>
          <p:nvPr/>
        </p:nvSpPr>
        <p:spPr>
          <a:xfrm>
            <a:off x="3931920" y="3154680"/>
            <a:ext cx="50292" cy="1234440"/>
          </a:xfrm>
          <a:prstGeom prst="rect">
            <a:avLst/>
          </a:prstGeom>
          <a:solidFill>
            <a:srgbClr val="A80000"/>
          </a:solidFill>
          <a:ln w="8890">
            <a:solidFill>
              <a:srgbClr val="A80000"/>
            </a:solidFill>
            <a:prstDash val="solid"/>
          </a:ln>
        </p:spPr>
      </p:sp>
      <p:sp>
        <p:nvSpPr>
          <p:cNvPr id="17" name="Text 13"/>
          <p:cNvSpPr/>
          <p:nvPr/>
        </p:nvSpPr>
        <p:spPr>
          <a:xfrm>
            <a:off x="4114800" y="3319272"/>
            <a:ext cx="7269480" cy="457200"/>
          </a:xfrm>
          <a:prstGeom prst="rect">
            <a:avLst/>
          </a:prstGeom>
          <a:noFill/>
          <a:ln/>
        </p:spPr>
        <p:txBody>
          <a:bodyPr wrap="square" lIns="0" tIns="0" rIns="0" bIns="0" rtlCol="0" anchor="t">
            <a:normAutofit/>
          </a:bodyPr>
          <a:lstStyle/>
          <a:p>
            <a:pPr indent="0" marL="0">
              <a:buNone/>
            </a:pPr>
            <a:r>
              <a:rPr lang="en-US" sz="1900" b="1" dirty="0">
                <a:solidFill>
                  <a:srgbClr val="242426"/>
                </a:solidFill>
                <a:latin typeface="Arial" pitchFamily="34" charset="0"/>
                <a:ea typeface="Arial" pitchFamily="34" charset="-122"/>
                <a:cs typeface="Arial" pitchFamily="34" charset="-120"/>
              </a:rPr>
              <a:t>Detalles a demanda</a:t>
            </a:r>
            <a:endParaRPr lang="en-US" sz="1900" dirty="0"/>
          </a:p>
        </p:txBody>
      </p:sp>
      <p:sp>
        <p:nvSpPr>
          <p:cNvPr id="18" name="Text 14"/>
          <p:cNvSpPr/>
          <p:nvPr/>
        </p:nvSpPr>
        <p:spPr>
          <a:xfrm>
            <a:off x="4114800" y="3749040"/>
            <a:ext cx="7269480" cy="502920"/>
          </a:xfrm>
          <a:prstGeom prst="rect">
            <a:avLst/>
          </a:prstGeom>
          <a:noFill/>
          <a:ln/>
        </p:spPr>
        <p:txBody>
          <a:bodyPr wrap="square" lIns="0" tIns="0" rIns="0" bIns="0" rtlCol="0" anchor="t">
            <a:normAutofit/>
          </a:bodyPr>
          <a:lstStyle/>
          <a:p>
            <a:pPr indent="0" marL="0">
              <a:buNone/>
            </a:pPr>
            <a:r>
              <a:rPr lang="en-US" sz="1800" dirty="0">
                <a:solidFill>
                  <a:srgbClr val="626269"/>
                </a:solidFill>
                <a:latin typeface="Arial" pitchFamily="34" charset="0"/>
                <a:ea typeface="Arial" pitchFamily="34" charset="-122"/>
                <a:cs typeface="Arial" pitchFamily="34" charset="-120"/>
              </a:rPr>
              <a:t>Cobertura, intentos, duración, tokens, costos y recursos.</a:t>
            </a:r>
            <a:endParaRPr lang="en-US" sz="1800" dirty="0"/>
          </a:p>
        </p:txBody>
      </p:sp>
      <p:sp>
        <p:nvSpPr>
          <p:cNvPr id="19" name="Shape 15"/>
          <p:cNvSpPr/>
          <p:nvPr/>
        </p:nvSpPr>
        <p:spPr>
          <a:xfrm>
            <a:off x="3931920" y="4617720"/>
            <a:ext cx="7635240" cy="1234440"/>
          </a:xfrm>
          <a:prstGeom prst="rect">
            <a:avLst/>
          </a:prstGeom>
          <a:solidFill>
            <a:srgbClr val="FFFFFF"/>
          </a:solidFill>
          <a:ln w="8890">
            <a:solidFill>
              <a:srgbClr val="DEDEE2"/>
            </a:solidFill>
            <a:prstDash val="solid"/>
          </a:ln>
        </p:spPr>
      </p:sp>
      <p:sp>
        <p:nvSpPr>
          <p:cNvPr id="20" name="Shape 16"/>
          <p:cNvSpPr/>
          <p:nvPr/>
        </p:nvSpPr>
        <p:spPr>
          <a:xfrm>
            <a:off x="3931920" y="4617720"/>
            <a:ext cx="50292" cy="1234440"/>
          </a:xfrm>
          <a:prstGeom prst="rect">
            <a:avLst/>
          </a:prstGeom>
          <a:solidFill>
            <a:srgbClr val="24754F"/>
          </a:solidFill>
          <a:ln w="8890">
            <a:solidFill>
              <a:srgbClr val="24754F"/>
            </a:solidFill>
            <a:prstDash val="solid"/>
          </a:ln>
        </p:spPr>
      </p:sp>
      <p:sp>
        <p:nvSpPr>
          <p:cNvPr id="21" name="Text 17"/>
          <p:cNvSpPr/>
          <p:nvPr/>
        </p:nvSpPr>
        <p:spPr>
          <a:xfrm>
            <a:off x="4114800" y="4782312"/>
            <a:ext cx="7269480" cy="457200"/>
          </a:xfrm>
          <a:prstGeom prst="rect">
            <a:avLst/>
          </a:prstGeom>
          <a:noFill/>
          <a:ln/>
        </p:spPr>
        <p:txBody>
          <a:bodyPr wrap="square" lIns="0" tIns="0" rIns="0" bIns="0" rtlCol="0" anchor="t">
            <a:normAutofit/>
          </a:bodyPr>
          <a:lstStyle/>
          <a:p>
            <a:pPr indent="0" marL="0">
              <a:buNone/>
            </a:pPr>
            <a:r>
              <a:rPr lang="en-US" sz="1900" b="1" dirty="0">
                <a:solidFill>
                  <a:srgbClr val="242426"/>
                </a:solidFill>
                <a:latin typeface="Arial" pitchFamily="34" charset="0"/>
                <a:ea typeface="Arial" pitchFamily="34" charset="-122"/>
                <a:cs typeface="Arial" pitchFamily="34" charset="-120"/>
              </a:rPr>
              <a:t>“No aplicable” no es un fallo</a:t>
            </a:r>
            <a:endParaRPr lang="en-US" sz="1900" dirty="0"/>
          </a:p>
        </p:txBody>
      </p:sp>
      <p:sp>
        <p:nvSpPr>
          <p:cNvPr id="22" name="Text 18"/>
          <p:cNvSpPr/>
          <p:nvPr/>
        </p:nvSpPr>
        <p:spPr>
          <a:xfrm>
            <a:off x="4114800" y="5212080"/>
            <a:ext cx="7269480" cy="502920"/>
          </a:xfrm>
          <a:prstGeom prst="rect">
            <a:avLst/>
          </a:prstGeom>
          <a:noFill/>
          <a:ln/>
        </p:spPr>
        <p:txBody>
          <a:bodyPr wrap="square" lIns="0" tIns="0" rIns="0" bIns="0" rtlCol="0" anchor="t">
            <a:normAutofit/>
          </a:bodyPr>
          <a:lstStyle/>
          <a:p>
            <a:pPr indent="0" marL="0">
              <a:buNone/>
            </a:pPr>
            <a:r>
              <a:rPr lang="en-US" sz="1800" dirty="0">
                <a:solidFill>
                  <a:srgbClr val="626269"/>
                </a:solidFill>
                <a:latin typeface="Arial" pitchFamily="34" charset="0"/>
                <a:ea typeface="Arial" pitchFamily="34" charset="-122"/>
                <a:cs typeface="Arial" pitchFamily="34" charset="-120"/>
              </a:rPr>
              <a:t>Media en Pricing: no hay imágenes ni videos para inspeccionar.</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4F5"/>
        </a:solidFill>
      </p:bgPr>
    </p:bg>
    <p:spTree>
      <p:nvGrpSpPr>
        <p:cNvPr id="1" name=""/>
        <p:cNvGrpSpPr/>
        <p:nvPr/>
      </p:nvGrpSpPr>
      <p:grpSpPr>
        <a:xfrm>
          <a:off x="0" y="0"/>
          <a:ext cx="0" cy="0"/>
          <a:chOff x="0" y="0"/>
          <a:chExt cx="0" cy="0"/>
        </a:xfrm>
      </p:grpSpPr>
      <p:sp>
        <p:nvSpPr>
          <p:cNvPr id="2" name="Shape 0"/>
          <p:cNvSpPr/>
          <p:nvPr/>
        </p:nvSpPr>
        <p:spPr>
          <a:xfrm>
            <a:off x="0" y="0"/>
            <a:ext cx="12192000" cy="68580"/>
          </a:xfrm>
          <a:prstGeom prst="rect">
            <a:avLst/>
          </a:prstGeom>
          <a:solidFill>
            <a:srgbClr val="A80000"/>
          </a:solidFill>
          <a:ln w="8890">
            <a:solidFill>
              <a:srgbClr val="A80000"/>
            </a:solidFill>
            <a:prstDash val="solid"/>
          </a:ln>
        </p:spPr>
      </p:sp>
      <p:sp>
        <p:nvSpPr>
          <p:cNvPr id="3" name="Text 1"/>
          <p:cNvSpPr/>
          <p:nvPr/>
        </p:nvSpPr>
        <p:spPr>
          <a:xfrm>
            <a:off x="594360" y="274320"/>
            <a:ext cx="10058400" cy="219456"/>
          </a:xfrm>
          <a:prstGeom prst="rect">
            <a:avLst/>
          </a:prstGeom>
          <a:noFill/>
          <a:ln/>
        </p:spPr>
        <p:txBody>
          <a:bodyPr wrap="square" lIns="0" tIns="0" rIns="0" bIns="0" rtlCol="0" anchor="t">
            <a:normAutofit/>
          </a:bodyPr>
          <a:lstStyle/>
          <a:p>
            <a:pPr indent="0" marL="0">
              <a:buNone/>
            </a:pPr>
            <a:r>
              <a:rPr lang="en-US" sz="1000" b="1" dirty="0">
                <a:solidFill>
                  <a:srgbClr val="A80000"/>
                </a:solidFill>
                <a:latin typeface="Arial" pitchFamily="34" charset="0"/>
                <a:ea typeface="Arial" pitchFamily="34" charset="-122"/>
                <a:cs typeface="Arial" pitchFamily="34" charset="-120"/>
              </a:rPr>
              <a:t>WORKFLOW HUMANO</a:t>
            </a:r>
            <a:endParaRPr lang="en-US" sz="1000" dirty="0"/>
          </a:p>
        </p:txBody>
      </p:sp>
      <p:sp>
        <p:nvSpPr>
          <p:cNvPr id="4" name="Text 2"/>
          <p:cNvSpPr/>
          <p:nvPr/>
        </p:nvSpPr>
        <p:spPr>
          <a:xfrm>
            <a:off x="594360" y="667512"/>
            <a:ext cx="10972800" cy="594360"/>
          </a:xfrm>
          <a:prstGeom prst="rect">
            <a:avLst/>
          </a:prstGeom>
          <a:noFill/>
          <a:ln/>
        </p:spPr>
        <p:txBody>
          <a:bodyPr wrap="square" lIns="0" tIns="0" rIns="0" bIns="0" rtlCol="0" anchor="t">
            <a:normAutofit/>
          </a:bodyPr>
          <a:lstStyle/>
          <a:p>
            <a:pPr indent="0" marL="0">
              <a:buNone/>
            </a:pPr>
            <a:r>
              <a:rPr lang="en-US" sz="3000" b="1" dirty="0">
                <a:solidFill>
                  <a:srgbClr val="242426"/>
                </a:solidFill>
                <a:latin typeface="Arial" pitchFamily="34" charset="0"/>
                <a:ea typeface="Arial" pitchFamily="34" charset="-122"/>
                <a:cs typeface="Arial" pitchFamily="34" charset="-120"/>
              </a:rPr>
              <a:t>Hallazgos que el equipo puede revisar</a:t>
            </a:r>
            <a:endParaRPr lang="en-US" sz="3000" dirty="0"/>
          </a:p>
        </p:txBody>
      </p:sp>
      <p:sp>
        <p:nvSpPr>
          <p:cNvPr id="5" name="Shape 3"/>
          <p:cNvSpPr/>
          <p:nvPr/>
        </p:nvSpPr>
        <p:spPr>
          <a:xfrm>
            <a:off x="594360" y="6428232"/>
            <a:ext cx="10972800" cy="0"/>
          </a:xfrm>
          <a:prstGeom prst="line">
            <a:avLst/>
          </a:prstGeom>
          <a:noFill/>
          <a:ln w="17780">
            <a:solidFill>
              <a:srgbClr val="DEDEE2"/>
            </a:solidFill>
            <a:prstDash val="solid"/>
          </a:ln>
        </p:spPr>
      </p:sp>
      <p:sp>
        <p:nvSpPr>
          <p:cNvPr id="6" name="Text 4"/>
          <p:cNvSpPr/>
          <p:nvPr/>
        </p:nvSpPr>
        <p:spPr>
          <a:xfrm>
            <a:off x="594360" y="6547104"/>
            <a:ext cx="3749040" cy="164592"/>
          </a:xfrm>
          <a:prstGeom prst="rect">
            <a:avLst/>
          </a:prstGeom>
          <a:noFill/>
          <a:ln/>
        </p:spPr>
        <p:txBody>
          <a:bodyPr wrap="square" lIns="0" tIns="0" rIns="0" bIns="0" rtlCol="0" anchor="t">
            <a:normAutofit/>
          </a:bodyPr>
          <a:lstStyle/>
          <a:p>
            <a:pPr indent="0" marL="0">
              <a:buNone/>
            </a:pPr>
            <a:r>
              <a:rPr lang="en-US" sz="900" dirty="0">
                <a:solidFill>
                  <a:srgbClr val="626269"/>
                </a:solidFill>
                <a:latin typeface="Arial" pitchFamily="34" charset="0"/>
                <a:ea typeface="Arial" pitchFamily="34" charset="-122"/>
                <a:cs typeface="Arial" pitchFamily="34" charset="-120"/>
              </a:rPr>
              <a:t>SKYNET · 15 OCT 2026 · PRELIMINAR</a:t>
            </a:r>
            <a:endParaRPr lang="en-US" sz="900" dirty="0"/>
          </a:p>
        </p:txBody>
      </p:sp>
      <p:sp>
        <p:nvSpPr>
          <p:cNvPr id="7" name="Text 5"/>
          <p:cNvSpPr/>
          <p:nvPr/>
        </p:nvSpPr>
        <p:spPr>
          <a:xfrm>
            <a:off x="3931920" y="6547104"/>
            <a:ext cx="7178040" cy="164592"/>
          </a:xfrm>
          <a:prstGeom prst="rect">
            <a:avLst/>
          </a:prstGeom>
          <a:noFill/>
          <a:ln/>
        </p:spPr>
        <p:txBody>
          <a:bodyPr wrap="square" lIns="0" tIns="0" rIns="0" bIns="0" rtlCol="0" anchor="t">
            <a:normAutofit/>
          </a:bodyPr>
          <a:lstStyle/>
          <a:p>
            <a:pPr algn="r" indent="0" marL="0">
              <a:buNone/>
            </a:pPr>
            <a:r>
              <a:rPr lang="en-US" sz="850" dirty="0">
                <a:solidFill>
                  <a:srgbClr val="626269"/>
                </a:solidFill>
                <a:latin typeface="Arial" pitchFamily="34" charset="0"/>
                <a:ea typeface="Arial" pitchFamily="34" charset="-122"/>
                <a:cs typeface="Arial" pitchFamily="34" charset="-120"/>
              </a:rPr>
              <a:t>issues-view.js; captura real de Translation Quality</a:t>
            </a:r>
            <a:endParaRPr lang="en-US" sz="850" dirty="0"/>
          </a:p>
        </p:txBody>
      </p:sp>
      <p:sp>
        <p:nvSpPr>
          <p:cNvPr id="8" name="Text 6"/>
          <p:cNvSpPr/>
          <p:nvPr/>
        </p:nvSpPr>
        <p:spPr>
          <a:xfrm>
            <a:off x="11292840" y="6510528"/>
            <a:ext cx="320040" cy="228600"/>
          </a:xfrm>
          <a:prstGeom prst="rect">
            <a:avLst/>
          </a:prstGeom>
          <a:noFill/>
          <a:ln/>
        </p:spPr>
        <p:txBody>
          <a:bodyPr wrap="square" lIns="0" tIns="0" rIns="0" bIns="0" rtlCol="0" anchor="t">
            <a:normAutofit/>
          </a:bodyPr>
          <a:lstStyle/>
          <a:p>
            <a:pPr algn="r" indent="0" marL="0">
              <a:buNone/>
            </a:pPr>
            <a:r>
              <a:rPr lang="en-US" sz="1100" b="1" dirty="0">
                <a:solidFill>
                  <a:srgbClr val="A80000"/>
                </a:solidFill>
                <a:latin typeface="Arial" pitchFamily="34" charset="0"/>
                <a:ea typeface="Arial" pitchFamily="34" charset="-122"/>
                <a:cs typeface="Arial" pitchFamily="34" charset="-120"/>
              </a:rPr>
              <a:t>13</a:t>
            </a:r>
            <a:endParaRPr lang="en-US" sz="1100" dirty="0"/>
          </a:p>
        </p:txBody>
      </p:sp>
      <p:pic>
        <p:nvPicPr>
          <p:cNvPr id="10" name="Image 0" descr="/Users/gabrielcespedes/customers/endava/ai-assisted-web-qa-hackathon-main/docs/presentations/skynet-preliminar-2026-10-15/assets/translation-finding.png">    </p:cNvPr>
          <p:cNvPicPr>
            <a:picLocks noChangeAspect="1"/>
          </p:cNvPicPr>
          <p:nvPr/>
        </p:nvPicPr>
        <p:blipFill>
          <a:blip r:embed="rId1"/>
          <a:stretch>
            <a:fillRect/>
          </a:stretch>
        </p:blipFill>
        <p:spPr>
          <a:xfrm>
            <a:off x="594360" y="2340479"/>
            <a:ext cx="7543800" cy="3045721"/>
          </a:xfrm>
          <a:prstGeom prst="rect">
            <a:avLst/>
          </a:prstGeom>
        </p:spPr>
      </p:pic>
      <p:sp>
        <p:nvSpPr>
          <p:cNvPr id="11" name="Shape 7"/>
          <p:cNvSpPr/>
          <p:nvPr/>
        </p:nvSpPr>
        <p:spPr>
          <a:xfrm>
            <a:off x="8412480" y="1783080"/>
            <a:ext cx="3154680" cy="4160520"/>
          </a:xfrm>
          <a:prstGeom prst="rect">
            <a:avLst/>
          </a:prstGeom>
          <a:solidFill>
            <a:srgbClr val="FFFFFF"/>
          </a:solidFill>
          <a:ln w="8890">
            <a:solidFill>
              <a:srgbClr val="DEDEE2"/>
            </a:solidFill>
            <a:prstDash val="solid"/>
          </a:ln>
        </p:spPr>
      </p:sp>
      <p:sp>
        <p:nvSpPr>
          <p:cNvPr id="12" name="Shape 8"/>
          <p:cNvSpPr/>
          <p:nvPr/>
        </p:nvSpPr>
        <p:spPr>
          <a:xfrm>
            <a:off x="8412480" y="1783080"/>
            <a:ext cx="50292" cy="4160520"/>
          </a:xfrm>
          <a:prstGeom prst="rect">
            <a:avLst/>
          </a:prstGeom>
          <a:solidFill>
            <a:srgbClr val="A80000"/>
          </a:solidFill>
          <a:ln w="8890">
            <a:solidFill>
              <a:srgbClr val="A80000"/>
            </a:solidFill>
            <a:prstDash val="solid"/>
          </a:ln>
        </p:spPr>
      </p:sp>
      <p:sp>
        <p:nvSpPr>
          <p:cNvPr id="13" name="Text 9"/>
          <p:cNvSpPr/>
          <p:nvPr/>
        </p:nvSpPr>
        <p:spPr>
          <a:xfrm>
            <a:off x="8595360" y="1947672"/>
            <a:ext cx="2788920" cy="457200"/>
          </a:xfrm>
          <a:prstGeom prst="rect">
            <a:avLst/>
          </a:prstGeom>
          <a:noFill/>
          <a:ln/>
        </p:spPr>
        <p:txBody>
          <a:bodyPr wrap="square" lIns="0" tIns="0" rIns="0" bIns="0" rtlCol="0" anchor="t">
            <a:normAutofit/>
          </a:bodyPr>
          <a:lstStyle/>
          <a:p>
            <a:pPr indent="0" marL="0">
              <a:buNone/>
            </a:pPr>
            <a:r>
              <a:rPr lang="en-US" sz="2100" b="1" dirty="0">
                <a:solidFill>
                  <a:srgbClr val="242426"/>
                </a:solidFill>
                <a:latin typeface="Arial" pitchFamily="34" charset="0"/>
                <a:ea typeface="Arial" pitchFamily="34" charset="-122"/>
                <a:cs typeface="Arial" pitchFamily="34" charset="-120"/>
              </a:rPr>
              <a:t>Decisión humana</a:t>
            </a:r>
            <a:endParaRPr lang="en-US" sz="2100" dirty="0"/>
          </a:p>
        </p:txBody>
      </p:sp>
      <p:sp>
        <p:nvSpPr>
          <p:cNvPr id="14" name="Text 10"/>
          <p:cNvSpPr/>
          <p:nvPr/>
        </p:nvSpPr>
        <p:spPr>
          <a:xfrm>
            <a:off x="8595360" y="2587752"/>
            <a:ext cx="2788920" cy="3218688"/>
          </a:xfrm>
          <a:prstGeom prst="rect">
            <a:avLst/>
          </a:prstGeom>
          <a:noFill/>
          <a:ln/>
        </p:spPr>
        <p:txBody>
          <a:bodyPr wrap="square" lIns="0" tIns="0" rIns="0" bIns="0" rtlCol="0" anchor="t">
            <a:normAutofit/>
          </a:bodyPr>
          <a:lstStyle/>
          <a:p>
            <a:pPr indent="0" marL="0">
              <a:buNone/>
            </a:pPr>
            <a:r>
              <a:rPr lang="en-US" sz="1800" dirty="0">
                <a:solidFill>
                  <a:srgbClr val="626269"/>
                </a:solidFill>
                <a:latin typeface="Arial" pitchFamily="34" charset="0"/>
                <a:ea typeface="Arial" pitchFamily="34" charset="-122"/>
                <a:cs typeface="Arial" pitchFamily="34" charset="-120"/>
              </a:rPr>
              <a:t>Verify</a:t>
            </a:r>
            <a:endParaRPr lang="en-US" sz="1800" dirty="0"/>
          </a:p>
          <a:p>
            <a:pPr indent="0" marL="0">
              <a:buNone/>
            </a:pPr>
            <a:r>
              <a:rPr lang="en-US" sz="1800" dirty="0">
                <a:solidFill>
                  <a:srgbClr val="626269"/>
                </a:solidFill>
                <a:latin typeface="Arial" pitchFamily="34" charset="0"/>
                <a:ea typeface="Arial" pitchFamily="34" charset="-122"/>
                <a:cs typeface="Arial" pitchFamily="34" charset="-120"/>
              </a:rPr>
              <a:t>Confirmar el problema</a:t>
            </a:r>
            <a:endParaRPr lang="en-US" sz="1800" dirty="0"/>
          </a:p>
          <a:p>
            <a:pPr indent="0" marL="0">
              <a:buNone/>
            </a:pPr>
            <a:endParaRPr lang="en-US" sz="1800" dirty="0"/>
          </a:p>
          <a:p>
            <a:pPr indent="0" marL="0">
              <a:buNone/>
            </a:pPr>
            <a:r>
              <a:rPr lang="en-US" sz="1800" dirty="0">
                <a:solidFill>
                  <a:srgbClr val="626269"/>
                </a:solidFill>
                <a:latin typeface="Arial" pitchFamily="34" charset="0"/>
                <a:ea typeface="Arial" pitchFamily="34" charset="-122"/>
                <a:cs typeface="Arial" pitchFamily="34" charset="-120"/>
              </a:rPr>
              <a:t>Dismiss</a:t>
            </a:r>
            <a:endParaRPr lang="en-US" sz="1800" dirty="0"/>
          </a:p>
          <a:p>
            <a:pPr indent="0" marL="0">
              <a:buNone/>
            </a:pPr>
            <a:r>
              <a:rPr lang="en-US" sz="1800" dirty="0">
                <a:solidFill>
                  <a:srgbClr val="626269"/>
                </a:solidFill>
                <a:latin typeface="Arial" pitchFamily="34" charset="0"/>
                <a:ea typeface="Arial" pitchFamily="34" charset="-122"/>
                <a:cs typeface="Arial" pitchFamily="34" charset="-120"/>
              </a:rPr>
              <a:t>Descartar el hallazgo</a:t>
            </a:r>
            <a:endParaRPr lang="en-US" sz="1800" dirty="0"/>
          </a:p>
          <a:p>
            <a:pPr indent="0" marL="0">
              <a:buNone/>
            </a:pPr>
            <a:endParaRPr lang="en-US" sz="1800" dirty="0"/>
          </a:p>
          <a:p>
            <a:pPr indent="0" marL="0">
              <a:buNone/>
            </a:pPr>
            <a:r>
              <a:rPr lang="en-US" sz="1800" dirty="0">
                <a:solidFill>
                  <a:srgbClr val="626269"/>
                </a:solidFill>
                <a:latin typeface="Arial" pitchFamily="34" charset="0"/>
                <a:ea typeface="Arial" pitchFamily="34" charset="-122"/>
                <a:cs typeface="Arial" pitchFamily="34" charset="-120"/>
              </a:rPr>
              <a:t>Escalate</a:t>
            </a:r>
            <a:endParaRPr lang="en-US" sz="1800" dirty="0"/>
          </a:p>
          <a:p>
            <a:pPr indent="0" marL="0">
              <a:buNone/>
            </a:pPr>
            <a:r>
              <a:rPr lang="en-US" sz="1800" dirty="0">
                <a:solidFill>
                  <a:srgbClr val="626269"/>
                </a:solidFill>
                <a:latin typeface="Arial" pitchFamily="34" charset="0"/>
                <a:ea typeface="Arial" pitchFamily="34" charset="-122"/>
                <a:cs typeface="Arial" pitchFamily="34" charset="-120"/>
              </a:rPr>
              <a:t>Pedir revisión adicional</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4F5"/>
        </a:solidFill>
      </p:bgPr>
    </p:bg>
    <p:spTree>
      <p:nvGrpSpPr>
        <p:cNvPr id="1" name=""/>
        <p:cNvGrpSpPr/>
        <p:nvPr/>
      </p:nvGrpSpPr>
      <p:grpSpPr>
        <a:xfrm>
          <a:off x="0" y="0"/>
          <a:ext cx="0" cy="0"/>
          <a:chOff x="0" y="0"/>
          <a:chExt cx="0" cy="0"/>
        </a:xfrm>
      </p:grpSpPr>
      <p:sp>
        <p:nvSpPr>
          <p:cNvPr id="2" name="Shape 0"/>
          <p:cNvSpPr/>
          <p:nvPr/>
        </p:nvSpPr>
        <p:spPr>
          <a:xfrm>
            <a:off x="0" y="0"/>
            <a:ext cx="12192000" cy="68580"/>
          </a:xfrm>
          <a:prstGeom prst="rect">
            <a:avLst/>
          </a:prstGeom>
          <a:solidFill>
            <a:srgbClr val="A80000"/>
          </a:solidFill>
          <a:ln w="8890">
            <a:solidFill>
              <a:srgbClr val="A80000"/>
            </a:solidFill>
            <a:prstDash val="solid"/>
          </a:ln>
        </p:spPr>
      </p:sp>
      <p:sp>
        <p:nvSpPr>
          <p:cNvPr id="3" name="Text 1"/>
          <p:cNvSpPr/>
          <p:nvPr/>
        </p:nvSpPr>
        <p:spPr>
          <a:xfrm>
            <a:off x="594360" y="274320"/>
            <a:ext cx="10058400" cy="219456"/>
          </a:xfrm>
          <a:prstGeom prst="rect">
            <a:avLst/>
          </a:prstGeom>
          <a:noFill/>
          <a:ln/>
        </p:spPr>
        <p:txBody>
          <a:bodyPr wrap="square" lIns="0" tIns="0" rIns="0" bIns="0" rtlCol="0" anchor="t">
            <a:normAutofit/>
          </a:bodyPr>
          <a:lstStyle/>
          <a:p>
            <a:pPr indent="0" marL="0">
              <a:buNone/>
            </a:pPr>
            <a:r>
              <a:rPr lang="en-US" sz="1000" b="1" dirty="0">
                <a:solidFill>
                  <a:srgbClr val="A80000"/>
                </a:solidFill>
                <a:latin typeface="Arial" pitchFamily="34" charset="0"/>
                <a:ea typeface="Arial" pitchFamily="34" charset="-122"/>
                <a:cs typeface="Arial" pitchFamily="34" charset="-120"/>
              </a:rPr>
              <a:t>EJEMPLO DE MEDIA</a:t>
            </a:r>
            <a:endParaRPr lang="en-US" sz="1000" dirty="0"/>
          </a:p>
        </p:txBody>
      </p:sp>
      <p:sp>
        <p:nvSpPr>
          <p:cNvPr id="4" name="Text 2"/>
          <p:cNvSpPr/>
          <p:nvPr/>
        </p:nvSpPr>
        <p:spPr>
          <a:xfrm>
            <a:off x="594360" y="667512"/>
            <a:ext cx="10972800" cy="594360"/>
          </a:xfrm>
          <a:prstGeom prst="rect">
            <a:avLst/>
          </a:prstGeom>
          <a:noFill/>
          <a:ln/>
        </p:spPr>
        <p:txBody>
          <a:bodyPr wrap="square" lIns="0" tIns="0" rIns="0" bIns="0" rtlCol="0" anchor="t">
            <a:normAutofit/>
          </a:bodyPr>
          <a:lstStyle/>
          <a:p>
            <a:pPr indent="0" marL="0">
              <a:buNone/>
            </a:pPr>
            <a:r>
              <a:rPr lang="en-US" sz="3000" b="1" dirty="0">
                <a:solidFill>
                  <a:srgbClr val="242426"/>
                </a:solidFill>
                <a:latin typeface="Arial" pitchFamily="34" charset="0"/>
                <a:ea typeface="Arial" pitchFamily="34" charset="-122"/>
                <a:cs typeface="Arial" pitchFamily="34" charset="-120"/>
              </a:rPr>
              <a:t>Caso real: subtítulos en el idioma equivocado</a:t>
            </a:r>
            <a:endParaRPr lang="en-US" sz="3000" dirty="0"/>
          </a:p>
        </p:txBody>
      </p:sp>
      <p:sp>
        <p:nvSpPr>
          <p:cNvPr id="5" name="Shape 3"/>
          <p:cNvSpPr/>
          <p:nvPr/>
        </p:nvSpPr>
        <p:spPr>
          <a:xfrm>
            <a:off x="594360" y="6428232"/>
            <a:ext cx="10972800" cy="0"/>
          </a:xfrm>
          <a:prstGeom prst="line">
            <a:avLst/>
          </a:prstGeom>
          <a:noFill/>
          <a:ln w="17780">
            <a:solidFill>
              <a:srgbClr val="DEDEE2"/>
            </a:solidFill>
            <a:prstDash val="solid"/>
          </a:ln>
        </p:spPr>
      </p:sp>
      <p:sp>
        <p:nvSpPr>
          <p:cNvPr id="6" name="Text 4"/>
          <p:cNvSpPr/>
          <p:nvPr/>
        </p:nvSpPr>
        <p:spPr>
          <a:xfrm>
            <a:off x="594360" y="6547104"/>
            <a:ext cx="3749040" cy="164592"/>
          </a:xfrm>
          <a:prstGeom prst="rect">
            <a:avLst/>
          </a:prstGeom>
          <a:noFill/>
          <a:ln/>
        </p:spPr>
        <p:txBody>
          <a:bodyPr wrap="square" lIns="0" tIns="0" rIns="0" bIns="0" rtlCol="0" anchor="t">
            <a:normAutofit/>
          </a:bodyPr>
          <a:lstStyle/>
          <a:p>
            <a:pPr indent="0" marL="0">
              <a:buNone/>
            </a:pPr>
            <a:r>
              <a:rPr lang="en-US" sz="900" dirty="0">
                <a:solidFill>
                  <a:srgbClr val="626269"/>
                </a:solidFill>
                <a:latin typeface="Arial" pitchFamily="34" charset="0"/>
                <a:ea typeface="Arial" pitchFamily="34" charset="-122"/>
                <a:cs typeface="Arial" pitchFamily="34" charset="-120"/>
              </a:rPr>
              <a:t>SKYNET · 15 OCT 2026 · PRELIMINAR</a:t>
            </a:r>
            <a:endParaRPr lang="en-US" sz="900" dirty="0"/>
          </a:p>
        </p:txBody>
      </p:sp>
      <p:sp>
        <p:nvSpPr>
          <p:cNvPr id="7" name="Text 5"/>
          <p:cNvSpPr/>
          <p:nvPr/>
        </p:nvSpPr>
        <p:spPr>
          <a:xfrm>
            <a:off x="3931920" y="6547104"/>
            <a:ext cx="7178040" cy="164592"/>
          </a:xfrm>
          <a:prstGeom prst="rect">
            <a:avLst/>
          </a:prstGeom>
          <a:noFill/>
          <a:ln/>
        </p:spPr>
        <p:txBody>
          <a:bodyPr wrap="square" lIns="0" tIns="0" rIns="0" bIns="0" rtlCol="0" anchor="t">
            <a:normAutofit/>
          </a:bodyPr>
          <a:lstStyle/>
          <a:p>
            <a:pPr algn="r" indent="0" marL="0">
              <a:buNone/>
            </a:pPr>
            <a:r>
              <a:rPr lang="en-US" sz="850" dirty="0">
                <a:solidFill>
                  <a:srgbClr val="626269"/>
                </a:solidFill>
                <a:latin typeface="Arial" pitchFamily="34" charset="0"/>
                <a:ea typeface="Arial" pitchFamily="34" charset="-122"/>
                <a:cs typeface="Arial" pitchFamily="34" charset="-120"/>
              </a:rPr>
              <a:t>about.html:68; video/captions.vtt; hallazgo media-e3c90b8d03179145</a:t>
            </a:r>
            <a:endParaRPr lang="en-US" sz="850" dirty="0"/>
          </a:p>
        </p:txBody>
      </p:sp>
      <p:sp>
        <p:nvSpPr>
          <p:cNvPr id="8" name="Text 6"/>
          <p:cNvSpPr/>
          <p:nvPr/>
        </p:nvSpPr>
        <p:spPr>
          <a:xfrm>
            <a:off x="11292840" y="6510528"/>
            <a:ext cx="320040" cy="228600"/>
          </a:xfrm>
          <a:prstGeom prst="rect">
            <a:avLst/>
          </a:prstGeom>
          <a:noFill/>
          <a:ln/>
        </p:spPr>
        <p:txBody>
          <a:bodyPr wrap="square" lIns="0" tIns="0" rIns="0" bIns="0" rtlCol="0" anchor="t">
            <a:normAutofit/>
          </a:bodyPr>
          <a:lstStyle/>
          <a:p>
            <a:pPr algn="r" indent="0" marL="0">
              <a:buNone/>
            </a:pPr>
            <a:r>
              <a:rPr lang="en-US" sz="1100" b="1" dirty="0">
                <a:solidFill>
                  <a:srgbClr val="A80000"/>
                </a:solidFill>
                <a:latin typeface="Arial" pitchFamily="34" charset="0"/>
                <a:ea typeface="Arial" pitchFamily="34" charset="-122"/>
                <a:cs typeface="Arial" pitchFamily="34" charset="-120"/>
              </a:rPr>
              <a:t>14</a:t>
            </a:r>
            <a:endParaRPr lang="en-US" sz="1100" dirty="0"/>
          </a:p>
        </p:txBody>
      </p:sp>
      <p:pic>
        <p:nvPicPr>
          <p:cNvPr id="10" name="Image 0" descr="/Users/gabrielcespedes/customers/endava/ai-assisted-web-qa-hackathon-main/docs/presentations/skynet-preliminar-2026-10-15/assets/caption-finding.png">    </p:cNvPr>
          <p:cNvPicPr>
            <a:picLocks noChangeAspect="1"/>
          </p:cNvPicPr>
          <p:nvPr/>
        </p:nvPicPr>
        <p:blipFill>
          <a:blip r:embed="rId1"/>
          <a:stretch>
            <a:fillRect/>
          </a:stretch>
        </p:blipFill>
        <p:spPr>
          <a:xfrm>
            <a:off x="594360" y="1936050"/>
            <a:ext cx="7452360" cy="3900301"/>
          </a:xfrm>
          <a:prstGeom prst="rect">
            <a:avLst/>
          </a:prstGeom>
        </p:spPr>
      </p:pic>
      <p:sp>
        <p:nvSpPr>
          <p:cNvPr id="11" name="Shape 7"/>
          <p:cNvSpPr/>
          <p:nvPr/>
        </p:nvSpPr>
        <p:spPr>
          <a:xfrm>
            <a:off x="8321040" y="1783080"/>
            <a:ext cx="1097280" cy="329184"/>
          </a:xfrm>
          <a:prstGeom prst="rect">
            <a:avLst/>
          </a:prstGeom>
          <a:solidFill>
            <a:srgbClr val="A80000"/>
          </a:solidFill>
          <a:ln w="8890">
            <a:solidFill>
              <a:srgbClr val="A80000"/>
            </a:solidFill>
            <a:prstDash val="solid"/>
          </a:ln>
        </p:spPr>
      </p:sp>
      <p:sp>
        <p:nvSpPr>
          <p:cNvPr id="12" name="Text 8"/>
          <p:cNvSpPr/>
          <p:nvPr/>
        </p:nvSpPr>
        <p:spPr>
          <a:xfrm>
            <a:off x="8394192" y="1847088"/>
            <a:ext cx="950976" cy="201168"/>
          </a:xfrm>
          <a:prstGeom prst="rect">
            <a:avLst/>
          </a:prstGeom>
          <a:noFill/>
          <a:ln/>
        </p:spPr>
        <p:txBody>
          <a:bodyPr wrap="square" lIns="0" tIns="0" rIns="0" bIns="0" rtlCol="0" anchor="t">
            <a:normAutofit/>
          </a:bodyPr>
          <a:lstStyle/>
          <a:p>
            <a:pPr indent="0" marL="0">
              <a:buNone/>
            </a:pPr>
            <a:r>
              <a:rPr lang="en-US" sz="1100" b="1" dirty="0">
                <a:solidFill>
                  <a:srgbClr val="FFFFFF"/>
                </a:solidFill>
                <a:latin typeface="Arial" pitchFamily="34" charset="0"/>
                <a:ea typeface="Arial" pitchFamily="34" charset="-122"/>
                <a:cs typeface="Arial" pitchFamily="34" charset="-120"/>
              </a:rPr>
              <a:t>DÓNDE</a:t>
            </a:r>
            <a:endParaRPr lang="en-US" sz="1100" dirty="0"/>
          </a:p>
        </p:txBody>
      </p:sp>
      <p:sp>
        <p:nvSpPr>
          <p:cNvPr id="13" name="Text 9"/>
          <p:cNvSpPr/>
          <p:nvPr/>
        </p:nvSpPr>
        <p:spPr>
          <a:xfrm>
            <a:off x="8321040" y="2286000"/>
            <a:ext cx="3246120" cy="731520"/>
          </a:xfrm>
          <a:prstGeom prst="rect">
            <a:avLst/>
          </a:prstGeom>
          <a:noFill/>
          <a:ln/>
        </p:spPr>
        <p:txBody>
          <a:bodyPr wrap="square" lIns="0" tIns="0" rIns="0" bIns="0" rtlCol="0" anchor="t">
            <a:normAutofit/>
          </a:bodyPr>
          <a:lstStyle/>
          <a:p>
            <a:pPr indent="0" marL="0">
              <a:buNone/>
            </a:pPr>
            <a:r>
              <a:rPr lang="en-US" sz="2200" b="1" dirty="0">
                <a:solidFill>
                  <a:srgbClr val="242426"/>
                </a:solidFill>
                <a:latin typeface="Arial" pitchFamily="34" charset="0"/>
                <a:ea typeface="Arial" pitchFamily="34" charset="-122"/>
                <a:cs typeface="Arial" pitchFamily="34" charset="-120"/>
              </a:rPr>
              <a:t>About → Conoce al equipo</a:t>
            </a:r>
            <a:endParaRPr lang="en-US" sz="2200" dirty="0"/>
          </a:p>
        </p:txBody>
      </p:sp>
      <p:sp>
        <p:nvSpPr>
          <p:cNvPr id="14" name="Text 10"/>
          <p:cNvSpPr/>
          <p:nvPr/>
        </p:nvSpPr>
        <p:spPr>
          <a:xfrm>
            <a:off x="8321040" y="3246120"/>
            <a:ext cx="3246120" cy="1005840"/>
          </a:xfrm>
          <a:prstGeom prst="rect">
            <a:avLst/>
          </a:prstGeom>
          <a:noFill/>
          <a:ln/>
        </p:spPr>
        <p:txBody>
          <a:bodyPr wrap="square" lIns="0" tIns="0" rIns="0" bIns="0" rtlCol="0" anchor="t">
            <a:normAutofit/>
          </a:bodyPr>
          <a:lstStyle/>
          <a:p>
            <a:pPr indent="0" marL="0">
              <a:buNone/>
            </a:pPr>
            <a:r>
              <a:rPr lang="en-US" sz="1600" dirty="0">
                <a:solidFill>
                  <a:srgbClr val="626269"/>
                </a:solidFill>
                <a:latin typeface="Arial" pitchFamily="34" charset="0"/>
                <a:ea typeface="Arial" pitchFamily="34" charset="-122"/>
                <a:cs typeface="Arial" pitchFamily="34" charset="-120"/>
              </a:rPr>
              <a:t>(//video)[1]/track[1]</a:t>
            </a:r>
            <a:endParaRPr lang="en-US" sz="1600" dirty="0"/>
          </a:p>
          <a:p>
            <a:pPr indent="0" marL="0">
              <a:buNone/>
            </a:pPr>
            <a:endParaRPr lang="en-US" sz="1600" dirty="0"/>
          </a:p>
          <a:p>
            <a:pPr indent="0" marL="0">
              <a:buNone/>
            </a:pPr>
            <a:r>
              <a:rPr lang="en-US" sz="1600" dirty="0">
                <a:solidFill>
                  <a:srgbClr val="626269"/>
                </a:solidFill>
                <a:latin typeface="Arial" pitchFamily="34" charset="0"/>
                <a:ea typeface="Arial" pitchFamily="34" charset="-122"/>
                <a:cs typeface="Arial" pitchFamily="34" charset="-120"/>
              </a:rPr>
              <a:t>/video/captions.vtt</a:t>
            </a:r>
            <a:endParaRPr lang="en-US" sz="1600" dirty="0"/>
          </a:p>
        </p:txBody>
      </p:sp>
      <p:sp>
        <p:nvSpPr>
          <p:cNvPr id="15" name="Text 11"/>
          <p:cNvSpPr/>
          <p:nvPr/>
        </p:nvSpPr>
        <p:spPr>
          <a:xfrm>
            <a:off x="8321040" y="4709160"/>
            <a:ext cx="3246120" cy="914400"/>
          </a:xfrm>
          <a:prstGeom prst="rect">
            <a:avLst/>
          </a:prstGeom>
          <a:noFill/>
          <a:ln/>
        </p:spPr>
        <p:txBody>
          <a:bodyPr wrap="square" lIns="0" tIns="0" rIns="0" bIns="0" rtlCol="0" anchor="t">
            <a:normAutofit/>
          </a:bodyPr>
          <a:lstStyle/>
          <a:p>
            <a:pPr indent="0" marL="0">
              <a:buNone/>
            </a:pPr>
            <a:r>
              <a:rPr lang="en-US" sz="2100" b="1" dirty="0">
                <a:solidFill>
                  <a:srgbClr val="A80000"/>
                </a:solidFill>
                <a:latin typeface="Arial" pitchFamily="34" charset="0"/>
                <a:ea typeface="Arial" pitchFamily="34" charset="-122"/>
                <a:cs typeface="Arial" pitchFamily="34" charset="-120"/>
              </a:rPr>
              <a:t>Etiqueta: Español</a:t>
            </a:r>
            <a:endParaRPr lang="en-US" sz="2100" dirty="0"/>
          </a:p>
          <a:p>
            <a:pPr indent="0" marL="0">
              <a:buNone/>
            </a:pPr>
            <a:r>
              <a:rPr lang="en-US" sz="2100" b="1" dirty="0">
                <a:solidFill>
                  <a:srgbClr val="A80000"/>
                </a:solidFill>
                <a:latin typeface="Arial" pitchFamily="34" charset="0"/>
                <a:ea typeface="Arial" pitchFamily="34" charset="-122"/>
                <a:cs typeface="Arial" pitchFamily="34" charset="-120"/>
              </a:rPr>
              <a:t>Contenido: inglés</a:t>
            </a:r>
            <a:endParaRPr lang="en-US" sz="2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4F5"/>
        </a:solidFill>
      </p:bgPr>
    </p:bg>
    <p:spTree>
      <p:nvGrpSpPr>
        <p:cNvPr id="1" name=""/>
        <p:cNvGrpSpPr/>
        <p:nvPr/>
      </p:nvGrpSpPr>
      <p:grpSpPr>
        <a:xfrm>
          <a:off x="0" y="0"/>
          <a:ext cx="0" cy="0"/>
          <a:chOff x="0" y="0"/>
          <a:chExt cx="0" cy="0"/>
        </a:xfrm>
      </p:grpSpPr>
      <p:sp>
        <p:nvSpPr>
          <p:cNvPr id="2" name="Shape 0"/>
          <p:cNvSpPr/>
          <p:nvPr/>
        </p:nvSpPr>
        <p:spPr>
          <a:xfrm>
            <a:off x="0" y="0"/>
            <a:ext cx="12192000" cy="68580"/>
          </a:xfrm>
          <a:prstGeom prst="rect">
            <a:avLst/>
          </a:prstGeom>
          <a:solidFill>
            <a:srgbClr val="A80000"/>
          </a:solidFill>
          <a:ln w="8890">
            <a:solidFill>
              <a:srgbClr val="A80000"/>
            </a:solidFill>
            <a:prstDash val="solid"/>
          </a:ln>
        </p:spPr>
      </p:sp>
      <p:sp>
        <p:nvSpPr>
          <p:cNvPr id="3" name="Text 1"/>
          <p:cNvSpPr/>
          <p:nvPr/>
        </p:nvSpPr>
        <p:spPr>
          <a:xfrm>
            <a:off x="594360" y="274320"/>
            <a:ext cx="10058400" cy="219456"/>
          </a:xfrm>
          <a:prstGeom prst="rect">
            <a:avLst/>
          </a:prstGeom>
          <a:noFill/>
          <a:ln/>
        </p:spPr>
        <p:txBody>
          <a:bodyPr wrap="square" lIns="0" tIns="0" rIns="0" bIns="0" rtlCol="0" anchor="t">
            <a:normAutofit/>
          </a:bodyPr>
          <a:lstStyle/>
          <a:p>
            <a:pPr indent="0" marL="0">
              <a:buNone/>
            </a:pPr>
            <a:r>
              <a:rPr lang="en-US" sz="1000" b="1" dirty="0">
                <a:solidFill>
                  <a:srgbClr val="A80000"/>
                </a:solidFill>
                <a:latin typeface="Arial" pitchFamily="34" charset="0"/>
                <a:ea typeface="Arial" pitchFamily="34" charset="-122"/>
                <a:cs typeface="Arial" pitchFamily="34" charset="-120"/>
              </a:rPr>
              <a:t>EVIDENCIA DE FUNCIONAMIENTO</a:t>
            </a:r>
            <a:endParaRPr lang="en-US" sz="1000" dirty="0"/>
          </a:p>
        </p:txBody>
      </p:sp>
      <p:sp>
        <p:nvSpPr>
          <p:cNvPr id="4" name="Text 2"/>
          <p:cNvSpPr/>
          <p:nvPr/>
        </p:nvSpPr>
        <p:spPr>
          <a:xfrm>
            <a:off x="594360" y="667512"/>
            <a:ext cx="10972800" cy="594360"/>
          </a:xfrm>
          <a:prstGeom prst="rect">
            <a:avLst/>
          </a:prstGeom>
          <a:noFill/>
          <a:ln/>
        </p:spPr>
        <p:txBody>
          <a:bodyPr wrap="square" lIns="0" tIns="0" rIns="0" bIns="0" rtlCol="0" anchor="t">
            <a:normAutofit/>
          </a:bodyPr>
          <a:lstStyle/>
          <a:p>
            <a:pPr indent="0" marL="0">
              <a:buNone/>
            </a:pPr>
            <a:r>
              <a:rPr lang="en-US" sz="3000" b="1" dirty="0">
                <a:solidFill>
                  <a:srgbClr val="242426"/>
                </a:solidFill>
                <a:latin typeface="Arial" pitchFamily="34" charset="0"/>
                <a:ea typeface="Arial" pitchFamily="34" charset="-122"/>
                <a:cs typeface="Arial" pitchFamily="34" charset="-120"/>
              </a:rPr>
              <a:t>Resultado observado en el sitio de práctica</a:t>
            </a:r>
            <a:endParaRPr lang="en-US" sz="3000" dirty="0"/>
          </a:p>
        </p:txBody>
      </p:sp>
      <p:sp>
        <p:nvSpPr>
          <p:cNvPr id="5" name="Shape 3"/>
          <p:cNvSpPr/>
          <p:nvPr/>
        </p:nvSpPr>
        <p:spPr>
          <a:xfrm>
            <a:off x="594360" y="6428232"/>
            <a:ext cx="10972800" cy="0"/>
          </a:xfrm>
          <a:prstGeom prst="line">
            <a:avLst/>
          </a:prstGeom>
          <a:noFill/>
          <a:ln w="17780">
            <a:solidFill>
              <a:srgbClr val="DEDEE2"/>
            </a:solidFill>
            <a:prstDash val="solid"/>
          </a:ln>
        </p:spPr>
      </p:sp>
      <p:sp>
        <p:nvSpPr>
          <p:cNvPr id="6" name="Text 4"/>
          <p:cNvSpPr/>
          <p:nvPr/>
        </p:nvSpPr>
        <p:spPr>
          <a:xfrm>
            <a:off x="594360" y="6547104"/>
            <a:ext cx="3749040" cy="164592"/>
          </a:xfrm>
          <a:prstGeom prst="rect">
            <a:avLst/>
          </a:prstGeom>
          <a:noFill/>
          <a:ln/>
        </p:spPr>
        <p:txBody>
          <a:bodyPr wrap="square" lIns="0" tIns="0" rIns="0" bIns="0" rtlCol="0" anchor="t">
            <a:normAutofit/>
          </a:bodyPr>
          <a:lstStyle/>
          <a:p>
            <a:pPr indent="0" marL="0">
              <a:buNone/>
            </a:pPr>
            <a:r>
              <a:rPr lang="en-US" sz="900" dirty="0">
                <a:solidFill>
                  <a:srgbClr val="626269"/>
                </a:solidFill>
                <a:latin typeface="Arial" pitchFamily="34" charset="0"/>
                <a:ea typeface="Arial" pitchFamily="34" charset="-122"/>
                <a:cs typeface="Arial" pitchFamily="34" charset="-120"/>
              </a:rPr>
              <a:t>SKYNET · 15 OCT 2026 · PRELIMINAR</a:t>
            </a:r>
            <a:endParaRPr lang="en-US" sz="900" dirty="0"/>
          </a:p>
        </p:txBody>
      </p:sp>
      <p:sp>
        <p:nvSpPr>
          <p:cNvPr id="7" name="Text 5"/>
          <p:cNvSpPr/>
          <p:nvPr/>
        </p:nvSpPr>
        <p:spPr>
          <a:xfrm>
            <a:off x="3931920" y="6547104"/>
            <a:ext cx="7178040" cy="164592"/>
          </a:xfrm>
          <a:prstGeom prst="rect">
            <a:avLst/>
          </a:prstGeom>
          <a:noFill/>
          <a:ln/>
        </p:spPr>
        <p:txBody>
          <a:bodyPr wrap="square" lIns="0" tIns="0" rIns="0" bIns="0" rtlCol="0" anchor="t">
            <a:normAutofit/>
          </a:bodyPr>
          <a:lstStyle/>
          <a:p>
            <a:pPr algn="r" indent="0" marL="0">
              <a:buNone/>
            </a:pPr>
            <a:r>
              <a:rPr lang="en-US" sz="850" dirty="0">
                <a:solidFill>
                  <a:srgbClr val="626269"/>
                </a:solidFill>
                <a:latin typeface="Arial" pitchFamily="34" charset="0"/>
                <a:ea typeface="Arial" pitchFamily="34" charset="-122"/>
                <a:cs typeface="Arial" pitchFamily="34" charset="-120"/>
              </a:rPr>
              <a:t>GET /api/audits/latest · 15/10/2026 13:57 ART</a:t>
            </a:r>
            <a:endParaRPr lang="en-US" sz="850" dirty="0"/>
          </a:p>
        </p:txBody>
      </p:sp>
      <p:sp>
        <p:nvSpPr>
          <p:cNvPr id="8" name="Text 6"/>
          <p:cNvSpPr/>
          <p:nvPr/>
        </p:nvSpPr>
        <p:spPr>
          <a:xfrm>
            <a:off x="11292840" y="6510528"/>
            <a:ext cx="320040" cy="228600"/>
          </a:xfrm>
          <a:prstGeom prst="rect">
            <a:avLst/>
          </a:prstGeom>
          <a:noFill/>
          <a:ln/>
        </p:spPr>
        <p:txBody>
          <a:bodyPr wrap="square" lIns="0" tIns="0" rIns="0" bIns="0" rtlCol="0" anchor="t">
            <a:normAutofit/>
          </a:bodyPr>
          <a:lstStyle/>
          <a:p>
            <a:pPr algn="r" indent="0" marL="0">
              <a:buNone/>
            </a:pPr>
            <a:r>
              <a:rPr lang="en-US" sz="1100" b="1" dirty="0">
                <a:solidFill>
                  <a:srgbClr val="A80000"/>
                </a:solidFill>
                <a:latin typeface="Arial" pitchFamily="34" charset="0"/>
                <a:ea typeface="Arial" pitchFamily="34" charset="-122"/>
                <a:cs typeface="Arial" pitchFamily="34" charset="-120"/>
              </a:rPr>
              <a:t>15</a:t>
            </a:r>
            <a:endParaRPr lang="en-US" sz="1100" dirty="0"/>
          </a:p>
        </p:txBody>
      </p:sp>
      <p:sp>
        <p:nvSpPr>
          <p:cNvPr id="10" name="Shape 7"/>
          <p:cNvSpPr/>
          <p:nvPr/>
        </p:nvSpPr>
        <p:spPr>
          <a:xfrm>
            <a:off x="594360" y="1783080"/>
            <a:ext cx="3200400" cy="3566160"/>
          </a:xfrm>
          <a:prstGeom prst="rect">
            <a:avLst/>
          </a:prstGeom>
          <a:solidFill>
            <a:srgbClr val="FFFFFF"/>
          </a:solidFill>
          <a:ln w="8890">
            <a:solidFill>
              <a:srgbClr val="DEDEE2"/>
            </a:solidFill>
            <a:prstDash val="solid"/>
          </a:ln>
        </p:spPr>
      </p:sp>
      <p:sp>
        <p:nvSpPr>
          <p:cNvPr id="11" name="Shape 8"/>
          <p:cNvSpPr/>
          <p:nvPr/>
        </p:nvSpPr>
        <p:spPr>
          <a:xfrm>
            <a:off x="594360" y="1783080"/>
            <a:ext cx="50292" cy="3566160"/>
          </a:xfrm>
          <a:prstGeom prst="rect">
            <a:avLst/>
          </a:prstGeom>
          <a:solidFill>
            <a:srgbClr val="A80000"/>
          </a:solidFill>
          <a:ln w="8890">
            <a:solidFill>
              <a:srgbClr val="A80000"/>
            </a:solidFill>
            <a:prstDash val="solid"/>
          </a:ln>
        </p:spPr>
      </p:sp>
      <p:sp>
        <p:nvSpPr>
          <p:cNvPr id="12" name="Text 9"/>
          <p:cNvSpPr/>
          <p:nvPr/>
        </p:nvSpPr>
        <p:spPr>
          <a:xfrm>
            <a:off x="777240" y="1947672"/>
            <a:ext cx="2834640" cy="457200"/>
          </a:xfrm>
          <a:prstGeom prst="rect">
            <a:avLst/>
          </a:prstGeom>
          <a:noFill/>
          <a:ln/>
        </p:spPr>
        <p:txBody>
          <a:bodyPr wrap="square" lIns="0" tIns="0" rIns="0" bIns="0" rtlCol="0" anchor="t">
            <a:normAutofit/>
          </a:bodyPr>
          <a:lstStyle/>
          <a:p>
            <a:pPr indent="0" marL="0">
              <a:buNone/>
            </a:pPr>
            <a:r>
              <a:rPr lang="en-US" sz="2100" b="1" dirty="0">
                <a:solidFill>
                  <a:srgbClr val="242426"/>
                </a:solidFill>
                <a:latin typeface="Arial" pitchFamily="34" charset="0"/>
                <a:ea typeface="Arial" pitchFamily="34" charset="-122"/>
                <a:cs typeface="Arial" pitchFamily="34" charset="-120"/>
              </a:rPr>
              <a:t>Una corrida completa</a:t>
            </a:r>
            <a:endParaRPr lang="en-US" sz="2100" dirty="0"/>
          </a:p>
        </p:txBody>
      </p:sp>
      <p:sp>
        <p:nvSpPr>
          <p:cNvPr id="13" name="Text 10"/>
          <p:cNvSpPr/>
          <p:nvPr/>
        </p:nvSpPr>
        <p:spPr>
          <a:xfrm>
            <a:off x="777240" y="2587752"/>
            <a:ext cx="2834640" cy="2624328"/>
          </a:xfrm>
          <a:prstGeom prst="rect">
            <a:avLst/>
          </a:prstGeom>
          <a:noFill/>
          <a:ln/>
        </p:spPr>
        <p:txBody>
          <a:bodyPr wrap="square" lIns="0" tIns="0" rIns="0" bIns="0" rtlCol="0" anchor="t">
            <a:normAutofit/>
          </a:bodyPr>
          <a:lstStyle/>
          <a:p>
            <a:pPr indent="0" marL="0">
              <a:buNone/>
            </a:pPr>
            <a:r>
              <a:rPr lang="en-US" sz="2100" dirty="0">
                <a:solidFill>
                  <a:srgbClr val="626269"/>
                </a:solidFill>
                <a:latin typeface="Arial" pitchFamily="34" charset="0"/>
                <a:ea typeface="Arial" pitchFamily="34" charset="-122"/>
                <a:cs typeface="Arial" pitchFamily="34" charset="-120"/>
              </a:rPr>
              <a:t>22 hallazgos</a:t>
            </a:r>
            <a:endParaRPr lang="en-US" sz="2100" dirty="0"/>
          </a:p>
          <a:p>
            <a:pPr indent="0" marL="0">
              <a:buNone/>
            </a:pPr>
            <a:r>
              <a:rPr lang="en-US" sz="2100" dirty="0">
                <a:solidFill>
                  <a:srgbClr val="626269"/>
                </a:solidFill>
                <a:latin typeface="Arial" pitchFamily="34" charset="0"/>
                <a:ea typeface="Arial" pitchFamily="34" charset="-122"/>
                <a:cs typeface="Arial" pitchFamily="34" charset="-120"/>
              </a:rPr>
              <a:t>62,5 segundos</a:t>
            </a:r>
            <a:endParaRPr lang="en-US" sz="2100" dirty="0"/>
          </a:p>
          <a:p>
            <a:pPr indent="0" marL="0">
              <a:buNone/>
            </a:pPr>
            <a:r>
              <a:rPr lang="en-US" sz="2100" dirty="0">
                <a:solidFill>
                  <a:srgbClr val="626269"/>
                </a:solidFill>
                <a:latin typeface="Arial" pitchFamily="34" charset="0"/>
                <a:ea typeface="Arial" pitchFamily="34" charset="-122"/>
                <a:cs typeface="Arial" pitchFamily="34" charset="-120"/>
              </a:rPr>
              <a:t>3 páginas válidas</a:t>
            </a:r>
            <a:endParaRPr lang="en-US" sz="2100" dirty="0"/>
          </a:p>
          <a:p>
            <a:pPr indent="0" marL="0">
              <a:buNone/>
            </a:pPr>
            <a:r>
              <a:rPr lang="en-US" sz="2100" dirty="0">
                <a:solidFill>
                  <a:srgbClr val="626269"/>
                </a:solidFill>
                <a:latin typeface="Arial" pitchFamily="34" charset="0"/>
                <a:ea typeface="Arial" pitchFamily="34" charset="-122"/>
                <a:cs typeface="Arial" pitchFamily="34" charset="-120"/>
              </a:rPr>
              <a:t>1 destino roto</a:t>
            </a:r>
            <a:endParaRPr lang="en-US" sz="2100" dirty="0"/>
          </a:p>
          <a:p>
            <a:pPr indent="0" marL="0">
              <a:buNone/>
            </a:pPr>
            <a:r>
              <a:rPr lang="en-US" sz="2100" dirty="0">
                <a:solidFill>
                  <a:srgbClr val="626269"/>
                </a:solidFill>
                <a:latin typeface="Arial" pitchFamily="34" charset="0"/>
                <a:ea typeface="Arial" pitchFamily="34" charset="-122"/>
                <a:cs typeface="Arial" pitchFamily="34" charset="-120"/>
              </a:rPr>
              <a:t>15 workers completados</a:t>
            </a:r>
            <a:endParaRPr lang="en-US" sz="2100" dirty="0"/>
          </a:p>
          <a:p>
            <a:pPr indent="0" marL="0">
              <a:buNone/>
            </a:pPr>
            <a:r>
              <a:rPr lang="en-US" sz="2100" dirty="0">
                <a:solidFill>
                  <a:srgbClr val="626269"/>
                </a:solidFill>
                <a:latin typeface="Arial" pitchFamily="34" charset="0"/>
                <a:ea typeface="Arial" pitchFamily="34" charset="-122"/>
                <a:cs typeface="Arial" pitchFamily="34" charset="-120"/>
              </a:rPr>
              <a:t>1 check no aplicable</a:t>
            </a:r>
            <a:endParaRPr lang="en-US" sz="2100" dirty="0"/>
          </a:p>
        </p:txBody>
      </p:sp>
      <p:sp>
        <p:nvSpPr>
          <p:cNvPr id="14" name="Text 11"/>
          <p:cNvSpPr/>
          <p:nvPr/>
        </p:nvSpPr>
        <p:spPr>
          <a:xfrm>
            <a:off x="4206240" y="1810512"/>
            <a:ext cx="2194560" cy="301752"/>
          </a:xfrm>
          <a:prstGeom prst="rect">
            <a:avLst/>
          </a:prstGeom>
          <a:noFill/>
          <a:ln/>
        </p:spPr>
        <p:txBody>
          <a:bodyPr wrap="square" lIns="0" tIns="0" rIns="0" bIns="0" rtlCol="0" anchor="t">
            <a:normAutofit/>
          </a:bodyPr>
          <a:lstStyle/>
          <a:p>
            <a:pPr indent="0" marL="0">
              <a:buNone/>
            </a:pPr>
            <a:r>
              <a:rPr lang="en-US" sz="1700" dirty="0">
                <a:solidFill>
                  <a:srgbClr val="626269"/>
                </a:solidFill>
                <a:latin typeface="Arial" pitchFamily="34" charset="0"/>
                <a:ea typeface="Arial" pitchFamily="34" charset="-122"/>
                <a:cs typeface="Arial" pitchFamily="34" charset="-120"/>
              </a:rPr>
              <a:t>Media</a:t>
            </a:r>
            <a:endParaRPr lang="en-US" sz="1700" dirty="0"/>
          </a:p>
        </p:txBody>
      </p:sp>
      <p:sp>
        <p:nvSpPr>
          <p:cNvPr id="15" name="Shape 12"/>
          <p:cNvSpPr/>
          <p:nvPr/>
        </p:nvSpPr>
        <p:spPr>
          <a:xfrm>
            <a:off x="6537960" y="1833372"/>
            <a:ext cx="3950208" cy="228600"/>
          </a:xfrm>
          <a:prstGeom prst="rect">
            <a:avLst/>
          </a:prstGeom>
          <a:solidFill>
            <a:srgbClr val="A80000"/>
          </a:solidFill>
          <a:ln w="8890">
            <a:solidFill>
              <a:srgbClr val="A80000"/>
            </a:solidFill>
            <a:prstDash val="solid"/>
          </a:ln>
        </p:spPr>
      </p:sp>
      <p:sp>
        <p:nvSpPr>
          <p:cNvPr id="16" name="Text 13"/>
          <p:cNvSpPr/>
          <p:nvPr/>
        </p:nvSpPr>
        <p:spPr>
          <a:xfrm>
            <a:off x="10625328" y="1796796"/>
            <a:ext cx="548640" cy="301752"/>
          </a:xfrm>
          <a:prstGeom prst="rect">
            <a:avLst/>
          </a:prstGeom>
          <a:noFill/>
          <a:ln/>
        </p:spPr>
        <p:txBody>
          <a:bodyPr wrap="square" lIns="0" tIns="0" rIns="0" bIns="0" rtlCol="0" anchor="t">
            <a:normAutofit/>
          </a:bodyPr>
          <a:lstStyle/>
          <a:p>
            <a:pPr indent="0" marL="0">
              <a:buNone/>
            </a:pPr>
            <a:r>
              <a:rPr lang="en-US" sz="1700" b="1" dirty="0">
                <a:solidFill>
                  <a:srgbClr val="242426"/>
                </a:solidFill>
                <a:latin typeface="Arial" pitchFamily="34" charset="0"/>
                <a:ea typeface="Arial" pitchFamily="34" charset="-122"/>
                <a:cs typeface="Arial" pitchFamily="34" charset="-120"/>
              </a:rPr>
              <a:t>6</a:t>
            </a:r>
            <a:endParaRPr lang="en-US" sz="1700" dirty="0"/>
          </a:p>
        </p:txBody>
      </p:sp>
      <p:sp>
        <p:nvSpPr>
          <p:cNvPr id="17" name="Text 14"/>
          <p:cNvSpPr/>
          <p:nvPr/>
        </p:nvSpPr>
        <p:spPr>
          <a:xfrm>
            <a:off x="4206240" y="2258568"/>
            <a:ext cx="2194560" cy="301752"/>
          </a:xfrm>
          <a:prstGeom prst="rect">
            <a:avLst/>
          </a:prstGeom>
          <a:noFill/>
          <a:ln/>
        </p:spPr>
        <p:txBody>
          <a:bodyPr wrap="square" lIns="0" tIns="0" rIns="0" bIns="0" rtlCol="0" anchor="t">
            <a:normAutofit/>
          </a:bodyPr>
          <a:lstStyle/>
          <a:p>
            <a:pPr indent="0" marL="0">
              <a:buNone/>
            </a:pPr>
            <a:r>
              <a:rPr lang="en-US" sz="1700" dirty="0">
                <a:solidFill>
                  <a:srgbClr val="626269"/>
                </a:solidFill>
                <a:latin typeface="Arial" pitchFamily="34" charset="0"/>
                <a:ea typeface="Arial" pitchFamily="34" charset="-122"/>
                <a:cs typeface="Arial" pitchFamily="34" charset="-120"/>
              </a:rPr>
              <a:t>Reglas locales</a:t>
            </a:r>
            <a:endParaRPr lang="en-US" sz="1700" dirty="0"/>
          </a:p>
        </p:txBody>
      </p:sp>
      <p:sp>
        <p:nvSpPr>
          <p:cNvPr id="18" name="Shape 15"/>
          <p:cNvSpPr/>
          <p:nvPr/>
        </p:nvSpPr>
        <p:spPr>
          <a:xfrm>
            <a:off x="6537960" y="2281428"/>
            <a:ext cx="2633472" cy="228600"/>
          </a:xfrm>
          <a:prstGeom prst="rect">
            <a:avLst/>
          </a:prstGeom>
          <a:solidFill>
            <a:srgbClr val="77777F"/>
          </a:solidFill>
          <a:ln w="8890">
            <a:solidFill>
              <a:srgbClr val="77777F"/>
            </a:solidFill>
            <a:prstDash val="solid"/>
          </a:ln>
        </p:spPr>
      </p:sp>
      <p:sp>
        <p:nvSpPr>
          <p:cNvPr id="19" name="Text 16"/>
          <p:cNvSpPr/>
          <p:nvPr/>
        </p:nvSpPr>
        <p:spPr>
          <a:xfrm>
            <a:off x="9308592" y="2244852"/>
            <a:ext cx="548640" cy="301752"/>
          </a:xfrm>
          <a:prstGeom prst="rect">
            <a:avLst/>
          </a:prstGeom>
          <a:noFill/>
          <a:ln/>
        </p:spPr>
        <p:txBody>
          <a:bodyPr wrap="square" lIns="0" tIns="0" rIns="0" bIns="0" rtlCol="0" anchor="t">
            <a:normAutofit/>
          </a:bodyPr>
          <a:lstStyle/>
          <a:p>
            <a:pPr indent="0" marL="0">
              <a:buNone/>
            </a:pPr>
            <a:r>
              <a:rPr lang="en-US" sz="1700" b="1" dirty="0">
                <a:solidFill>
                  <a:srgbClr val="242426"/>
                </a:solidFill>
                <a:latin typeface="Arial" pitchFamily="34" charset="0"/>
                <a:ea typeface="Arial" pitchFamily="34" charset="-122"/>
                <a:cs typeface="Arial" pitchFamily="34" charset="-120"/>
              </a:rPr>
              <a:t>4</a:t>
            </a:r>
            <a:endParaRPr lang="en-US" sz="1700" dirty="0"/>
          </a:p>
        </p:txBody>
      </p:sp>
      <p:sp>
        <p:nvSpPr>
          <p:cNvPr id="20" name="Text 17"/>
          <p:cNvSpPr/>
          <p:nvPr/>
        </p:nvSpPr>
        <p:spPr>
          <a:xfrm>
            <a:off x="4206240" y="2706624"/>
            <a:ext cx="2194560" cy="301752"/>
          </a:xfrm>
          <a:prstGeom prst="rect">
            <a:avLst/>
          </a:prstGeom>
          <a:noFill/>
          <a:ln/>
        </p:spPr>
        <p:txBody>
          <a:bodyPr wrap="square" lIns="0" tIns="0" rIns="0" bIns="0" rtlCol="0" anchor="t">
            <a:normAutofit/>
          </a:bodyPr>
          <a:lstStyle/>
          <a:p>
            <a:pPr indent="0" marL="0">
              <a:buNone/>
            </a:pPr>
            <a:r>
              <a:rPr lang="en-US" sz="1700" dirty="0">
                <a:solidFill>
                  <a:srgbClr val="626269"/>
                </a:solidFill>
                <a:latin typeface="Arial" pitchFamily="34" charset="0"/>
                <a:ea typeface="Arial" pitchFamily="34" charset="-122"/>
                <a:cs typeface="Arial" pitchFamily="34" charset="-120"/>
              </a:rPr>
              <a:t>Traducción</a:t>
            </a:r>
            <a:endParaRPr lang="en-US" sz="1700" dirty="0"/>
          </a:p>
        </p:txBody>
      </p:sp>
      <p:sp>
        <p:nvSpPr>
          <p:cNvPr id="21" name="Shape 18"/>
          <p:cNvSpPr/>
          <p:nvPr/>
        </p:nvSpPr>
        <p:spPr>
          <a:xfrm>
            <a:off x="6537960" y="2729484"/>
            <a:ext cx="2633472" cy="228600"/>
          </a:xfrm>
          <a:prstGeom prst="rect">
            <a:avLst/>
          </a:prstGeom>
          <a:solidFill>
            <a:srgbClr val="77777F"/>
          </a:solidFill>
          <a:ln w="8890">
            <a:solidFill>
              <a:srgbClr val="77777F"/>
            </a:solidFill>
            <a:prstDash val="solid"/>
          </a:ln>
        </p:spPr>
      </p:sp>
      <p:sp>
        <p:nvSpPr>
          <p:cNvPr id="22" name="Text 19"/>
          <p:cNvSpPr/>
          <p:nvPr/>
        </p:nvSpPr>
        <p:spPr>
          <a:xfrm>
            <a:off x="9308592" y="2692908"/>
            <a:ext cx="548640" cy="301752"/>
          </a:xfrm>
          <a:prstGeom prst="rect">
            <a:avLst/>
          </a:prstGeom>
          <a:noFill/>
          <a:ln/>
        </p:spPr>
        <p:txBody>
          <a:bodyPr wrap="square" lIns="0" tIns="0" rIns="0" bIns="0" rtlCol="0" anchor="t">
            <a:normAutofit/>
          </a:bodyPr>
          <a:lstStyle/>
          <a:p>
            <a:pPr indent="0" marL="0">
              <a:buNone/>
            </a:pPr>
            <a:r>
              <a:rPr lang="en-US" sz="1700" b="1" dirty="0">
                <a:solidFill>
                  <a:srgbClr val="242426"/>
                </a:solidFill>
                <a:latin typeface="Arial" pitchFamily="34" charset="0"/>
                <a:ea typeface="Arial" pitchFamily="34" charset="-122"/>
                <a:cs typeface="Arial" pitchFamily="34" charset="-120"/>
              </a:rPr>
              <a:t>4</a:t>
            </a:r>
            <a:endParaRPr lang="en-US" sz="1700" dirty="0"/>
          </a:p>
        </p:txBody>
      </p:sp>
      <p:sp>
        <p:nvSpPr>
          <p:cNvPr id="23" name="Text 20"/>
          <p:cNvSpPr/>
          <p:nvPr/>
        </p:nvSpPr>
        <p:spPr>
          <a:xfrm>
            <a:off x="4206240" y="3154680"/>
            <a:ext cx="2194560" cy="301752"/>
          </a:xfrm>
          <a:prstGeom prst="rect">
            <a:avLst/>
          </a:prstGeom>
          <a:noFill/>
          <a:ln/>
        </p:spPr>
        <p:txBody>
          <a:bodyPr wrap="square" lIns="0" tIns="0" rIns="0" bIns="0" rtlCol="0" anchor="t">
            <a:normAutofit/>
          </a:bodyPr>
          <a:lstStyle/>
          <a:p>
            <a:pPr indent="0" marL="0">
              <a:buNone/>
            </a:pPr>
            <a:r>
              <a:rPr lang="en-US" sz="1700" dirty="0">
                <a:solidFill>
                  <a:srgbClr val="626269"/>
                </a:solidFill>
                <a:latin typeface="Arial" pitchFamily="34" charset="0"/>
                <a:ea typeface="Arial" pitchFamily="34" charset="-122"/>
                <a:cs typeface="Arial" pitchFamily="34" charset="-120"/>
              </a:rPr>
              <a:t>Terminología</a:t>
            </a:r>
            <a:endParaRPr lang="en-US" sz="1700" dirty="0"/>
          </a:p>
        </p:txBody>
      </p:sp>
      <p:sp>
        <p:nvSpPr>
          <p:cNvPr id="24" name="Shape 21"/>
          <p:cNvSpPr/>
          <p:nvPr/>
        </p:nvSpPr>
        <p:spPr>
          <a:xfrm>
            <a:off x="6537960" y="3177540"/>
            <a:ext cx="1975104" cy="228600"/>
          </a:xfrm>
          <a:prstGeom prst="rect">
            <a:avLst/>
          </a:prstGeom>
          <a:solidFill>
            <a:srgbClr val="77777F"/>
          </a:solidFill>
          <a:ln w="8890">
            <a:solidFill>
              <a:srgbClr val="77777F"/>
            </a:solidFill>
            <a:prstDash val="solid"/>
          </a:ln>
        </p:spPr>
      </p:sp>
      <p:sp>
        <p:nvSpPr>
          <p:cNvPr id="25" name="Text 22"/>
          <p:cNvSpPr/>
          <p:nvPr/>
        </p:nvSpPr>
        <p:spPr>
          <a:xfrm>
            <a:off x="8650224" y="3140964"/>
            <a:ext cx="548640" cy="301752"/>
          </a:xfrm>
          <a:prstGeom prst="rect">
            <a:avLst/>
          </a:prstGeom>
          <a:noFill/>
          <a:ln/>
        </p:spPr>
        <p:txBody>
          <a:bodyPr wrap="square" lIns="0" tIns="0" rIns="0" bIns="0" rtlCol="0" anchor="t">
            <a:normAutofit/>
          </a:bodyPr>
          <a:lstStyle/>
          <a:p>
            <a:pPr indent="0" marL="0">
              <a:buNone/>
            </a:pPr>
            <a:r>
              <a:rPr lang="en-US" sz="1700" b="1" dirty="0">
                <a:solidFill>
                  <a:srgbClr val="242426"/>
                </a:solidFill>
                <a:latin typeface="Arial" pitchFamily="34" charset="0"/>
                <a:ea typeface="Arial" pitchFamily="34" charset="-122"/>
                <a:cs typeface="Arial" pitchFamily="34" charset="-120"/>
              </a:rPr>
              <a:t>3</a:t>
            </a:r>
            <a:endParaRPr lang="en-US" sz="1700" dirty="0"/>
          </a:p>
        </p:txBody>
      </p:sp>
      <p:sp>
        <p:nvSpPr>
          <p:cNvPr id="26" name="Text 23"/>
          <p:cNvSpPr/>
          <p:nvPr/>
        </p:nvSpPr>
        <p:spPr>
          <a:xfrm>
            <a:off x="4206240" y="3602736"/>
            <a:ext cx="2194560" cy="301752"/>
          </a:xfrm>
          <a:prstGeom prst="rect">
            <a:avLst/>
          </a:prstGeom>
          <a:noFill/>
          <a:ln/>
        </p:spPr>
        <p:txBody>
          <a:bodyPr wrap="square" lIns="0" tIns="0" rIns="0" bIns="0" rtlCol="0" anchor="t">
            <a:normAutofit/>
          </a:bodyPr>
          <a:lstStyle/>
          <a:p>
            <a:pPr indent="0" marL="0">
              <a:buNone/>
            </a:pPr>
            <a:r>
              <a:rPr lang="en-US" sz="1700" dirty="0">
                <a:solidFill>
                  <a:srgbClr val="626269"/>
                </a:solidFill>
                <a:latin typeface="Arial" pitchFamily="34" charset="0"/>
                <a:ea typeface="Arial" pitchFamily="34" charset="-122"/>
                <a:cs typeface="Arial" pitchFamily="34" charset="-120"/>
              </a:rPr>
              <a:t>Voz de marca</a:t>
            </a:r>
            <a:endParaRPr lang="en-US" sz="1700" dirty="0"/>
          </a:p>
        </p:txBody>
      </p:sp>
      <p:sp>
        <p:nvSpPr>
          <p:cNvPr id="27" name="Shape 24"/>
          <p:cNvSpPr/>
          <p:nvPr/>
        </p:nvSpPr>
        <p:spPr>
          <a:xfrm>
            <a:off x="6537960" y="3625596"/>
            <a:ext cx="1316736" cy="228600"/>
          </a:xfrm>
          <a:prstGeom prst="rect">
            <a:avLst/>
          </a:prstGeom>
          <a:solidFill>
            <a:srgbClr val="77777F"/>
          </a:solidFill>
          <a:ln w="8890">
            <a:solidFill>
              <a:srgbClr val="77777F"/>
            </a:solidFill>
            <a:prstDash val="solid"/>
          </a:ln>
        </p:spPr>
      </p:sp>
      <p:sp>
        <p:nvSpPr>
          <p:cNvPr id="28" name="Text 25"/>
          <p:cNvSpPr/>
          <p:nvPr/>
        </p:nvSpPr>
        <p:spPr>
          <a:xfrm>
            <a:off x="7991856" y="3589020"/>
            <a:ext cx="548640" cy="301752"/>
          </a:xfrm>
          <a:prstGeom prst="rect">
            <a:avLst/>
          </a:prstGeom>
          <a:noFill/>
          <a:ln/>
        </p:spPr>
        <p:txBody>
          <a:bodyPr wrap="square" lIns="0" tIns="0" rIns="0" bIns="0" rtlCol="0" anchor="t">
            <a:normAutofit/>
          </a:bodyPr>
          <a:lstStyle/>
          <a:p>
            <a:pPr indent="0" marL="0">
              <a:buNone/>
            </a:pPr>
            <a:r>
              <a:rPr lang="en-US" sz="1700" b="1" dirty="0">
                <a:solidFill>
                  <a:srgbClr val="242426"/>
                </a:solidFill>
                <a:latin typeface="Arial" pitchFamily="34" charset="0"/>
                <a:ea typeface="Arial" pitchFamily="34" charset="-122"/>
                <a:cs typeface="Arial" pitchFamily="34" charset="-120"/>
              </a:rPr>
              <a:t>2</a:t>
            </a:r>
            <a:endParaRPr lang="en-US" sz="1700" dirty="0"/>
          </a:p>
        </p:txBody>
      </p:sp>
      <p:sp>
        <p:nvSpPr>
          <p:cNvPr id="29" name="Text 26"/>
          <p:cNvSpPr/>
          <p:nvPr/>
        </p:nvSpPr>
        <p:spPr>
          <a:xfrm>
            <a:off x="4206240" y="4050792"/>
            <a:ext cx="2194560" cy="301752"/>
          </a:xfrm>
          <a:prstGeom prst="rect">
            <a:avLst/>
          </a:prstGeom>
          <a:noFill/>
          <a:ln/>
        </p:spPr>
        <p:txBody>
          <a:bodyPr wrap="square" lIns="0" tIns="0" rIns="0" bIns="0" rtlCol="0" anchor="t">
            <a:normAutofit/>
          </a:bodyPr>
          <a:lstStyle/>
          <a:p>
            <a:pPr indent="0" marL="0">
              <a:buNone/>
            </a:pPr>
            <a:r>
              <a:rPr lang="en-US" sz="1700" dirty="0">
                <a:solidFill>
                  <a:srgbClr val="626269"/>
                </a:solidFill>
                <a:latin typeface="Arial" pitchFamily="34" charset="0"/>
                <a:ea typeface="Arial" pitchFamily="34" charset="-122"/>
                <a:cs typeface="Arial" pitchFamily="34" charset="-120"/>
              </a:rPr>
              <a:t>Formato</a:t>
            </a:r>
            <a:endParaRPr lang="en-US" sz="1700" dirty="0"/>
          </a:p>
        </p:txBody>
      </p:sp>
      <p:sp>
        <p:nvSpPr>
          <p:cNvPr id="30" name="Shape 27"/>
          <p:cNvSpPr/>
          <p:nvPr/>
        </p:nvSpPr>
        <p:spPr>
          <a:xfrm>
            <a:off x="6537960" y="4073652"/>
            <a:ext cx="658368" cy="228600"/>
          </a:xfrm>
          <a:prstGeom prst="rect">
            <a:avLst/>
          </a:prstGeom>
          <a:solidFill>
            <a:srgbClr val="77777F"/>
          </a:solidFill>
          <a:ln w="8890">
            <a:solidFill>
              <a:srgbClr val="77777F"/>
            </a:solidFill>
            <a:prstDash val="solid"/>
          </a:ln>
        </p:spPr>
      </p:sp>
      <p:sp>
        <p:nvSpPr>
          <p:cNvPr id="31" name="Text 28"/>
          <p:cNvSpPr/>
          <p:nvPr/>
        </p:nvSpPr>
        <p:spPr>
          <a:xfrm>
            <a:off x="7333488" y="4037076"/>
            <a:ext cx="548640" cy="301752"/>
          </a:xfrm>
          <a:prstGeom prst="rect">
            <a:avLst/>
          </a:prstGeom>
          <a:noFill/>
          <a:ln/>
        </p:spPr>
        <p:txBody>
          <a:bodyPr wrap="square" lIns="0" tIns="0" rIns="0" bIns="0" rtlCol="0" anchor="t">
            <a:normAutofit/>
          </a:bodyPr>
          <a:lstStyle/>
          <a:p>
            <a:pPr indent="0" marL="0">
              <a:buNone/>
            </a:pPr>
            <a:r>
              <a:rPr lang="en-US" sz="1700" b="1" dirty="0">
                <a:solidFill>
                  <a:srgbClr val="242426"/>
                </a:solidFill>
                <a:latin typeface="Arial" pitchFamily="34" charset="0"/>
                <a:ea typeface="Arial" pitchFamily="34" charset="-122"/>
                <a:cs typeface="Arial" pitchFamily="34" charset="-120"/>
              </a:rPr>
              <a:t>1</a:t>
            </a:r>
            <a:endParaRPr lang="en-US" sz="1700" dirty="0"/>
          </a:p>
        </p:txBody>
      </p:sp>
      <p:sp>
        <p:nvSpPr>
          <p:cNvPr id="32" name="Text 29"/>
          <p:cNvSpPr/>
          <p:nvPr/>
        </p:nvSpPr>
        <p:spPr>
          <a:xfrm>
            <a:off x="4206240" y="4498848"/>
            <a:ext cx="2194560" cy="301752"/>
          </a:xfrm>
          <a:prstGeom prst="rect">
            <a:avLst/>
          </a:prstGeom>
          <a:noFill/>
          <a:ln/>
        </p:spPr>
        <p:txBody>
          <a:bodyPr wrap="square" lIns="0" tIns="0" rIns="0" bIns="0" rtlCol="0" anchor="t">
            <a:normAutofit/>
          </a:bodyPr>
          <a:lstStyle/>
          <a:p>
            <a:pPr indent="0" marL="0">
              <a:buNone/>
            </a:pPr>
            <a:r>
              <a:rPr lang="en-US" sz="1700" dirty="0">
                <a:solidFill>
                  <a:srgbClr val="626269"/>
                </a:solidFill>
                <a:latin typeface="Arial" pitchFamily="34" charset="0"/>
                <a:ea typeface="Arial" pitchFamily="34" charset="-122"/>
                <a:cs typeface="Arial" pitchFamily="34" charset="-120"/>
              </a:rPr>
              <a:t>Gramática</a:t>
            </a:r>
            <a:endParaRPr lang="en-US" sz="1700" dirty="0"/>
          </a:p>
        </p:txBody>
      </p:sp>
      <p:sp>
        <p:nvSpPr>
          <p:cNvPr id="33" name="Shape 30"/>
          <p:cNvSpPr/>
          <p:nvPr/>
        </p:nvSpPr>
        <p:spPr>
          <a:xfrm>
            <a:off x="6537960" y="4521708"/>
            <a:ext cx="658368" cy="228600"/>
          </a:xfrm>
          <a:prstGeom prst="rect">
            <a:avLst/>
          </a:prstGeom>
          <a:solidFill>
            <a:srgbClr val="77777F"/>
          </a:solidFill>
          <a:ln w="8890">
            <a:solidFill>
              <a:srgbClr val="77777F"/>
            </a:solidFill>
            <a:prstDash val="solid"/>
          </a:ln>
        </p:spPr>
      </p:sp>
      <p:sp>
        <p:nvSpPr>
          <p:cNvPr id="34" name="Text 31"/>
          <p:cNvSpPr/>
          <p:nvPr/>
        </p:nvSpPr>
        <p:spPr>
          <a:xfrm>
            <a:off x="7333488" y="4485132"/>
            <a:ext cx="548640" cy="301752"/>
          </a:xfrm>
          <a:prstGeom prst="rect">
            <a:avLst/>
          </a:prstGeom>
          <a:noFill/>
          <a:ln/>
        </p:spPr>
        <p:txBody>
          <a:bodyPr wrap="square" lIns="0" tIns="0" rIns="0" bIns="0" rtlCol="0" anchor="t">
            <a:normAutofit/>
          </a:bodyPr>
          <a:lstStyle/>
          <a:p>
            <a:pPr indent="0" marL="0">
              <a:buNone/>
            </a:pPr>
            <a:r>
              <a:rPr lang="en-US" sz="1700" b="1" dirty="0">
                <a:solidFill>
                  <a:srgbClr val="242426"/>
                </a:solidFill>
                <a:latin typeface="Arial" pitchFamily="34" charset="0"/>
                <a:ea typeface="Arial" pitchFamily="34" charset="-122"/>
                <a:cs typeface="Arial" pitchFamily="34" charset="-120"/>
              </a:rPr>
              <a:t>1</a:t>
            </a:r>
            <a:endParaRPr lang="en-US" sz="1700" dirty="0"/>
          </a:p>
        </p:txBody>
      </p:sp>
      <p:sp>
        <p:nvSpPr>
          <p:cNvPr id="35" name="Text 32"/>
          <p:cNvSpPr/>
          <p:nvPr/>
        </p:nvSpPr>
        <p:spPr>
          <a:xfrm>
            <a:off x="4206240" y="4946904"/>
            <a:ext cx="2194560" cy="301752"/>
          </a:xfrm>
          <a:prstGeom prst="rect">
            <a:avLst/>
          </a:prstGeom>
          <a:noFill/>
          <a:ln/>
        </p:spPr>
        <p:txBody>
          <a:bodyPr wrap="square" lIns="0" tIns="0" rIns="0" bIns="0" rtlCol="0" anchor="t">
            <a:normAutofit/>
          </a:bodyPr>
          <a:lstStyle/>
          <a:p>
            <a:pPr indent="0" marL="0">
              <a:buNone/>
            </a:pPr>
            <a:r>
              <a:rPr lang="en-US" sz="1700" dirty="0">
                <a:solidFill>
                  <a:srgbClr val="626269"/>
                </a:solidFill>
                <a:latin typeface="Arial" pitchFamily="34" charset="0"/>
                <a:ea typeface="Arial" pitchFamily="34" charset="-122"/>
                <a:cs typeface="Arial" pitchFamily="34" charset="-120"/>
              </a:rPr>
              <a:t>Enlaces</a:t>
            </a:r>
            <a:endParaRPr lang="en-US" sz="1700" dirty="0"/>
          </a:p>
        </p:txBody>
      </p:sp>
      <p:sp>
        <p:nvSpPr>
          <p:cNvPr id="36" name="Shape 33"/>
          <p:cNvSpPr/>
          <p:nvPr/>
        </p:nvSpPr>
        <p:spPr>
          <a:xfrm>
            <a:off x="6537960" y="4969764"/>
            <a:ext cx="658368" cy="228600"/>
          </a:xfrm>
          <a:prstGeom prst="rect">
            <a:avLst/>
          </a:prstGeom>
          <a:solidFill>
            <a:srgbClr val="77777F"/>
          </a:solidFill>
          <a:ln w="8890">
            <a:solidFill>
              <a:srgbClr val="77777F"/>
            </a:solidFill>
            <a:prstDash val="solid"/>
          </a:ln>
        </p:spPr>
      </p:sp>
      <p:sp>
        <p:nvSpPr>
          <p:cNvPr id="37" name="Text 34"/>
          <p:cNvSpPr/>
          <p:nvPr/>
        </p:nvSpPr>
        <p:spPr>
          <a:xfrm>
            <a:off x="7333488" y="4933188"/>
            <a:ext cx="548640" cy="301752"/>
          </a:xfrm>
          <a:prstGeom prst="rect">
            <a:avLst/>
          </a:prstGeom>
          <a:noFill/>
          <a:ln/>
        </p:spPr>
        <p:txBody>
          <a:bodyPr wrap="square" lIns="0" tIns="0" rIns="0" bIns="0" rtlCol="0" anchor="t">
            <a:normAutofit/>
          </a:bodyPr>
          <a:lstStyle/>
          <a:p>
            <a:pPr indent="0" marL="0">
              <a:buNone/>
            </a:pPr>
            <a:r>
              <a:rPr lang="en-US" sz="1700" b="1" dirty="0">
                <a:solidFill>
                  <a:srgbClr val="242426"/>
                </a:solidFill>
                <a:latin typeface="Arial" pitchFamily="34" charset="0"/>
                <a:ea typeface="Arial" pitchFamily="34" charset="-122"/>
                <a:cs typeface="Arial" pitchFamily="34" charset="-120"/>
              </a:rPr>
              <a:t>1</a:t>
            </a:r>
            <a:endParaRPr lang="en-US" sz="1700" dirty="0"/>
          </a:p>
        </p:txBody>
      </p:sp>
      <p:sp>
        <p:nvSpPr>
          <p:cNvPr id="38" name="Shape 35"/>
          <p:cNvSpPr/>
          <p:nvPr/>
        </p:nvSpPr>
        <p:spPr>
          <a:xfrm>
            <a:off x="594360" y="5760720"/>
            <a:ext cx="10972800" cy="438912"/>
          </a:xfrm>
          <a:prstGeom prst="rect">
            <a:avLst/>
          </a:prstGeom>
          <a:solidFill>
            <a:srgbClr val="151515"/>
          </a:solidFill>
          <a:ln w="8890">
            <a:solidFill>
              <a:srgbClr val="151515"/>
            </a:solidFill>
            <a:prstDash val="solid"/>
          </a:ln>
        </p:spPr>
      </p:sp>
      <p:sp>
        <p:nvSpPr>
          <p:cNvPr id="39" name="Text 36"/>
          <p:cNvSpPr/>
          <p:nvPr/>
        </p:nvSpPr>
        <p:spPr>
          <a:xfrm>
            <a:off x="777240" y="5852160"/>
            <a:ext cx="10607040" cy="274320"/>
          </a:xfrm>
          <a:prstGeom prst="rect">
            <a:avLst/>
          </a:prstGeom>
          <a:noFill/>
          <a:ln/>
        </p:spPr>
        <p:txBody>
          <a:bodyPr wrap="square" lIns="0" tIns="0" rIns="0" bIns="0" rtlCol="0" anchor="t">
            <a:normAutofit/>
          </a:bodyPr>
          <a:lstStyle/>
          <a:p>
            <a:pPr indent="0" marL="0">
              <a:buNone/>
            </a:pPr>
            <a:r>
              <a:rPr lang="en-US" sz="1500" b="1" dirty="0">
                <a:solidFill>
                  <a:srgbClr val="FFFFFF"/>
                </a:solidFill>
                <a:latin typeface="Arial" pitchFamily="34" charset="0"/>
                <a:ea typeface="Arial" pitchFamily="34" charset="-122"/>
                <a:cs typeface="Arial" pitchFamily="34" charset="-120"/>
              </a:rPr>
              <a:t>Smoke test: no demuestra precisión/recall ni garantiza el mismo resultado en otro sitio.</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4F5"/>
        </a:solidFill>
      </p:bgPr>
    </p:bg>
    <p:spTree>
      <p:nvGrpSpPr>
        <p:cNvPr id="1" name=""/>
        <p:cNvGrpSpPr/>
        <p:nvPr/>
      </p:nvGrpSpPr>
      <p:grpSpPr>
        <a:xfrm>
          <a:off x="0" y="0"/>
          <a:ext cx="0" cy="0"/>
          <a:chOff x="0" y="0"/>
          <a:chExt cx="0" cy="0"/>
        </a:xfrm>
      </p:grpSpPr>
      <p:sp>
        <p:nvSpPr>
          <p:cNvPr id="2" name="Shape 0"/>
          <p:cNvSpPr/>
          <p:nvPr/>
        </p:nvSpPr>
        <p:spPr>
          <a:xfrm>
            <a:off x="0" y="0"/>
            <a:ext cx="12192000" cy="68580"/>
          </a:xfrm>
          <a:prstGeom prst="rect">
            <a:avLst/>
          </a:prstGeom>
          <a:solidFill>
            <a:srgbClr val="A80000"/>
          </a:solidFill>
          <a:ln w="8890">
            <a:solidFill>
              <a:srgbClr val="A80000"/>
            </a:solidFill>
            <a:prstDash val="solid"/>
          </a:ln>
        </p:spPr>
      </p:sp>
      <p:sp>
        <p:nvSpPr>
          <p:cNvPr id="3" name="Text 1"/>
          <p:cNvSpPr/>
          <p:nvPr/>
        </p:nvSpPr>
        <p:spPr>
          <a:xfrm>
            <a:off x="594360" y="274320"/>
            <a:ext cx="10058400" cy="219456"/>
          </a:xfrm>
          <a:prstGeom prst="rect">
            <a:avLst/>
          </a:prstGeom>
          <a:noFill/>
          <a:ln/>
        </p:spPr>
        <p:txBody>
          <a:bodyPr wrap="square" lIns="0" tIns="0" rIns="0" bIns="0" rtlCol="0" anchor="t">
            <a:normAutofit/>
          </a:bodyPr>
          <a:lstStyle/>
          <a:p>
            <a:pPr indent="0" marL="0">
              <a:buNone/>
            </a:pPr>
            <a:r>
              <a:rPr lang="en-US" sz="1000" b="1" dirty="0">
                <a:solidFill>
                  <a:srgbClr val="A80000"/>
                </a:solidFill>
                <a:latin typeface="Arial" pitchFamily="34" charset="0"/>
                <a:ea typeface="Arial" pitchFamily="34" charset="-122"/>
                <a:cs typeface="Arial" pitchFamily="34" charset="-120"/>
              </a:rPr>
              <a:t>VALIDACIÓN</a:t>
            </a:r>
            <a:endParaRPr lang="en-US" sz="1000" dirty="0"/>
          </a:p>
        </p:txBody>
      </p:sp>
      <p:sp>
        <p:nvSpPr>
          <p:cNvPr id="4" name="Text 2"/>
          <p:cNvSpPr/>
          <p:nvPr/>
        </p:nvSpPr>
        <p:spPr>
          <a:xfrm>
            <a:off x="594360" y="667512"/>
            <a:ext cx="10972800" cy="594360"/>
          </a:xfrm>
          <a:prstGeom prst="rect">
            <a:avLst/>
          </a:prstGeom>
          <a:noFill/>
          <a:ln/>
        </p:spPr>
        <p:txBody>
          <a:bodyPr wrap="square" lIns="0" tIns="0" rIns="0" bIns="0" rtlCol="0" anchor="t">
            <a:normAutofit/>
          </a:bodyPr>
          <a:lstStyle/>
          <a:p>
            <a:pPr indent="0" marL="0">
              <a:buNone/>
            </a:pPr>
            <a:r>
              <a:rPr lang="en-US" sz="3000" b="1" dirty="0">
                <a:solidFill>
                  <a:srgbClr val="242426"/>
                </a:solidFill>
                <a:latin typeface="Arial" pitchFamily="34" charset="0"/>
                <a:ea typeface="Arial" pitchFamily="34" charset="-122"/>
                <a:cs typeface="Arial" pitchFamily="34" charset="-120"/>
              </a:rPr>
              <a:t>Qué validamos hasta ahora</a:t>
            </a:r>
            <a:endParaRPr lang="en-US" sz="3000" dirty="0"/>
          </a:p>
        </p:txBody>
      </p:sp>
      <p:sp>
        <p:nvSpPr>
          <p:cNvPr id="5" name="Shape 3"/>
          <p:cNvSpPr/>
          <p:nvPr/>
        </p:nvSpPr>
        <p:spPr>
          <a:xfrm>
            <a:off x="594360" y="6428232"/>
            <a:ext cx="10972800" cy="0"/>
          </a:xfrm>
          <a:prstGeom prst="line">
            <a:avLst/>
          </a:prstGeom>
          <a:noFill/>
          <a:ln w="17780">
            <a:solidFill>
              <a:srgbClr val="DEDEE2"/>
            </a:solidFill>
            <a:prstDash val="solid"/>
          </a:ln>
        </p:spPr>
      </p:sp>
      <p:sp>
        <p:nvSpPr>
          <p:cNvPr id="6" name="Text 4"/>
          <p:cNvSpPr/>
          <p:nvPr/>
        </p:nvSpPr>
        <p:spPr>
          <a:xfrm>
            <a:off x="594360" y="6547104"/>
            <a:ext cx="3749040" cy="164592"/>
          </a:xfrm>
          <a:prstGeom prst="rect">
            <a:avLst/>
          </a:prstGeom>
          <a:noFill/>
          <a:ln/>
        </p:spPr>
        <p:txBody>
          <a:bodyPr wrap="square" lIns="0" tIns="0" rIns="0" bIns="0" rtlCol="0" anchor="t">
            <a:normAutofit/>
          </a:bodyPr>
          <a:lstStyle/>
          <a:p>
            <a:pPr indent="0" marL="0">
              <a:buNone/>
            </a:pPr>
            <a:r>
              <a:rPr lang="en-US" sz="900" dirty="0">
                <a:solidFill>
                  <a:srgbClr val="626269"/>
                </a:solidFill>
                <a:latin typeface="Arial" pitchFamily="34" charset="0"/>
                <a:ea typeface="Arial" pitchFamily="34" charset="-122"/>
                <a:cs typeface="Arial" pitchFamily="34" charset="-120"/>
              </a:rPr>
              <a:t>SKYNET · 15 OCT 2026 · PRELIMINAR</a:t>
            </a:r>
            <a:endParaRPr lang="en-US" sz="900" dirty="0"/>
          </a:p>
        </p:txBody>
      </p:sp>
      <p:sp>
        <p:nvSpPr>
          <p:cNvPr id="7" name="Text 5"/>
          <p:cNvSpPr/>
          <p:nvPr/>
        </p:nvSpPr>
        <p:spPr>
          <a:xfrm>
            <a:off x="3931920" y="6547104"/>
            <a:ext cx="7178040" cy="164592"/>
          </a:xfrm>
          <a:prstGeom prst="rect">
            <a:avLst/>
          </a:prstGeom>
          <a:noFill/>
          <a:ln/>
        </p:spPr>
        <p:txBody>
          <a:bodyPr wrap="square" lIns="0" tIns="0" rIns="0" bIns="0" rtlCol="0" anchor="t">
            <a:normAutofit/>
          </a:bodyPr>
          <a:lstStyle/>
          <a:p>
            <a:pPr algn="r" indent="0" marL="0">
              <a:buNone/>
            </a:pPr>
            <a:r>
              <a:rPr lang="en-US" sz="850" dirty="0">
                <a:solidFill>
                  <a:srgbClr val="626269"/>
                </a:solidFill>
                <a:latin typeface="Arial" pitchFamily="34" charset="0"/>
                <a:ea typeface="Arial" pitchFamily="34" charset="-122"/>
                <a:cs typeface="Arial" pitchFamily="34" charset="-120"/>
              </a:rPr>
              <a:t>npm test + typecheck; pruebas de navegador; smoke test real</a:t>
            </a:r>
            <a:endParaRPr lang="en-US" sz="850" dirty="0"/>
          </a:p>
        </p:txBody>
      </p:sp>
      <p:sp>
        <p:nvSpPr>
          <p:cNvPr id="8" name="Text 6"/>
          <p:cNvSpPr/>
          <p:nvPr/>
        </p:nvSpPr>
        <p:spPr>
          <a:xfrm>
            <a:off x="11292840" y="6510528"/>
            <a:ext cx="320040" cy="228600"/>
          </a:xfrm>
          <a:prstGeom prst="rect">
            <a:avLst/>
          </a:prstGeom>
          <a:noFill/>
          <a:ln/>
        </p:spPr>
        <p:txBody>
          <a:bodyPr wrap="square" lIns="0" tIns="0" rIns="0" bIns="0" rtlCol="0" anchor="t">
            <a:normAutofit/>
          </a:bodyPr>
          <a:lstStyle/>
          <a:p>
            <a:pPr algn="r" indent="0" marL="0">
              <a:buNone/>
            </a:pPr>
            <a:r>
              <a:rPr lang="en-US" sz="1100" b="1" dirty="0">
                <a:solidFill>
                  <a:srgbClr val="A80000"/>
                </a:solidFill>
                <a:latin typeface="Arial" pitchFamily="34" charset="0"/>
                <a:ea typeface="Arial" pitchFamily="34" charset="-122"/>
                <a:cs typeface="Arial" pitchFamily="34" charset="-120"/>
              </a:rPr>
              <a:t>16</a:t>
            </a:r>
            <a:endParaRPr lang="en-US" sz="1100" dirty="0"/>
          </a:p>
        </p:txBody>
      </p:sp>
      <p:sp>
        <p:nvSpPr>
          <p:cNvPr id="10" name="Shape 7"/>
          <p:cNvSpPr/>
          <p:nvPr/>
        </p:nvSpPr>
        <p:spPr>
          <a:xfrm>
            <a:off x="594360" y="1783080"/>
            <a:ext cx="3474720" cy="3520440"/>
          </a:xfrm>
          <a:prstGeom prst="rect">
            <a:avLst/>
          </a:prstGeom>
          <a:solidFill>
            <a:srgbClr val="FFFFFF"/>
          </a:solidFill>
          <a:ln w="8890">
            <a:solidFill>
              <a:srgbClr val="DEDEE2"/>
            </a:solidFill>
            <a:prstDash val="solid"/>
          </a:ln>
        </p:spPr>
      </p:sp>
      <p:sp>
        <p:nvSpPr>
          <p:cNvPr id="11" name="Shape 8"/>
          <p:cNvSpPr/>
          <p:nvPr/>
        </p:nvSpPr>
        <p:spPr>
          <a:xfrm>
            <a:off x="594360" y="1783080"/>
            <a:ext cx="50292" cy="3520440"/>
          </a:xfrm>
          <a:prstGeom prst="rect">
            <a:avLst/>
          </a:prstGeom>
          <a:solidFill>
            <a:srgbClr val="A80000"/>
          </a:solidFill>
          <a:ln w="8890">
            <a:solidFill>
              <a:srgbClr val="A80000"/>
            </a:solidFill>
            <a:prstDash val="solid"/>
          </a:ln>
        </p:spPr>
      </p:sp>
      <p:sp>
        <p:nvSpPr>
          <p:cNvPr id="12" name="Text 9"/>
          <p:cNvSpPr/>
          <p:nvPr/>
        </p:nvSpPr>
        <p:spPr>
          <a:xfrm>
            <a:off x="777240" y="1947672"/>
            <a:ext cx="3108960" cy="457200"/>
          </a:xfrm>
          <a:prstGeom prst="rect">
            <a:avLst/>
          </a:prstGeom>
          <a:noFill/>
          <a:ln/>
        </p:spPr>
        <p:txBody>
          <a:bodyPr wrap="square" lIns="0" tIns="0" rIns="0" bIns="0" rtlCol="0" anchor="t">
            <a:normAutofit/>
          </a:bodyPr>
          <a:lstStyle/>
          <a:p>
            <a:pPr indent="0" marL="0">
              <a:buNone/>
            </a:pPr>
            <a:r>
              <a:rPr lang="en-US" sz="2100" b="1" dirty="0">
                <a:solidFill>
                  <a:srgbClr val="242426"/>
                </a:solidFill>
                <a:latin typeface="Arial" pitchFamily="34" charset="0"/>
                <a:ea typeface="Arial" pitchFamily="34" charset="-122"/>
                <a:cs typeface="Arial" pitchFamily="34" charset="-120"/>
              </a:rPr>
              <a:t>57 tests aprobados</a:t>
            </a:r>
            <a:endParaRPr lang="en-US" sz="2100" dirty="0"/>
          </a:p>
        </p:txBody>
      </p:sp>
      <p:sp>
        <p:nvSpPr>
          <p:cNvPr id="13" name="Text 10"/>
          <p:cNvSpPr/>
          <p:nvPr/>
        </p:nvSpPr>
        <p:spPr>
          <a:xfrm>
            <a:off x="777240" y="2587752"/>
            <a:ext cx="3108960" cy="2578608"/>
          </a:xfrm>
          <a:prstGeom prst="rect">
            <a:avLst/>
          </a:prstGeom>
          <a:noFill/>
          <a:ln/>
        </p:spPr>
        <p:txBody>
          <a:bodyPr wrap="square" lIns="0" tIns="0" rIns="0" bIns="0" rtlCol="0" anchor="t">
            <a:normAutofit/>
          </a:bodyPr>
          <a:lstStyle/>
          <a:p>
            <a:pPr indent="0" marL="0">
              <a:buNone/>
            </a:pPr>
            <a:r>
              <a:rPr lang="en-US" sz="1900" dirty="0">
                <a:solidFill>
                  <a:srgbClr val="626269"/>
                </a:solidFill>
                <a:latin typeface="Arial" pitchFamily="34" charset="0"/>
                <a:ea typeface="Arial" pitchFamily="34" charset="-122"/>
                <a:cs typeface="Arial" pitchFamily="34" charset="-120"/>
              </a:rPr>
              <a:t>Contratos y evidencia</a:t>
            </a:r>
            <a:endParaRPr lang="en-US" sz="1900" dirty="0"/>
          </a:p>
          <a:p>
            <a:pPr indent="0" marL="0">
              <a:buNone/>
            </a:pPr>
            <a:r>
              <a:rPr lang="en-US" sz="1900" dirty="0">
                <a:solidFill>
                  <a:srgbClr val="626269"/>
                </a:solidFill>
                <a:latin typeface="Arial" pitchFamily="34" charset="0"/>
                <a:ea typeface="Arial" pitchFamily="34" charset="-122"/>
                <a:cs typeface="Arial" pitchFamily="34" charset="-120"/>
              </a:rPr>
              <a:t>Errores y reintentos</a:t>
            </a:r>
            <a:endParaRPr lang="en-US" sz="1900" dirty="0"/>
          </a:p>
          <a:p>
            <a:pPr indent="0" marL="0">
              <a:buNone/>
            </a:pPr>
            <a:r>
              <a:rPr lang="en-US" sz="1900" dirty="0">
                <a:solidFill>
                  <a:srgbClr val="626269"/>
                </a:solidFill>
                <a:latin typeface="Arial" pitchFamily="34" charset="0"/>
                <a:ea typeface="Arial" pitchFamily="34" charset="-122"/>
                <a:cs typeface="Arial" pitchFamily="34" charset="-120"/>
              </a:rPr>
              <a:t>Perfiles alternativos</a:t>
            </a:r>
            <a:endParaRPr lang="en-US" sz="1900" dirty="0"/>
          </a:p>
          <a:p>
            <a:pPr indent="0" marL="0">
              <a:buNone/>
            </a:pPr>
            <a:r>
              <a:rPr lang="en-US" sz="1900" dirty="0">
                <a:solidFill>
                  <a:srgbClr val="626269"/>
                </a:solidFill>
                <a:latin typeface="Arial" pitchFamily="34" charset="0"/>
                <a:ea typeface="Arial" pitchFamily="34" charset="-122"/>
                <a:cs typeface="Arial" pitchFamily="34" charset="-120"/>
              </a:rPr>
              <a:t>Reset y estado de revisión</a:t>
            </a:r>
            <a:endParaRPr lang="en-US" sz="1900" dirty="0"/>
          </a:p>
          <a:p>
            <a:pPr indent="0" marL="0">
              <a:buNone/>
            </a:pPr>
            <a:r>
              <a:rPr lang="en-US" sz="1900" dirty="0">
                <a:solidFill>
                  <a:srgbClr val="626269"/>
                </a:solidFill>
                <a:latin typeface="Arial" pitchFamily="34" charset="0"/>
                <a:ea typeface="Arial" pitchFamily="34" charset="-122"/>
                <a:cs typeface="Arial" pitchFamily="34" charset="-120"/>
              </a:rPr>
              <a:t>Cobertura / no aplicable</a:t>
            </a:r>
            <a:endParaRPr lang="en-US" sz="1900" dirty="0"/>
          </a:p>
        </p:txBody>
      </p:sp>
      <p:sp>
        <p:nvSpPr>
          <p:cNvPr id="14" name="Shape 11"/>
          <p:cNvSpPr/>
          <p:nvPr/>
        </p:nvSpPr>
        <p:spPr>
          <a:xfrm>
            <a:off x="4343400" y="1783080"/>
            <a:ext cx="3474720" cy="3520440"/>
          </a:xfrm>
          <a:prstGeom prst="rect">
            <a:avLst/>
          </a:prstGeom>
          <a:solidFill>
            <a:srgbClr val="FFFFFF"/>
          </a:solidFill>
          <a:ln w="8890">
            <a:solidFill>
              <a:srgbClr val="DEDEE2"/>
            </a:solidFill>
            <a:prstDash val="solid"/>
          </a:ln>
        </p:spPr>
      </p:sp>
      <p:sp>
        <p:nvSpPr>
          <p:cNvPr id="15" name="Shape 12"/>
          <p:cNvSpPr/>
          <p:nvPr/>
        </p:nvSpPr>
        <p:spPr>
          <a:xfrm>
            <a:off x="4343400" y="1783080"/>
            <a:ext cx="50292" cy="3520440"/>
          </a:xfrm>
          <a:prstGeom prst="rect">
            <a:avLst/>
          </a:prstGeom>
          <a:solidFill>
            <a:srgbClr val="A80000"/>
          </a:solidFill>
          <a:ln w="8890">
            <a:solidFill>
              <a:srgbClr val="A80000"/>
            </a:solidFill>
            <a:prstDash val="solid"/>
          </a:ln>
        </p:spPr>
      </p:sp>
      <p:sp>
        <p:nvSpPr>
          <p:cNvPr id="16" name="Text 13"/>
          <p:cNvSpPr/>
          <p:nvPr/>
        </p:nvSpPr>
        <p:spPr>
          <a:xfrm>
            <a:off x="4526280" y="1947672"/>
            <a:ext cx="3108960" cy="457200"/>
          </a:xfrm>
          <a:prstGeom prst="rect">
            <a:avLst/>
          </a:prstGeom>
          <a:noFill/>
          <a:ln/>
        </p:spPr>
        <p:txBody>
          <a:bodyPr wrap="square" lIns="0" tIns="0" rIns="0" bIns="0" rtlCol="0" anchor="t">
            <a:normAutofit/>
          </a:bodyPr>
          <a:lstStyle/>
          <a:p>
            <a:pPr indent="0" marL="0">
              <a:buNone/>
            </a:pPr>
            <a:r>
              <a:rPr lang="en-US" sz="2100" b="1" dirty="0">
                <a:solidFill>
                  <a:srgbClr val="242426"/>
                </a:solidFill>
                <a:latin typeface="Arial" pitchFamily="34" charset="0"/>
                <a:ea typeface="Arial" pitchFamily="34" charset="-122"/>
                <a:cs typeface="Arial" pitchFamily="34" charset="-120"/>
              </a:rPr>
              <a:t>Navegador</a:t>
            </a:r>
            <a:endParaRPr lang="en-US" sz="2100" dirty="0"/>
          </a:p>
        </p:txBody>
      </p:sp>
      <p:sp>
        <p:nvSpPr>
          <p:cNvPr id="17" name="Text 14"/>
          <p:cNvSpPr/>
          <p:nvPr/>
        </p:nvSpPr>
        <p:spPr>
          <a:xfrm>
            <a:off x="4526280" y="2587752"/>
            <a:ext cx="3108960" cy="2578608"/>
          </a:xfrm>
          <a:prstGeom prst="rect">
            <a:avLst/>
          </a:prstGeom>
          <a:noFill/>
          <a:ln/>
        </p:spPr>
        <p:txBody>
          <a:bodyPr wrap="square" lIns="0" tIns="0" rIns="0" bIns="0" rtlCol="0" anchor="t">
            <a:normAutofit/>
          </a:bodyPr>
          <a:lstStyle/>
          <a:p>
            <a:pPr indent="0" marL="0">
              <a:buNone/>
            </a:pPr>
            <a:r>
              <a:rPr lang="en-US" sz="1900" dirty="0">
                <a:solidFill>
                  <a:srgbClr val="626269"/>
                </a:solidFill>
                <a:latin typeface="Arial" pitchFamily="34" charset="0"/>
                <a:ea typeface="Arial" pitchFamily="34" charset="-122"/>
                <a:cs typeface="Arial" pitchFamily="34" charset="-120"/>
              </a:rPr>
              <a:t>Desktop y móvil</a:t>
            </a:r>
            <a:endParaRPr lang="en-US" sz="1900" dirty="0"/>
          </a:p>
          <a:p>
            <a:pPr indent="0" marL="0">
              <a:buNone/>
            </a:pPr>
            <a:r>
              <a:rPr lang="en-US" sz="1900" dirty="0">
                <a:solidFill>
                  <a:srgbClr val="626269"/>
                </a:solidFill>
                <a:latin typeface="Arial" pitchFamily="34" charset="0"/>
                <a:ea typeface="Arial" pitchFamily="34" charset="-122"/>
                <a:cs typeface="Arial" pitchFamily="34" charset="-120"/>
              </a:rPr>
              <a:t>Teclado y foco</a:t>
            </a:r>
            <a:endParaRPr lang="en-US" sz="1900" dirty="0"/>
          </a:p>
          <a:p>
            <a:pPr indent="0" marL="0">
              <a:buNone/>
            </a:pPr>
            <a:r>
              <a:rPr lang="en-US" sz="1900" dirty="0">
                <a:solidFill>
                  <a:srgbClr val="626269"/>
                </a:solidFill>
                <a:latin typeface="Arial" pitchFamily="34" charset="0"/>
                <a:ea typeface="Arial" pitchFamily="34" charset="-122"/>
                <a:cs typeface="Arial" pitchFamily="34" charset="-120"/>
              </a:rPr>
              <a:t>Panel de actividad</a:t>
            </a:r>
            <a:endParaRPr lang="en-US" sz="1900" dirty="0"/>
          </a:p>
          <a:p>
            <a:pPr indent="0" marL="0">
              <a:buNone/>
            </a:pPr>
            <a:r>
              <a:rPr lang="en-US" sz="1900" dirty="0">
                <a:solidFill>
                  <a:srgbClr val="626269"/>
                </a:solidFill>
                <a:latin typeface="Arial" pitchFamily="34" charset="0"/>
                <a:ea typeface="Arial" pitchFamily="34" charset="-122"/>
                <a:cs typeface="Arial" pitchFamily="34" charset="-120"/>
              </a:rPr>
              <a:t>Tarjetas estables</a:t>
            </a:r>
            <a:endParaRPr lang="en-US" sz="1900" dirty="0"/>
          </a:p>
          <a:p>
            <a:pPr indent="0" marL="0">
              <a:buNone/>
            </a:pPr>
            <a:r>
              <a:rPr lang="en-US" sz="1900" dirty="0">
                <a:solidFill>
                  <a:srgbClr val="626269"/>
                </a:solidFill>
                <a:latin typeface="Arial" pitchFamily="34" charset="0"/>
                <a:ea typeface="Arial" pitchFamily="34" charset="-122"/>
                <a:cs typeface="Arial" pitchFamily="34" charset="-120"/>
              </a:rPr>
              <a:t>Filtros y errores de guardado</a:t>
            </a:r>
            <a:endParaRPr lang="en-US" sz="1900" dirty="0"/>
          </a:p>
        </p:txBody>
      </p:sp>
      <p:sp>
        <p:nvSpPr>
          <p:cNvPr id="18" name="Shape 15"/>
          <p:cNvSpPr/>
          <p:nvPr/>
        </p:nvSpPr>
        <p:spPr>
          <a:xfrm>
            <a:off x="8092440" y="1783080"/>
            <a:ext cx="3474720" cy="3520440"/>
          </a:xfrm>
          <a:prstGeom prst="rect">
            <a:avLst/>
          </a:prstGeom>
          <a:solidFill>
            <a:srgbClr val="FFFFFF"/>
          </a:solidFill>
          <a:ln w="8890">
            <a:solidFill>
              <a:srgbClr val="DEDEE2"/>
            </a:solidFill>
            <a:prstDash val="solid"/>
          </a:ln>
        </p:spPr>
      </p:sp>
      <p:sp>
        <p:nvSpPr>
          <p:cNvPr id="19" name="Shape 16"/>
          <p:cNvSpPr/>
          <p:nvPr/>
        </p:nvSpPr>
        <p:spPr>
          <a:xfrm>
            <a:off x="8092440" y="1783080"/>
            <a:ext cx="50292" cy="3520440"/>
          </a:xfrm>
          <a:prstGeom prst="rect">
            <a:avLst/>
          </a:prstGeom>
          <a:solidFill>
            <a:srgbClr val="85520E"/>
          </a:solidFill>
          <a:ln w="8890">
            <a:solidFill>
              <a:srgbClr val="85520E"/>
            </a:solidFill>
            <a:prstDash val="solid"/>
          </a:ln>
        </p:spPr>
      </p:sp>
      <p:sp>
        <p:nvSpPr>
          <p:cNvPr id="20" name="Text 17"/>
          <p:cNvSpPr/>
          <p:nvPr/>
        </p:nvSpPr>
        <p:spPr>
          <a:xfrm>
            <a:off x="8275320" y="1947672"/>
            <a:ext cx="3108960" cy="457200"/>
          </a:xfrm>
          <a:prstGeom prst="rect">
            <a:avLst/>
          </a:prstGeom>
          <a:noFill/>
          <a:ln/>
        </p:spPr>
        <p:txBody>
          <a:bodyPr wrap="square" lIns="0" tIns="0" rIns="0" bIns="0" rtlCol="0" anchor="t">
            <a:normAutofit/>
          </a:bodyPr>
          <a:lstStyle/>
          <a:p>
            <a:pPr indent="0" marL="0">
              <a:buNone/>
            </a:pPr>
            <a:r>
              <a:rPr lang="en-US" sz="2100" b="1" dirty="0">
                <a:solidFill>
                  <a:srgbClr val="242426"/>
                </a:solidFill>
                <a:latin typeface="Arial" pitchFamily="34" charset="0"/>
                <a:ea typeface="Arial" pitchFamily="34" charset="-122"/>
                <a:cs typeface="Arial" pitchFamily="34" charset="-120"/>
              </a:rPr>
              <a:t>Integración real</a:t>
            </a:r>
            <a:endParaRPr lang="en-US" sz="2100" dirty="0"/>
          </a:p>
        </p:txBody>
      </p:sp>
      <p:sp>
        <p:nvSpPr>
          <p:cNvPr id="21" name="Text 18"/>
          <p:cNvSpPr/>
          <p:nvPr/>
        </p:nvSpPr>
        <p:spPr>
          <a:xfrm>
            <a:off x="8275320" y="2587752"/>
            <a:ext cx="3108960" cy="2578608"/>
          </a:xfrm>
          <a:prstGeom prst="rect">
            <a:avLst/>
          </a:prstGeom>
          <a:noFill/>
          <a:ln/>
        </p:spPr>
        <p:txBody>
          <a:bodyPr wrap="square" lIns="0" tIns="0" rIns="0" bIns="0" rtlCol="0" anchor="t">
            <a:normAutofit/>
          </a:bodyPr>
          <a:lstStyle/>
          <a:p>
            <a:pPr indent="0" marL="0">
              <a:buNone/>
            </a:pPr>
            <a:r>
              <a:rPr lang="en-US" sz="1900" dirty="0">
                <a:solidFill>
                  <a:srgbClr val="626269"/>
                </a:solidFill>
                <a:latin typeface="Arial" pitchFamily="34" charset="0"/>
                <a:ea typeface="Arial" pitchFamily="34" charset="-122"/>
                <a:cs typeface="Arial" pitchFamily="34" charset="-120"/>
              </a:rPr>
              <a:t>Corrida de 8 categorías</a:t>
            </a:r>
            <a:endParaRPr lang="en-US" sz="1900" dirty="0"/>
          </a:p>
          <a:p>
            <a:pPr indent="0" marL="0">
              <a:buNone/>
            </a:pPr>
            <a:r>
              <a:rPr lang="en-US" sz="1900" dirty="0">
                <a:solidFill>
                  <a:srgbClr val="626269"/>
                </a:solidFill>
                <a:latin typeface="Arial" pitchFamily="34" charset="0"/>
                <a:ea typeface="Arial" pitchFamily="34" charset="-122"/>
                <a:cs typeface="Arial" pitchFamily="34" charset="-120"/>
              </a:rPr>
              <a:t>Evidencias inspeccionadas</a:t>
            </a:r>
            <a:endParaRPr lang="en-US" sz="1900" dirty="0"/>
          </a:p>
          <a:p>
            <a:pPr indent="0" marL="0">
              <a:buNone/>
            </a:pPr>
            <a:r>
              <a:rPr lang="en-US" sz="1900" dirty="0">
                <a:solidFill>
                  <a:srgbClr val="626269"/>
                </a:solidFill>
                <a:latin typeface="Arial" pitchFamily="34" charset="0"/>
                <a:ea typeface="Arial" pitchFamily="34" charset="-122"/>
                <a:cs typeface="Arial" pitchFamily="34" charset="-120"/>
              </a:rPr>
              <a:t>Ejemplos de texto y medios</a:t>
            </a:r>
            <a:endParaRPr lang="en-US" sz="1900" dirty="0"/>
          </a:p>
          <a:p>
            <a:pPr indent="0" marL="0">
              <a:buNone/>
            </a:pPr>
            <a:endParaRPr lang="en-US" sz="1900" dirty="0"/>
          </a:p>
          <a:p>
            <a:pPr indent="0" marL="0">
              <a:buNone/>
            </a:pPr>
            <a:r>
              <a:rPr lang="en-US" sz="1900" dirty="0">
                <a:solidFill>
                  <a:srgbClr val="626269"/>
                </a:solidFill>
                <a:latin typeface="Arial" pitchFamily="34" charset="0"/>
                <a:ea typeface="Arial" pitchFamily="34" charset="-122"/>
                <a:cs typeface="Arial" pitchFamily="34" charset="-120"/>
              </a:rPr>
              <a:t>Pendiente: benchmark de calidad</a:t>
            </a:r>
            <a:endParaRPr lang="en-US" sz="1900" dirty="0"/>
          </a:p>
        </p:txBody>
      </p:sp>
      <p:sp>
        <p:nvSpPr>
          <p:cNvPr id="22" name="Shape 19"/>
          <p:cNvSpPr/>
          <p:nvPr/>
        </p:nvSpPr>
        <p:spPr>
          <a:xfrm>
            <a:off x="594360" y="5760720"/>
            <a:ext cx="10972800" cy="438912"/>
          </a:xfrm>
          <a:prstGeom prst="rect">
            <a:avLst/>
          </a:prstGeom>
          <a:solidFill>
            <a:srgbClr val="151515"/>
          </a:solidFill>
          <a:ln w="8890">
            <a:solidFill>
              <a:srgbClr val="151515"/>
            </a:solidFill>
            <a:prstDash val="solid"/>
          </a:ln>
        </p:spPr>
      </p:sp>
      <p:sp>
        <p:nvSpPr>
          <p:cNvPr id="23" name="Text 20"/>
          <p:cNvSpPr/>
          <p:nvPr/>
        </p:nvSpPr>
        <p:spPr>
          <a:xfrm>
            <a:off x="777240" y="5852160"/>
            <a:ext cx="10607040" cy="274320"/>
          </a:xfrm>
          <a:prstGeom prst="rect">
            <a:avLst/>
          </a:prstGeom>
          <a:noFill/>
          <a:ln/>
        </p:spPr>
        <p:txBody>
          <a:bodyPr wrap="square" lIns="0" tIns="0" rIns="0" bIns="0" rtlCol="0" anchor="t">
            <a:normAutofit/>
          </a:bodyPr>
          <a:lstStyle/>
          <a:p>
            <a:pPr indent="0" marL="0">
              <a:buNone/>
            </a:pPr>
            <a:r>
              <a:rPr lang="en-US" sz="1500" b="1" dirty="0">
                <a:solidFill>
                  <a:srgbClr val="FFFFFF"/>
                </a:solidFill>
                <a:latin typeface="Arial" pitchFamily="34" charset="0"/>
                <a:ea typeface="Arial" pitchFamily="34" charset="-122"/>
                <a:cs typeface="Arial" pitchFamily="34" charset="-120"/>
              </a:rPr>
              <a:t>Validación técnica ≠ exactitud semántica. Hace falta evaluación humana sistemática.</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4F5"/>
        </a:solidFill>
      </p:bgPr>
    </p:bg>
    <p:spTree>
      <p:nvGrpSpPr>
        <p:cNvPr id="1" name=""/>
        <p:cNvGrpSpPr/>
        <p:nvPr/>
      </p:nvGrpSpPr>
      <p:grpSpPr>
        <a:xfrm>
          <a:off x="0" y="0"/>
          <a:ext cx="0" cy="0"/>
          <a:chOff x="0" y="0"/>
          <a:chExt cx="0" cy="0"/>
        </a:xfrm>
      </p:grpSpPr>
      <p:sp>
        <p:nvSpPr>
          <p:cNvPr id="2" name="Shape 0"/>
          <p:cNvSpPr/>
          <p:nvPr/>
        </p:nvSpPr>
        <p:spPr>
          <a:xfrm>
            <a:off x="0" y="0"/>
            <a:ext cx="12192000" cy="68580"/>
          </a:xfrm>
          <a:prstGeom prst="rect">
            <a:avLst/>
          </a:prstGeom>
          <a:solidFill>
            <a:srgbClr val="A80000"/>
          </a:solidFill>
          <a:ln w="8890">
            <a:solidFill>
              <a:srgbClr val="A80000"/>
            </a:solidFill>
            <a:prstDash val="solid"/>
          </a:ln>
        </p:spPr>
      </p:sp>
      <p:sp>
        <p:nvSpPr>
          <p:cNvPr id="3" name="Text 1"/>
          <p:cNvSpPr/>
          <p:nvPr/>
        </p:nvSpPr>
        <p:spPr>
          <a:xfrm>
            <a:off x="594360" y="274320"/>
            <a:ext cx="10058400" cy="219456"/>
          </a:xfrm>
          <a:prstGeom prst="rect">
            <a:avLst/>
          </a:prstGeom>
          <a:noFill/>
          <a:ln/>
        </p:spPr>
        <p:txBody>
          <a:bodyPr wrap="square" lIns="0" tIns="0" rIns="0" bIns="0" rtlCol="0" anchor="t">
            <a:normAutofit/>
          </a:bodyPr>
          <a:lstStyle/>
          <a:p>
            <a:pPr indent="0" marL="0">
              <a:buNone/>
            </a:pPr>
            <a:r>
              <a:rPr lang="en-US" sz="1000" b="1" dirty="0">
                <a:solidFill>
                  <a:srgbClr val="A80000"/>
                </a:solidFill>
                <a:latin typeface="Arial" pitchFamily="34" charset="0"/>
                <a:ea typeface="Arial" pitchFamily="34" charset="-122"/>
                <a:cs typeface="Arial" pitchFamily="34" charset="-120"/>
              </a:rPr>
              <a:t>OPERACIÓN</a:t>
            </a:r>
            <a:endParaRPr lang="en-US" sz="1000" dirty="0"/>
          </a:p>
        </p:txBody>
      </p:sp>
      <p:sp>
        <p:nvSpPr>
          <p:cNvPr id="4" name="Text 2"/>
          <p:cNvSpPr/>
          <p:nvPr/>
        </p:nvSpPr>
        <p:spPr>
          <a:xfrm>
            <a:off x="594360" y="667512"/>
            <a:ext cx="10972800" cy="594360"/>
          </a:xfrm>
          <a:prstGeom prst="rect">
            <a:avLst/>
          </a:prstGeom>
          <a:noFill/>
          <a:ln/>
        </p:spPr>
        <p:txBody>
          <a:bodyPr wrap="square" lIns="0" tIns="0" rIns="0" bIns="0" rtlCol="0" anchor="t">
            <a:normAutofit/>
          </a:bodyPr>
          <a:lstStyle/>
          <a:p>
            <a:pPr indent="0" marL="0">
              <a:buNone/>
            </a:pPr>
            <a:r>
              <a:rPr lang="en-US" sz="3000" b="1" dirty="0">
                <a:solidFill>
                  <a:srgbClr val="242426"/>
                </a:solidFill>
                <a:latin typeface="Arial" pitchFamily="34" charset="0"/>
                <a:ea typeface="Arial" pitchFamily="34" charset="-122"/>
                <a:cs typeface="Arial" pitchFamily="34" charset="-120"/>
              </a:rPr>
              <a:t>Cómo se ejecuta y configura</a:t>
            </a:r>
            <a:endParaRPr lang="en-US" sz="3000" dirty="0"/>
          </a:p>
        </p:txBody>
      </p:sp>
      <p:sp>
        <p:nvSpPr>
          <p:cNvPr id="5" name="Shape 3"/>
          <p:cNvSpPr/>
          <p:nvPr/>
        </p:nvSpPr>
        <p:spPr>
          <a:xfrm>
            <a:off x="594360" y="6428232"/>
            <a:ext cx="10972800" cy="0"/>
          </a:xfrm>
          <a:prstGeom prst="line">
            <a:avLst/>
          </a:prstGeom>
          <a:noFill/>
          <a:ln w="17780">
            <a:solidFill>
              <a:srgbClr val="DEDEE2"/>
            </a:solidFill>
            <a:prstDash val="solid"/>
          </a:ln>
        </p:spPr>
      </p:sp>
      <p:sp>
        <p:nvSpPr>
          <p:cNvPr id="6" name="Text 4"/>
          <p:cNvSpPr/>
          <p:nvPr/>
        </p:nvSpPr>
        <p:spPr>
          <a:xfrm>
            <a:off x="594360" y="6547104"/>
            <a:ext cx="3749040" cy="164592"/>
          </a:xfrm>
          <a:prstGeom prst="rect">
            <a:avLst/>
          </a:prstGeom>
          <a:noFill/>
          <a:ln/>
        </p:spPr>
        <p:txBody>
          <a:bodyPr wrap="square" lIns="0" tIns="0" rIns="0" bIns="0" rtlCol="0" anchor="t">
            <a:normAutofit/>
          </a:bodyPr>
          <a:lstStyle/>
          <a:p>
            <a:pPr indent="0" marL="0">
              <a:buNone/>
            </a:pPr>
            <a:r>
              <a:rPr lang="en-US" sz="900" dirty="0">
                <a:solidFill>
                  <a:srgbClr val="626269"/>
                </a:solidFill>
                <a:latin typeface="Arial" pitchFamily="34" charset="0"/>
                <a:ea typeface="Arial" pitchFamily="34" charset="-122"/>
                <a:cs typeface="Arial" pitchFamily="34" charset="-120"/>
              </a:rPr>
              <a:t>SKYNET · 15 OCT 2026 · PRELIMINAR</a:t>
            </a:r>
            <a:endParaRPr lang="en-US" sz="900" dirty="0"/>
          </a:p>
        </p:txBody>
      </p:sp>
      <p:sp>
        <p:nvSpPr>
          <p:cNvPr id="7" name="Text 5"/>
          <p:cNvSpPr/>
          <p:nvPr/>
        </p:nvSpPr>
        <p:spPr>
          <a:xfrm>
            <a:off x="3931920" y="6547104"/>
            <a:ext cx="7178040" cy="164592"/>
          </a:xfrm>
          <a:prstGeom prst="rect">
            <a:avLst/>
          </a:prstGeom>
          <a:noFill/>
          <a:ln/>
        </p:spPr>
        <p:txBody>
          <a:bodyPr wrap="square" lIns="0" tIns="0" rIns="0" bIns="0" rtlCol="0" anchor="t">
            <a:normAutofit/>
          </a:bodyPr>
          <a:lstStyle/>
          <a:p>
            <a:pPr algn="r" indent="0" marL="0">
              <a:buNone/>
            </a:pPr>
            <a:r>
              <a:rPr lang="en-US" sz="850" dirty="0">
                <a:solidFill>
                  <a:srgbClr val="626269"/>
                </a:solidFill>
                <a:latin typeface="Arial" pitchFamily="34" charset="0"/>
                <a:ea typeface="Arial" pitchFamily="34" charset="-122"/>
                <a:cs typeface="Arial" pitchFamily="34" charset="-120"/>
              </a:rPr>
              <a:t>platform-template/README.md; docker-compose.yml; .env.example</a:t>
            </a:r>
            <a:endParaRPr lang="en-US" sz="850" dirty="0"/>
          </a:p>
        </p:txBody>
      </p:sp>
      <p:sp>
        <p:nvSpPr>
          <p:cNvPr id="8" name="Text 6"/>
          <p:cNvSpPr/>
          <p:nvPr/>
        </p:nvSpPr>
        <p:spPr>
          <a:xfrm>
            <a:off x="11292840" y="6510528"/>
            <a:ext cx="320040" cy="228600"/>
          </a:xfrm>
          <a:prstGeom prst="rect">
            <a:avLst/>
          </a:prstGeom>
          <a:noFill/>
          <a:ln/>
        </p:spPr>
        <p:txBody>
          <a:bodyPr wrap="square" lIns="0" tIns="0" rIns="0" bIns="0" rtlCol="0" anchor="t">
            <a:normAutofit/>
          </a:bodyPr>
          <a:lstStyle/>
          <a:p>
            <a:pPr algn="r" indent="0" marL="0">
              <a:buNone/>
            </a:pPr>
            <a:r>
              <a:rPr lang="en-US" sz="1100" b="1" dirty="0">
                <a:solidFill>
                  <a:srgbClr val="A80000"/>
                </a:solidFill>
                <a:latin typeface="Arial" pitchFamily="34" charset="0"/>
                <a:ea typeface="Arial" pitchFamily="34" charset="-122"/>
                <a:cs typeface="Arial" pitchFamily="34" charset="-120"/>
              </a:rPr>
              <a:t>17</a:t>
            </a:r>
            <a:endParaRPr lang="en-US" sz="1100" dirty="0"/>
          </a:p>
        </p:txBody>
      </p:sp>
      <p:sp>
        <p:nvSpPr>
          <p:cNvPr id="10" name="Shape 7"/>
          <p:cNvSpPr/>
          <p:nvPr/>
        </p:nvSpPr>
        <p:spPr>
          <a:xfrm>
            <a:off x="594360" y="1783080"/>
            <a:ext cx="5349240" cy="2011680"/>
          </a:xfrm>
          <a:prstGeom prst="rect">
            <a:avLst/>
          </a:prstGeom>
          <a:solidFill>
            <a:srgbClr val="FFFFFF"/>
          </a:solidFill>
          <a:ln w="8890">
            <a:solidFill>
              <a:srgbClr val="DEDEE2"/>
            </a:solidFill>
            <a:prstDash val="solid"/>
          </a:ln>
        </p:spPr>
      </p:sp>
      <p:sp>
        <p:nvSpPr>
          <p:cNvPr id="11" name="Shape 8"/>
          <p:cNvSpPr/>
          <p:nvPr/>
        </p:nvSpPr>
        <p:spPr>
          <a:xfrm>
            <a:off x="594360" y="1783080"/>
            <a:ext cx="50292" cy="2011680"/>
          </a:xfrm>
          <a:prstGeom prst="rect">
            <a:avLst/>
          </a:prstGeom>
          <a:solidFill>
            <a:srgbClr val="A80000"/>
          </a:solidFill>
          <a:ln w="8890">
            <a:solidFill>
              <a:srgbClr val="A80000"/>
            </a:solidFill>
            <a:prstDash val="solid"/>
          </a:ln>
        </p:spPr>
      </p:sp>
      <p:sp>
        <p:nvSpPr>
          <p:cNvPr id="12" name="Text 9"/>
          <p:cNvSpPr/>
          <p:nvPr/>
        </p:nvSpPr>
        <p:spPr>
          <a:xfrm>
            <a:off x="777240" y="1947672"/>
            <a:ext cx="4983480" cy="457200"/>
          </a:xfrm>
          <a:prstGeom prst="rect">
            <a:avLst/>
          </a:prstGeom>
          <a:noFill/>
          <a:ln/>
        </p:spPr>
        <p:txBody>
          <a:bodyPr wrap="square" lIns="0" tIns="0" rIns="0" bIns="0" rtlCol="0" anchor="t">
            <a:normAutofit/>
          </a:bodyPr>
          <a:lstStyle/>
          <a:p>
            <a:pPr indent="0" marL="0">
              <a:buNone/>
            </a:pPr>
            <a:r>
              <a:rPr lang="en-US" sz="2100" b="1" dirty="0">
                <a:solidFill>
                  <a:srgbClr val="242426"/>
                </a:solidFill>
                <a:latin typeface="Arial" pitchFamily="34" charset="0"/>
                <a:ea typeface="Arial" pitchFamily="34" charset="-122"/>
                <a:cs typeface="Arial" pitchFamily="34" charset="-120"/>
              </a:rPr>
              <a:t>Desarrollo local</a:t>
            </a:r>
            <a:endParaRPr lang="en-US" sz="2100" dirty="0"/>
          </a:p>
        </p:txBody>
      </p:sp>
      <p:sp>
        <p:nvSpPr>
          <p:cNvPr id="13" name="Text 10"/>
          <p:cNvSpPr/>
          <p:nvPr/>
        </p:nvSpPr>
        <p:spPr>
          <a:xfrm>
            <a:off x="777240" y="2587752"/>
            <a:ext cx="4983480" cy="1069848"/>
          </a:xfrm>
          <a:prstGeom prst="rect">
            <a:avLst/>
          </a:prstGeom>
          <a:noFill/>
          <a:ln/>
        </p:spPr>
        <p:txBody>
          <a:bodyPr wrap="square" lIns="0" tIns="0" rIns="0" bIns="0" rtlCol="0" anchor="t">
            <a:normAutofit/>
          </a:bodyPr>
          <a:lstStyle/>
          <a:p>
            <a:pPr indent="0" marL="0">
              <a:buNone/>
            </a:pPr>
            <a:r>
              <a:rPr lang="en-US" sz="2100" dirty="0">
                <a:solidFill>
                  <a:srgbClr val="626269"/>
                </a:solidFill>
                <a:latin typeface="Arial" pitchFamily="34" charset="0"/>
                <a:ea typeface="Arial" pitchFamily="34" charset="-122"/>
                <a:cs typeface="Arial" pitchFamily="34" charset="-120"/>
              </a:rPr>
              <a:t>cd platform-template</a:t>
            </a:r>
            <a:endParaRPr lang="en-US" sz="2100" dirty="0"/>
          </a:p>
          <a:p>
            <a:pPr indent="0" marL="0">
              <a:buNone/>
            </a:pPr>
            <a:r>
              <a:rPr lang="en-US" sz="2100" dirty="0">
                <a:solidFill>
                  <a:srgbClr val="626269"/>
                </a:solidFill>
                <a:latin typeface="Arial" pitchFamily="34" charset="0"/>
                <a:ea typeface="Arial" pitchFamily="34" charset="-122"/>
                <a:cs typeface="Arial" pitchFamily="34" charset="-120"/>
              </a:rPr>
              <a:t>npm install</a:t>
            </a:r>
            <a:endParaRPr lang="en-US" sz="2100" dirty="0"/>
          </a:p>
          <a:p>
            <a:pPr indent="0" marL="0">
              <a:buNone/>
            </a:pPr>
            <a:r>
              <a:rPr lang="en-US" sz="2100" dirty="0">
                <a:solidFill>
                  <a:srgbClr val="626269"/>
                </a:solidFill>
                <a:latin typeface="Arial" pitchFamily="34" charset="0"/>
                <a:ea typeface="Arial" pitchFamily="34" charset="-122"/>
                <a:cs typeface="Arial" pitchFamily="34" charset="-120"/>
              </a:rPr>
              <a:t>npm run dev</a:t>
            </a:r>
            <a:endParaRPr lang="en-US" sz="2100" dirty="0"/>
          </a:p>
        </p:txBody>
      </p:sp>
      <p:sp>
        <p:nvSpPr>
          <p:cNvPr id="14" name="Shape 11"/>
          <p:cNvSpPr/>
          <p:nvPr/>
        </p:nvSpPr>
        <p:spPr>
          <a:xfrm>
            <a:off x="594360" y="4023360"/>
            <a:ext cx="5349240" cy="1463040"/>
          </a:xfrm>
          <a:prstGeom prst="rect">
            <a:avLst/>
          </a:prstGeom>
          <a:solidFill>
            <a:srgbClr val="FFFFFF"/>
          </a:solidFill>
          <a:ln w="8890">
            <a:solidFill>
              <a:srgbClr val="DEDEE2"/>
            </a:solidFill>
            <a:prstDash val="solid"/>
          </a:ln>
        </p:spPr>
      </p:sp>
      <p:sp>
        <p:nvSpPr>
          <p:cNvPr id="15" name="Shape 12"/>
          <p:cNvSpPr/>
          <p:nvPr/>
        </p:nvSpPr>
        <p:spPr>
          <a:xfrm>
            <a:off x="594360" y="4023360"/>
            <a:ext cx="50292" cy="1463040"/>
          </a:xfrm>
          <a:prstGeom prst="rect">
            <a:avLst/>
          </a:prstGeom>
          <a:solidFill>
            <a:srgbClr val="85520E"/>
          </a:solidFill>
          <a:ln w="8890">
            <a:solidFill>
              <a:srgbClr val="85520E"/>
            </a:solidFill>
            <a:prstDash val="solid"/>
          </a:ln>
        </p:spPr>
      </p:sp>
      <p:sp>
        <p:nvSpPr>
          <p:cNvPr id="16" name="Text 13"/>
          <p:cNvSpPr/>
          <p:nvPr/>
        </p:nvSpPr>
        <p:spPr>
          <a:xfrm>
            <a:off x="777240" y="4187952"/>
            <a:ext cx="4983480" cy="457200"/>
          </a:xfrm>
          <a:prstGeom prst="rect">
            <a:avLst/>
          </a:prstGeom>
          <a:noFill/>
          <a:ln/>
        </p:spPr>
        <p:txBody>
          <a:bodyPr wrap="square" lIns="0" tIns="0" rIns="0" bIns="0" rtlCol="0" anchor="t">
            <a:normAutofit/>
          </a:bodyPr>
          <a:lstStyle/>
          <a:p>
            <a:pPr indent="0" marL="0">
              <a:buNone/>
            </a:pPr>
            <a:r>
              <a:rPr lang="en-US" sz="2100" b="1" dirty="0">
                <a:solidFill>
                  <a:srgbClr val="242426"/>
                </a:solidFill>
                <a:latin typeface="Arial" pitchFamily="34" charset="0"/>
                <a:ea typeface="Arial" pitchFamily="34" charset="-122"/>
                <a:cs typeface="Arial" pitchFamily="34" charset="-120"/>
              </a:rPr>
              <a:t>Docker Compose</a:t>
            </a:r>
            <a:endParaRPr lang="en-US" sz="2100" dirty="0"/>
          </a:p>
        </p:txBody>
      </p:sp>
      <p:sp>
        <p:nvSpPr>
          <p:cNvPr id="17" name="Text 14"/>
          <p:cNvSpPr/>
          <p:nvPr/>
        </p:nvSpPr>
        <p:spPr>
          <a:xfrm>
            <a:off x="777240" y="4828032"/>
            <a:ext cx="4983480" cy="521208"/>
          </a:xfrm>
          <a:prstGeom prst="rect">
            <a:avLst/>
          </a:prstGeom>
          <a:noFill/>
          <a:ln/>
        </p:spPr>
        <p:txBody>
          <a:bodyPr wrap="square" lIns="0" tIns="0" rIns="0" bIns="0" rtlCol="0" anchor="t">
            <a:normAutofit/>
          </a:bodyPr>
          <a:lstStyle/>
          <a:p>
            <a:pPr indent="0" marL="0">
              <a:buNone/>
            </a:pPr>
            <a:r>
              <a:rPr lang="en-US" sz="1700" dirty="0">
                <a:solidFill>
                  <a:srgbClr val="626269"/>
                </a:solidFill>
                <a:latin typeface="Arial" pitchFamily="34" charset="0"/>
                <a:ea typeface="Arial" pitchFamily="34" charset="-122"/>
                <a:cs typeface="Arial" pitchFamily="34" charset="-120"/>
              </a:rPr>
              <a:t>docker compose up --build</a:t>
            </a:r>
            <a:endParaRPr lang="en-US" sz="1700" dirty="0"/>
          </a:p>
          <a:p>
            <a:pPr indent="0" marL="0">
              <a:buNone/>
            </a:pPr>
            <a:r>
              <a:rPr lang="en-US" sz="1700" dirty="0">
                <a:solidFill>
                  <a:srgbClr val="626269"/>
                </a:solidFill>
                <a:latin typeface="Arial" pitchFamily="34" charset="0"/>
                <a:ea typeface="Arial" pitchFamily="34" charset="-122"/>
                <a:cs typeface="Arial" pitchFamily="34" charset="-120"/>
              </a:rPr>
              <a:t>Configurado; validación integral pendiente.</a:t>
            </a:r>
            <a:endParaRPr lang="en-US" sz="1700" dirty="0"/>
          </a:p>
        </p:txBody>
      </p:sp>
      <p:sp>
        <p:nvSpPr>
          <p:cNvPr id="18" name="Shape 15"/>
          <p:cNvSpPr/>
          <p:nvPr/>
        </p:nvSpPr>
        <p:spPr>
          <a:xfrm>
            <a:off x="6217920" y="1783080"/>
            <a:ext cx="5349240" cy="3703320"/>
          </a:xfrm>
          <a:prstGeom prst="rect">
            <a:avLst/>
          </a:prstGeom>
          <a:solidFill>
            <a:srgbClr val="FFFFFF"/>
          </a:solidFill>
          <a:ln w="8890">
            <a:solidFill>
              <a:srgbClr val="DEDEE2"/>
            </a:solidFill>
            <a:prstDash val="solid"/>
          </a:ln>
        </p:spPr>
      </p:sp>
      <p:sp>
        <p:nvSpPr>
          <p:cNvPr id="19" name="Shape 16"/>
          <p:cNvSpPr/>
          <p:nvPr/>
        </p:nvSpPr>
        <p:spPr>
          <a:xfrm>
            <a:off x="6217920" y="1783080"/>
            <a:ext cx="50292" cy="3703320"/>
          </a:xfrm>
          <a:prstGeom prst="rect">
            <a:avLst/>
          </a:prstGeom>
          <a:solidFill>
            <a:srgbClr val="A80000"/>
          </a:solidFill>
          <a:ln w="8890">
            <a:solidFill>
              <a:srgbClr val="A80000"/>
            </a:solidFill>
            <a:prstDash val="solid"/>
          </a:ln>
        </p:spPr>
      </p:sp>
      <p:sp>
        <p:nvSpPr>
          <p:cNvPr id="20" name="Text 17"/>
          <p:cNvSpPr/>
          <p:nvPr/>
        </p:nvSpPr>
        <p:spPr>
          <a:xfrm>
            <a:off x="6400800" y="1947672"/>
            <a:ext cx="4983480" cy="457200"/>
          </a:xfrm>
          <a:prstGeom prst="rect">
            <a:avLst/>
          </a:prstGeom>
          <a:noFill/>
          <a:ln/>
        </p:spPr>
        <p:txBody>
          <a:bodyPr wrap="square" lIns="0" tIns="0" rIns="0" bIns="0" rtlCol="0" anchor="t">
            <a:normAutofit/>
          </a:bodyPr>
          <a:lstStyle/>
          <a:p>
            <a:pPr indent="0" marL="0">
              <a:buNone/>
            </a:pPr>
            <a:r>
              <a:rPr lang="en-US" sz="2100" b="1" dirty="0">
                <a:solidFill>
                  <a:srgbClr val="242426"/>
                </a:solidFill>
                <a:latin typeface="Arial" pitchFamily="34" charset="0"/>
                <a:ea typeface="Arial" pitchFamily="34" charset="-122"/>
                <a:cs typeface="Arial" pitchFamily="34" charset="-120"/>
              </a:rPr>
              <a:t>Variables principales</a:t>
            </a:r>
            <a:endParaRPr lang="en-US" sz="2100" dirty="0"/>
          </a:p>
        </p:txBody>
      </p:sp>
      <p:sp>
        <p:nvSpPr>
          <p:cNvPr id="21" name="Text 18"/>
          <p:cNvSpPr/>
          <p:nvPr/>
        </p:nvSpPr>
        <p:spPr>
          <a:xfrm>
            <a:off x="6400800" y="2587752"/>
            <a:ext cx="4983480" cy="2761488"/>
          </a:xfrm>
          <a:prstGeom prst="rect">
            <a:avLst/>
          </a:prstGeom>
          <a:noFill/>
          <a:ln/>
        </p:spPr>
        <p:txBody>
          <a:bodyPr wrap="square" lIns="0" tIns="0" rIns="0" bIns="0" rtlCol="0" anchor="t">
            <a:normAutofit/>
          </a:bodyPr>
          <a:lstStyle/>
          <a:p>
            <a:pPr indent="0" marL="0">
              <a:buNone/>
            </a:pPr>
            <a:r>
              <a:rPr lang="en-US" sz="1800" dirty="0">
                <a:solidFill>
                  <a:srgbClr val="626269"/>
                </a:solidFill>
                <a:latin typeface="Arial" pitchFamily="34" charset="0"/>
                <a:ea typeface="Arial" pitchFamily="34" charset="-122"/>
                <a:cs typeface="Arial" pitchFamily="34" charset="-120"/>
              </a:rPr>
              <a:t>SITE_URL</a:t>
            </a:r>
            <a:endParaRPr lang="en-US" sz="1800" dirty="0"/>
          </a:p>
          <a:p>
            <a:pPr indent="0" marL="0">
              <a:buNone/>
            </a:pPr>
            <a:r>
              <a:rPr lang="en-US" sz="1800" dirty="0">
                <a:solidFill>
                  <a:srgbClr val="626269"/>
                </a:solidFill>
                <a:latin typeface="Arial" pitchFamily="34" charset="0"/>
                <a:ea typeface="Arial" pitchFamily="34" charset="-122"/>
                <a:cs typeface="Arial" pitchFamily="34" charset="-120"/>
              </a:rPr>
              <a:t>LINGUISTIC_ASSET_PATH</a:t>
            </a:r>
            <a:endParaRPr lang="en-US" sz="1800" dirty="0"/>
          </a:p>
          <a:p>
            <a:pPr indent="0" marL="0">
              <a:buNone/>
            </a:pPr>
            <a:r>
              <a:rPr lang="en-US" sz="1800" dirty="0">
                <a:solidFill>
                  <a:srgbClr val="626269"/>
                </a:solidFill>
                <a:latin typeface="Arial" pitchFamily="34" charset="0"/>
                <a:ea typeface="Arial" pitchFamily="34" charset="-122"/>
                <a:cs typeface="Arial" pitchFamily="34" charset="-120"/>
              </a:rPr>
              <a:t>REFERENCE_CONTENT_PATH</a:t>
            </a:r>
            <a:endParaRPr lang="en-US" sz="1800" dirty="0"/>
          </a:p>
          <a:p>
            <a:pPr indent="0" marL="0">
              <a:buNone/>
            </a:pPr>
            <a:r>
              <a:rPr lang="en-US" sz="1800" dirty="0">
                <a:solidFill>
                  <a:srgbClr val="626269"/>
                </a:solidFill>
                <a:latin typeface="Arial" pitchFamily="34" charset="0"/>
                <a:ea typeface="Arial" pitchFamily="34" charset="-122"/>
                <a:cs typeface="Arial" pitchFamily="34" charset="-120"/>
              </a:rPr>
              <a:t>ISSUE_SCHEMA_PATH</a:t>
            </a:r>
            <a:endParaRPr lang="en-US" sz="1800" dirty="0"/>
          </a:p>
          <a:p>
            <a:pPr indent="0" marL="0">
              <a:buNone/>
            </a:pPr>
            <a:r>
              <a:rPr lang="en-US" sz="1800" dirty="0">
                <a:solidFill>
                  <a:srgbClr val="626269"/>
                </a:solidFill>
                <a:latin typeface="Arial" pitchFamily="34" charset="0"/>
                <a:ea typeface="Arial" pitchFamily="34" charset="-122"/>
                <a:cs typeface="Arial" pitchFamily="34" charset="-120"/>
              </a:rPr>
              <a:t>OPENAI_API_KEY / OPENAI_MODEL</a:t>
            </a:r>
            <a:endParaRPr lang="en-US" sz="1800" dirty="0"/>
          </a:p>
          <a:p>
            <a:pPr indent="0" marL="0">
              <a:buNone/>
            </a:pPr>
            <a:r>
              <a:rPr lang="en-US" sz="1800" dirty="0">
                <a:solidFill>
                  <a:srgbClr val="626269"/>
                </a:solidFill>
                <a:latin typeface="Arial" pitchFamily="34" charset="0"/>
                <a:ea typeface="Arial" pitchFamily="34" charset="-122"/>
                <a:cs typeface="Arial" pitchFamily="34" charset="-120"/>
              </a:rPr>
              <a:t>Tarifas opcionales para estimar costos</a:t>
            </a:r>
            <a:endParaRPr lang="en-US" sz="1800" dirty="0"/>
          </a:p>
        </p:txBody>
      </p:sp>
      <p:sp>
        <p:nvSpPr>
          <p:cNvPr id="22" name="Text 19"/>
          <p:cNvSpPr/>
          <p:nvPr/>
        </p:nvSpPr>
        <p:spPr>
          <a:xfrm>
            <a:off x="594360" y="5870448"/>
            <a:ext cx="10972800" cy="320040"/>
          </a:xfrm>
          <a:prstGeom prst="rect">
            <a:avLst/>
          </a:prstGeom>
          <a:noFill/>
          <a:ln/>
        </p:spPr>
        <p:txBody>
          <a:bodyPr wrap="square" lIns="0" tIns="0" rIns="0" bIns="0" rtlCol="0" anchor="t">
            <a:normAutofit/>
          </a:bodyPr>
          <a:lstStyle/>
          <a:p>
            <a:pPr indent="0" marL="0">
              <a:buNone/>
            </a:pPr>
            <a:r>
              <a:rPr lang="en-US" sz="1600" dirty="0">
                <a:solidFill>
                  <a:srgbClr val="626269"/>
                </a:solidFill>
                <a:latin typeface="Arial" pitchFamily="34" charset="0"/>
                <a:ea typeface="Arial" pitchFamily="34" charset="-122"/>
                <a:cs typeface="Arial" pitchFamily="34" charset="-120"/>
              </a:rPr>
              <a:t>API key en backend. Los inputs montados se leen; el contenido del sitio no se modifica.</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4F5"/>
        </a:solidFill>
      </p:bgPr>
    </p:bg>
    <p:spTree>
      <p:nvGrpSpPr>
        <p:cNvPr id="1" name=""/>
        <p:cNvGrpSpPr/>
        <p:nvPr/>
      </p:nvGrpSpPr>
      <p:grpSpPr>
        <a:xfrm>
          <a:off x="0" y="0"/>
          <a:ext cx="0" cy="0"/>
          <a:chOff x="0" y="0"/>
          <a:chExt cx="0" cy="0"/>
        </a:xfrm>
      </p:grpSpPr>
      <p:sp>
        <p:nvSpPr>
          <p:cNvPr id="2" name="Shape 0"/>
          <p:cNvSpPr/>
          <p:nvPr/>
        </p:nvSpPr>
        <p:spPr>
          <a:xfrm>
            <a:off x="0" y="0"/>
            <a:ext cx="12192000" cy="68580"/>
          </a:xfrm>
          <a:prstGeom prst="rect">
            <a:avLst/>
          </a:prstGeom>
          <a:solidFill>
            <a:srgbClr val="A80000"/>
          </a:solidFill>
          <a:ln w="8890">
            <a:solidFill>
              <a:srgbClr val="A80000"/>
            </a:solidFill>
            <a:prstDash val="solid"/>
          </a:ln>
        </p:spPr>
      </p:sp>
      <p:sp>
        <p:nvSpPr>
          <p:cNvPr id="3" name="Text 1"/>
          <p:cNvSpPr/>
          <p:nvPr/>
        </p:nvSpPr>
        <p:spPr>
          <a:xfrm>
            <a:off x="594360" y="274320"/>
            <a:ext cx="10058400" cy="219456"/>
          </a:xfrm>
          <a:prstGeom prst="rect">
            <a:avLst/>
          </a:prstGeom>
          <a:noFill/>
          <a:ln/>
        </p:spPr>
        <p:txBody>
          <a:bodyPr wrap="square" lIns="0" tIns="0" rIns="0" bIns="0" rtlCol="0" anchor="t">
            <a:normAutofit/>
          </a:bodyPr>
          <a:lstStyle/>
          <a:p>
            <a:pPr indent="0" marL="0">
              <a:buNone/>
            </a:pPr>
            <a:r>
              <a:rPr lang="en-US" sz="1000" b="1" dirty="0">
                <a:solidFill>
                  <a:srgbClr val="A80000"/>
                </a:solidFill>
                <a:latin typeface="Arial" pitchFamily="34" charset="0"/>
                <a:ea typeface="Arial" pitchFamily="34" charset="-122"/>
                <a:cs typeface="Arial" pitchFamily="34" charset="-120"/>
              </a:rPr>
              <a:t>ALCANCE REAL</a:t>
            </a:r>
            <a:endParaRPr lang="en-US" sz="1000" dirty="0"/>
          </a:p>
        </p:txBody>
      </p:sp>
      <p:sp>
        <p:nvSpPr>
          <p:cNvPr id="4" name="Text 2"/>
          <p:cNvSpPr/>
          <p:nvPr/>
        </p:nvSpPr>
        <p:spPr>
          <a:xfrm>
            <a:off x="594360" y="667512"/>
            <a:ext cx="10972800" cy="594360"/>
          </a:xfrm>
          <a:prstGeom prst="rect">
            <a:avLst/>
          </a:prstGeom>
          <a:noFill/>
          <a:ln/>
        </p:spPr>
        <p:txBody>
          <a:bodyPr wrap="square" lIns="0" tIns="0" rIns="0" bIns="0" rtlCol="0" anchor="t">
            <a:normAutofit/>
          </a:bodyPr>
          <a:lstStyle/>
          <a:p>
            <a:pPr indent="0" marL="0">
              <a:buNone/>
            </a:pPr>
            <a:r>
              <a:rPr lang="en-US" sz="3000" b="1" dirty="0">
                <a:solidFill>
                  <a:srgbClr val="242426"/>
                </a:solidFill>
                <a:latin typeface="Arial" pitchFamily="34" charset="0"/>
                <a:ea typeface="Arial" pitchFamily="34" charset="-122"/>
                <a:cs typeface="Arial" pitchFamily="34" charset="-120"/>
              </a:rPr>
              <a:t>Límites actuales: qué no debemos prometer</a:t>
            </a:r>
            <a:endParaRPr lang="en-US" sz="3000" dirty="0"/>
          </a:p>
        </p:txBody>
      </p:sp>
      <p:sp>
        <p:nvSpPr>
          <p:cNvPr id="5" name="Shape 3"/>
          <p:cNvSpPr/>
          <p:nvPr/>
        </p:nvSpPr>
        <p:spPr>
          <a:xfrm>
            <a:off x="594360" y="6428232"/>
            <a:ext cx="10972800" cy="0"/>
          </a:xfrm>
          <a:prstGeom prst="line">
            <a:avLst/>
          </a:prstGeom>
          <a:noFill/>
          <a:ln w="17780">
            <a:solidFill>
              <a:srgbClr val="DEDEE2"/>
            </a:solidFill>
            <a:prstDash val="solid"/>
          </a:ln>
        </p:spPr>
      </p:sp>
      <p:sp>
        <p:nvSpPr>
          <p:cNvPr id="6" name="Text 4"/>
          <p:cNvSpPr/>
          <p:nvPr/>
        </p:nvSpPr>
        <p:spPr>
          <a:xfrm>
            <a:off x="594360" y="6547104"/>
            <a:ext cx="3749040" cy="164592"/>
          </a:xfrm>
          <a:prstGeom prst="rect">
            <a:avLst/>
          </a:prstGeom>
          <a:noFill/>
          <a:ln/>
        </p:spPr>
        <p:txBody>
          <a:bodyPr wrap="square" lIns="0" tIns="0" rIns="0" bIns="0" rtlCol="0" anchor="t">
            <a:normAutofit/>
          </a:bodyPr>
          <a:lstStyle/>
          <a:p>
            <a:pPr indent="0" marL="0">
              <a:buNone/>
            </a:pPr>
            <a:r>
              <a:rPr lang="en-US" sz="900" dirty="0">
                <a:solidFill>
                  <a:srgbClr val="626269"/>
                </a:solidFill>
                <a:latin typeface="Arial" pitchFamily="34" charset="0"/>
                <a:ea typeface="Arial" pitchFamily="34" charset="-122"/>
                <a:cs typeface="Arial" pitchFamily="34" charset="-120"/>
              </a:rPr>
              <a:t>SKYNET · 15 OCT 2026 · PRELIMINAR</a:t>
            </a:r>
            <a:endParaRPr lang="en-US" sz="900" dirty="0"/>
          </a:p>
        </p:txBody>
      </p:sp>
      <p:sp>
        <p:nvSpPr>
          <p:cNvPr id="7" name="Text 5"/>
          <p:cNvSpPr/>
          <p:nvPr/>
        </p:nvSpPr>
        <p:spPr>
          <a:xfrm>
            <a:off x="3931920" y="6547104"/>
            <a:ext cx="7178040" cy="164592"/>
          </a:xfrm>
          <a:prstGeom prst="rect">
            <a:avLst/>
          </a:prstGeom>
          <a:noFill/>
          <a:ln/>
        </p:spPr>
        <p:txBody>
          <a:bodyPr wrap="square" lIns="0" tIns="0" rIns="0" bIns="0" rtlCol="0" anchor="t">
            <a:normAutofit/>
          </a:bodyPr>
          <a:lstStyle/>
          <a:p>
            <a:pPr algn="r" indent="0" marL="0">
              <a:buNone/>
            </a:pPr>
            <a:r>
              <a:rPr lang="en-US" sz="850" dirty="0">
                <a:solidFill>
                  <a:srgbClr val="626269"/>
                </a:solidFill>
                <a:latin typeface="Arial" pitchFamily="34" charset="0"/>
                <a:ea typeface="Arial" pitchFamily="34" charset="-122"/>
                <a:cs typeface="Arial" pitchFamily="34" charset="-120"/>
              </a:rPr>
              <a:t>README: Current limits; crawler; media-resources; server.ts</a:t>
            </a:r>
            <a:endParaRPr lang="en-US" sz="850" dirty="0"/>
          </a:p>
        </p:txBody>
      </p:sp>
      <p:sp>
        <p:nvSpPr>
          <p:cNvPr id="8" name="Text 6"/>
          <p:cNvSpPr/>
          <p:nvPr/>
        </p:nvSpPr>
        <p:spPr>
          <a:xfrm>
            <a:off x="11292840" y="6510528"/>
            <a:ext cx="320040" cy="228600"/>
          </a:xfrm>
          <a:prstGeom prst="rect">
            <a:avLst/>
          </a:prstGeom>
          <a:noFill/>
          <a:ln/>
        </p:spPr>
        <p:txBody>
          <a:bodyPr wrap="square" lIns="0" tIns="0" rIns="0" bIns="0" rtlCol="0" anchor="t">
            <a:normAutofit/>
          </a:bodyPr>
          <a:lstStyle/>
          <a:p>
            <a:pPr algn="r" indent="0" marL="0">
              <a:buNone/>
            </a:pPr>
            <a:r>
              <a:rPr lang="en-US" sz="1100" b="1" dirty="0">
                <a:solidFill>
                  <a:srgbClr val="A80000"/>
                </a:solidFill>
                <a:latin typeface="Arial" pitchFamily="34" charset="0"/>
                <a:ea typeface="Arial" pitchFamily="34" charset="-122"/>
                <a:cs typeface="Arial" pitchFamily="34" charset="-120"/>
              </a:rPr>
              <a:t>18</a:t>
            </a:r>
            <a:endParaRPr lang="en-US" sz="1100" dirty="0"/>
          </a:p>
        </p:txBody>
      </p:sp>
      <p:sp>
        <p:nvSpPr>
          <p:cNvPr id="10" name="Shape 7"/>
          <p:cNvSpPr/>
          <p:nvPr/>
        </p:nvSpPr>
        <p:spPr>
          <a:xfrm>
            <a:off x="594360" y="1783080"/>
            <a:ext cx="5349240" cy="1691640"/>
          </a:xfrm>
          <a:prstGeom prst="rect">
            <a:avLst/>
          </a:prstGeom>
          <a:solidFill>
            <a:srgbClr val="FFFFFF"/>
          </a:solidFill>
          <a:ln w="8890">
            <a:solidFill>
              <a:srgbClr val="DEDEE2"/>
            </a:solidFill>
            <a:prstDash val="solid"/>
          </a:ln>
        </p:spPr>
      </p:sp>
      <p:sp>
        <p:nvSpPr>
          <p:cNvPr id="11" name="Shape 8"/>
          <p:cNvSpPr/>
          <p:nvPr/>
        </p:nvSpPr>
        <p:spPr>
          <a:xfrm>
            <a:off x="594360" y="1783080"/>
            <a:ext cx="50292" cy="1691640"/>
          </a:xfrm>
          <a:prstGeom prst="rect">
            <a:avLst/>
          </a:prstGeom>
          <a:solidFill>
            <a:srgbClr val="85520E"/>
          </a:solidFill>
          <a:ln w="8890">
            <a:solidFill>
              <a:srgbClr val="85520E"/>
            </a:solidFill>
            <a:prstDash val="solid"/>
          </a:ln>
        </p:spPr>
      </p:sp>
      <p:sp>
        <p:nvSpPr>
          <p:cNvPr id="12" name="Text 9"/>
          <p:cNvSpPr/>
          <p:nvPr/>
        </p:nvSpPr>
        <p:spPr>
          <a:xfrm>
            <a:off x="777240" y="1947672"/>
            <a:ext cx="4983480" cy="457200"/>
          </a:xfrm>
          <a:prstGeom prst="rect">
            <a:avLst/>
          </a:prstGeom>
          <a:noFill/>
          <a:ln/>
        </p:spPr>
        <p:txBody>
          <a:bodyPr wrap="square" lIns="0" tIns="0" rIns="0" bIns="0" rtlCol="0" anchor="t">
            <a:normAutofit/>
          </a:bodyPr>
          <a:lstStyle/>
          <a:p>
            <a:pPr indent="0" marL="0">
              <a:buNone/>
            </a:pPr>
            <a:r>
              <a:rPr lang="en-US" sz="2100" b="1" dirty="0">
                <a:solidFill>
                  <a:srgbClr val="242426"/>
                </a:solidFill>
                <a:latin typeface="Arial" pitchFamily="34" charset="0"/>
                <a:ea typeface="Arial" pitchFamily="34" charset="-122"/>
                <a:cs typeface="Arial" pitchFamily="34" charset="-120"/>
              </a:rPr>
              <a:t>Memoria y trazabilidad</a:t>
            </a:r>
            <a:endParaRPr lang="en-US" sz="2100" dirty="0"/>
          </a:p>
        </p:txBody>
      </p:sp>
      <p:sp>
        <p:nvSpPr>
          <p:cNvPr id="13" name="Text 10"/>
          <p:cNvSpPr/>
          <p:nvPr/>
        </p:nvSpPr>
        <p:spPr>
          <a:xfrm>
            <a:off x="777240" y="2587752"/>
            <a:ext cx="4983480" cy="749808"/>
          </a:xfrm>
          <a:prstGeom prst="rect">
            <a:avLst/>
          </a:prstGeom>
          <a:noFill/>
          <a:ln/>
        </p:spPr>
        <p:txBody>
          <a:bodyPr wrap="square" lIns="0" tIns="0" rIns="0" bIns="0" rtlCol="0" anchor="t">
            <a:normAutofit/>
          </a:bodyPr>
          <a:lstStyle/>
          <a:p>
            <a:pPr indent="0" marL="0">
              <a:buNone/>
            </a:pPr>
            <a:r>
              <a:rPr lang="en-US" sz="1900" dirty="0">
                <a:solidFill>
                  <a:srgbClr val="626269"/>
                </a:solidFill>
                <a:latin typeface="Arial" pitchFamily="34" charset="0"/>
                <a:ea typeface="Arial" pitchFamily="34" charset="-122"/>
                <a:cs typeface="Arial" pitchFamily="34" charset="-120"/>
              </a:rPr>
              <a:t>Sin historial durable de runs ni auditoría persistente de revisiones.</a:t>
            </a:r>
            <a:endParaRPr lang="en-US" sz="1900" dirty="0"/>
          </a:p>
        </p:txBody>
      </p:sp>
      <p:sp>
        <p:nvSpPr>
          <p:cNvPr id="14" name="Shape 11"/>
          <p:cNvSpPr/>
          <p:nvPr/>
        </p:nvSpPr>
        <p:spPr>
          <a:xfrm>
            <a:off x="6217920" y="1783080"/>
            <a:ext cx="5349240" cy="1691640"/>
          </a:xfrm>
          <a:prstGeom prst="rect">
            <a:avLst/>
          </a:prstGeom>
          <a:solidFill>
            <a:srgbClr val="FFFFFF"/>
          </a:solidFill>
          <a:ln w="8890">
            <a:solidFill>
              <a:srgbClr val="DEDEE2"/>
            </a:solidFill>
            <a:prstDash val="solid"/>
          </a:ln>
        </p:spPr>
      </p:sp>
      <p:sp>
        <p:nvSpPr>
          <p:cNvPr id="15" name="Shape 12"/>
          <p:cNvSpPr/>
          <p:nvPr/>
        </p:nvSpPr>
        <p:spPr>
          <a:xfrm>
            <a:off x="6217920" y="1783080"/>
            <a:ext cx="50292" cy="1691640"/>
          </a:xfrm>
          <a:prstGeom prst="rect">
            <a:avLst/>
          </a:prstGeom>
          <a:solidFill>
            <a:srgbClr val="85520E"/>
          </a:solidFill>
          <a:ln w="8890">
            <a:solidFill>
              <a:srgbClr val="85520E"/>
            </a:solidFill>
            <a:prstDash val="solid"/>
          </a:ln>
        </p:spPr>
      </p:sp>
      <p:sp>
        <p:nvSpPr>
          <p:cNvPr id="16" name="Text 13"/>
          <p:cNvSpPr/>
          <p:nvPr/>
        </p:nvSpPr>
        <p:spPr>
          <a:xfrm>
            <a:off x="6400800" y="1947672"/>
            <a:ext cx="4983480" cy="457200"/>
          </a:xfrm>
          <a:prstGeom prst="rect">
            <a:avLst/>
          </a:prstGeom>
          <a:noFill/>
          <a:ln/>
        </p:spPr>
        <p:txBody>
          <a:bodyPr wrap="square" lIns="0" tIns="0" rIns="0" bIns="0" rtlCol="0" anchor="t">
            <a:normAutofit/>
          </a:bodyPr>
          <a:lstStyle/>
          <a:p>
            <a:pPr indent="0" marL="0">
              <a:buNone/>
            </a:pPr>
            <a:r>
              <a:rPr lang="en-US" sz="2100" b="1" dirty="0">
                <a:solidFill>
                  <a:srgbClr val="242426"/>
                </a:solidFill>
                <a:latin typeface="Arial" pitchFamily="34" charset="0"/>
                <a:ea typeface="Arial" pitchFamily="34" charset="-122"/>
                <a:cs typeface="Arial" pitchFamily="34" charset="-120"/>
              </a:rPr>
              <a:t>Cobertura de enlaces</a:t>
            </a:r>
            <a:endParaRPr lang="en-US" sz="2100" dirty="0"/>
          </a:p>
        </p:txBody>
      </p:sp>
      <p:sp>
        <p:nvSpPr>
          <p:cNvPr id="17" name="Text 14"/>
          <p:cNvSpPr/>
          <p:nvPr/>
        </p:nvSpPr>
        <p:spPr>
          <a:xfrm>
            <a:off x="6400800" y="2587752"/>
            <a:ext cx="4983480" cy="749808"/>
          </a:xfrm>
          <a:prstGeom prst="rect">
            <a:avLst/>
          </a:prstGeom>
          <a:noFill/>
          <a:ln/>
        </p:spPr>
        <p:txBody>
          <a:bodyPr wrap="square" lIns="0" tIns="0" rIns="0" bIns="0" rtlCol="0" anchor="t">
            <a:normAutofit/>
          </a:bodyPr>
          <a:lstStyle/>
          <a:p>
            <a:pPr indent="0" marL="0">
              <a:buNone/>
            </a:pPr>
            <a:r>
              <a:rPr lang="en-US" sz="1900" dirty="0">
                <a:solidFill>
                  <a:srgbClr val="626269"/>
                </a:solidFill>
                <a:latin typeface="Arial" pitchFamily="34" charset="0"/>
                <a:ea typeface="Arial" pitchFamily="34" charset="-122"/>
                <a:cs typeface="Arial" pitchFamily="34" charset="-120"/>
              </a:rPr>
              <a:t>Faltan externos, destino en otro locale y coherencia texto/destino.</a:t>
            </a:r>
            <a:endParaRPr lang="en-US" sz="1900" dirty="0"/>
          </a:p>
        </p:txBody>
      </p:sp>
      <p:sp>
        <p:nvSpPr>
          <p:cNvPr id="18" name="Shape 15"/>
          <p:cNvSpPr/>
          <p:nvPr/>
        </p:nvSpPr>
        <p:spPr>
          <a:xfrm>
            <a:off x="594360" y="3730752"/>
            <a:ext cx="5349240" cy="1691640"/>
          </a:xfrm>
          <a:prstGeom prst="rect">
            <a:avLst/>
          </a:prstGeom>
          <a:solidFill>
            <a:srgbClr val="FFFFFF"/>
          </a:solidFill>
          <a:ln w="8890">
            <a:solidFill>
              <a:srgbClr val="DEDEE2"/>
            </a:solidFill>
            <a:prstDash val="solid"/>
          </a:ln>
        </p:spPr>
      </p:sp>
      <p:sp>
        <p:nvSpPr>
          <p:cNvPr id="19" name="Shape 16"/>
          <p:cNvSpPr/>
          <p:nvPr/>
        </p:nvSpPr>
        <p:spPr>
          <a:xfrm>
            <a:off x="594360" y="3730752"/>
            <a:ext cx="50292" cy="1691640"/>
          </a:xfrm>
          <a:prstGeom prst="rect">
            <a:avLst/>
          </a:prstGeom>
          <a:solidFill>
            <a:srgbClr val="85520E"/>
          </a:solidFill>
          <a:ln w="8890">
            <a:solidFill>
              <a:srgbClr val="85520E"/>
            </a:solidFill>
            <a:prstDash val="solid"/>
          </a:ln>
        </p:spPr>
      </p:sp>
      <p:sp>
        <p:nvSpPr>
          <p:cNvPr id="20" name="Text 17"/>
          <p:cNvSpPr/>
          <p:nvPr/>
        </p:nvSpPr>
        <p:spPr>
          <a:xfrm>
            <a:off x="777240" y="3895344"/>
            <a:ext cx="4983480" cy="457200"/>
          </a:xfrm>
          <a:prstGeom prst="rect">
            <a:avLst/>
          </a:prstGeom>
          <a:noFill/>
          <a:ln/>
        </p:spPr>
        <p:txBody>
          <a:bodyPr wrap="square" lIns="0" tIns="0" rIns="0" bIns="0" rtlCol="0" anchor="t">
            <a:normAutofit/>
          </a:bodyPr>
          <a:lstStyle/>
          <a:p>
            <a:pPr indent="0" marL="0">
              <a:buNone/>
            </a:pPr>
            <a:r>
              <a:rPr lang="en-US" sz="2100" b="1" dirty="0">
                <a:solidFill>
                  <a:srgbClr val="242426"/>
                </a:solidFill>
                <a:latin typeface="Arial" pitchFamily="34" charset="0"/>
                <a:ea typeface="Arial" pitchFamily="34" charset="-122"/>
                <a:cs typeface="Arial" pitchFamily="34" charset="-120"/>
              </a:rPr>
              <a:t>Escala y navegación</a:t>
            </a:r>
            <a:endParaRPr lang="en-US" sz="2100" dirty="0"/>
          </a:p>
        </p:txBody>
      </p:sp>
      <p:sp>
        <p:nvSpPr>
          <p:cNvPr id="21" name="Text 18"/>
          <p:cNvSpPr/>
          <p:nvPr/>
        </p:nvSpPr>
        <p:spPr>
          <a:xfrm>
            <a:off x="777240" y="4535424"/>
            <a:ext cx="4983480" cy="749808"/>
          </a:xfrm>
          <a:prstGeom prst="rect">
            <a:avLst/>
          </a:prstGeom>
          <a:noFill/>
          <a:ln/>
        </p:spPr>
        <p:txBody>
          <a:bodyPr wrap="square" lIns="0" tIns="0" rIns="0" bIns="0" rtlCol="0" anchor="t">
            <a:normAutofit/>
          </a:bodyPr>
          <a:lstStyle/>
          <a:p>
            <a:pPr indent="0" marL="0">
              <a:buNone/>
            </a:pPr>
            <a:r>
              <a:rPr lang="en-US" sz="1900" dirty="0">
                <a:solidFill>
                  <a:srgbClr val="626269"/>
                </a:solidFill>
                <a:latin typeface="Arial" pitchFamily="34" charset="0"/>
                <a:ea typeface="Arial" pitchFamily="34" charset="-122"/>
                <a:cs typeface="Arial" pitchFamily="34" charset="-120"/>
              </a:rPr>
              <a:t>50 visitas; texto &gt;24.000 caracteres sin chunking. No ejecuta JavaScript.</a:t>
            </a:r>
            <a:endParaRPr lang="en-US" sz="1900" dirty="0"/>
          </a:p>
        </p:txBody>
      </p:sp>
      <p:sp>
        <p:nvSpPr>
          <p:cNvPr id="22" name="Shape 19"/>
          <p:cNvSpPr/>
          <p:nvPr/>
        </p:nvSpPr>
        <p:spPr>
          <a:xfrm>
            <a:off x="6217920" y="3730752"/>
            <a:ext cx="5349240" cy="1691640"/>
          </a:xfrm>
          <a:prstGeom prst="rect">
            <a:avLst/>
          </a:prstGeom>
          <a:solidFill>
            <a:srgbClr val="FFFFFF"/>
          </a:solidFill>
          <a:ln w="8890">
            <a:solidFill>
              <a:srgbClr val="DEDEE2"/>
            </a:solidFill>
            <a:prstDash val="solid"/>
          </a:ln>
        </p:spPr>
      </p:sp>
      <p:sp>
        <p:nvSpPr>
          <p:cNvPr id="23" name="Shape 20"/>
          <p:cNvSpPr/>
          <p:nvPr/>
        </p:nvSpPr>
        <p:spPr>
          <a:xfrm>
            <a:off x="6217920" y="3730752"/>
            <a:ext cx="50292" cy="1691640"/>
          </a:xfrm>
          <a:prstGeom prst="rect">
            <a:avLst/>
          </a:prstGeom>
          <a:solidFill>
            <a:srgbClr val="85520E"/>
          </a:solidFill>
          <a:ln w="8890">
            <a:solidFill>
              <a:srgbClr val="85520E"/>
            </a:solidFill>
            <a:prstDash val="solid"/>
          </a:ln>
        </p:spPr>
      </p:sp>
      <p:sp>
        <p:nvSpPr>
          <p:cNvPr id="24" name="Text 21"/>
          <p:cNvSpPr/>
          <p:nvPr/>
        </p:nvSpPr>
        <p:spPr>
          <a:xfrm>
            <a:off x="6400800" y="3895344"/>
            <a:ext cx="4983480" cy="457200"/>
          </a:xfrm>
          <a:prstGeom prst="rect">
            <a:avLst/>
          </a:prstGeom>
          <a:noFill/>
          <a:ln/>
        </p:spPr>
        <p:txBody>
          <a:bodyPr wrap="square" lIns="0" tIns="0" rIns="0" bIns="0" rtlCol="0" anchor="t">
            <a:normAutofit/>
          </a:bodyPr>
          <a:lstStyle/>
          <a:p>
            <a:pPr indent="0" marL="0">
              <a:buNone/>
            </a:pPr>
            <a:r>
              <a:rPr lang="en-US" sz="2100" b="1" dirty="0">
                <a:solidFill>
                  <a:srgbClr val="242426"/>
                </a:solidFill>
                <a:latin typeface="Arial" pitchFamily="34" charset="0"/>
                <a:ea typeface="Arial" pitchFamily="34" charset="-122"/>
                <a:cs typeface="Arial" pitchFamily="34" charset="-120"/>
              </a:rPr>
              <a:t>Medios y criterio del modelo</a:t>
            </a:r>
            <a:endParaRPr lang="en-US" sz="2100" dirty="0"/>
          </a:p>
        </p:txBody>
      </p:sp>
      <p:sp>
        <p:nvSpPr>
          <p:cNvPr id="25" name="Text 22"/>
          <p:cNvSpPr/>
          <p:nvPr/>
        </p:nvSpPr>
        <p:spPr>
          <a:xfrm>
            <a:off x="6400800" y="4535424"/>
            <a:ext cx="4983480" cy="749808"/>
          </a:xfrm>
          <a:prstGeom prst="rect">
            <a:avLst/>
          </a:prstGeom>
          <a:noFill/>
          <a:ln/>
        </p:spPr>
        <p:txBody>
          <a:bodyPr wrap="square" lIns="0" tIns="0" rIns="0" bIns="0" rtlCol="0" anchor="t">
            <a:normAutofit/>
          </a:bodyPr>
          <a:lstStyle/>
          <a:p>
            <a:pPr indent="0" marL="0">
              <a:buNone/>
            </a:pPr>
            <a:r>
              <a:rPr lang="en-US" sz="1900" dirty="0">
                <a:solidFill>
                  <a:srgbClr val="626269"/>
                </a:solidFill>
                <a:latin typeface="Arial" pitchFamily="34" charset="0"/>
                <a:ea typeface="Arial" pitchFamily="34" charset="-122"/>
                <a:cs typeface="Arial" pitchFamily="34" charset="-120"/>
              </a:rPr>
              <a:t>Sin reproducción/audio/sincronía de video; límites de recursos e imágenes.</a:t>
            </a:r>
            <a:endParaRPr lang="en-US" sz="1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4F5"/>
        </a:solidFill>
      </p:bgPr>
    </p:bg>
    <p:spTree>
      <p:nvGrpSpPr>
        <p:cNvPr id="1" name=""/>
        <p:cNvGrpSpPr/>
        <p:nvPr/>
      </p:nvGrpSpPr>
      <p:grpSpPr>
        <a:xfrm>
          <a:off x="0" y="0"/>
          <a:ext cx="0" cy="0"/>
          <a:chOff x="0" y="0"/>
          <a:chExt cx="0" cy="0"/>
        </a:xfrm>
      </p:grpSpPr>
      <p:sp>
        <p:nvSpPr>
          <p:cNvPr id="2" name="Shape 0"/>
          <p:cNvSpPr/>
          <p:nvPr/>
        </p:nvSpPr>
        <p:spPr>
          <a:xfrm>
            <a:off x="0" y="0"/>
            <a:ext cx="12192000" cy="68580"/>
          </a:xfrm>
          <a:prstGeom prst="rect">
            <a:avLst/>
          </a:prstGeom>
          <a:solidFill>
            <a:srgbClr val="A80000"/>
          </a:solidFill>
          <a:ln w="8890">
            <a:solidFill>
              <a:srgbClr val="A80000"/>
            </a:solidFill>
            <a:prstDash val="solid"/>
          </a:ln>
        </p:spPr>
      </p:sp>
      <p:sp>
        <p:nvSpPr>
          <p:cNvPr id="3" name="Text 1"/>
          <p:cNvSpPr/>
          <p:nvPr/>
        </p:nvSpPr>
        <p:spPr>
          <a:xfrm>
            <a:off x="594360" y="274320"/>
            <a:ext cx="10058400" cy="219456"/>
          </a:xfrm>
          <a:prstGeom prst="rect">
            <a:avLst/>
          </a:prstGeom>
          <a:noFill/>
          <a:ln/>
        </p:spPr>
        <p:txBody>
          <a:bodyPr wrap="square" lIns="0" tIns="0" rIns="0" bIns="0" rtlCol="0" anchor="t">
            <a:normAutofit/>
          </a:bodyPr>
          <a:lstStyle/>
          <a:p>
            <a:pPr indent="0" marL="0">
              <a:buNone/>
            </a:pPr>
            <a:r>
              <a:rPr lang="en-US" sz="1000" b="1" dirty="0">
                <a:solidFill>
                  <a:srgbClr val="A80000"/>
                </a:solidFill>
                <a:latin typeface="Arial" pitchFamily="34" charset="0"/>
                <a:ea typeface="Arial" pitchFamily="34" charset="-122"/>
                <a:cs typeface="Arial" pitchFamily="34" charset="-120"/>
              </a:rPr>
              <a:t>ROADMAP PRIORIZADO</a:t>
            </a:r>
            <a:endParaRPr lang="en-US" sz="1000" dirty="0"/>
          </a:p>
        </p:txBody>
      </p:sp>
      <p:sp>
        <p:nvSpPr>
          <p:cNvPr id="4" name="Text 2"/>
          <p:cNvSpPr/>
          <p:nvPr/>
        </p:nvSpPr>
        <p:spPr>
          <a:xfrm>
            <a:off x="594360" y="667512"/>
            <a:ext cx="10972800" cy="594360"/>
          </a:xfrm>
          <a:prstGeom prst="rect">
            <a:avLst/>
          </a:prstGeom>
          <a:noFill/>
          <a:ln/>
        </p:spPr>
        <p:txBody>
          <a:bodyPr wrap="square" lIns="0" tIns="0" rIns="0" bIns="0" rtlCol="0" anchor="t">
            <a:normAutofit/>
          </a:bodyPr>
          <a:lstStyle/>
          <a:p>
            <a:pPr indent="0" marL="0">
              <a:buNone/>
            </a:pPr>
            <a:r>
              <a:rPr lang="en-US" sz="3000" b="1" dirty="0">
                <a:solidFill>
                  <a:srgbClr val="242426"/>
                </a:solidFill>
                <a:latin typeface="Arial" pitchFamily="34" charset="0"/>
                <a:ea typeface="Arial" pitchFamily="34" charset="-122"/>
                <a:cs typeface="Arial" pitchFamily="34" charset="-120"/>
              </a:rPr>
              <a:t>Próximos pasos propuestos</a:t>
            </a:r>
            <a:endParaRPr lang="en-US" sz="3000" dirty="0"/>
          </a:p>
        </p:txBody>
      </p:sp>
      <p:sp>
        <p:nvSpPr>
          <p:cNvPr id="5" name="Shape 3"/>
          <p:cNvSpPr/>
          <p:nvPr/>
        </p:nvSpPr>
        <p:spPr>
          <a:xfrm>
            <a:off x="594360" y="6428232"/>
            <a:ext cx="10972800" cy="0"/>
          </a:xfrm>
          <a:prstGeom prst="line">
            <a:avLst/>
          </a:prstGeom>
          <a:noFill/>
          <a:ln w="17780">
            <a:solidFill>
              <a:srgbClr val="DEDEE2"/>
            </a:solidFill>
            <a:prstDash val="solid"/>
          </a:ln>
        </p:spPr>
      </p:sp>
      <p:sp>
        <p:nvSpPr>
          <p:cNvPr id="6" name="Text 4"/>
          <p:cNvSpPr/>
          <p:nvPr/>
        </p:nvSpPr>
        <p:spPr>
          <a:xfrm>
            <a:off x="594360" y="6547104"/>
            <a:ext cx="3749040" cy="164592"/>
          </a:xfrm>
          <a:prstGeom prst="rect">
            <a:avLst/>
          </a:prstGeom>
          <a:noFill/>
          <a:ln/>
        </p:spPr>
        <p:txBody>
          <a:bodyPr wrap="square" lIns="0" tIns="0" rIns="0" bIns="0" rtlCol="0" anchor="t">
            <a:normAutofit/>
          </a:bodyPr>
          <a:lstStyle/>
          <a:p>
            <a:pPr indent="0" marL="0">
              <a:buNone/>
            </a:pPr>
            <a:r>
              <a:rPr lang="en-US" sz="900" dirty="0">
                <a:solidFill>
                  <a:srgbClr val="626269"/>
                </a:solidFill>
                <a:latin typeface="Arial" pitchFamily="34" charset="0"/>
                <a:ea typeface="Arial" pitchFamily="34" charset="-122"/>
                <a:cs typeface="Arial" pitchFamily="34" charset="-120"/>
              </a:rPr>
              <a:t>SKYNET · 15 OCT 2026 · PRELIMINAR</a:t>
            </a:r>
            <a:endParaRPr lang="en-US" sz="900" dirty="0"/>
          </a:p>
        </p:txBody>
      </p:sp>
      <p:sp>
        <p:nvSpPr>
          <p:cNvPr id="7" name="Text 5"/>
          <p:cNvSpPr/>
          <p:nvPr/>
        </p:nvSpPr>
        <p:spPr>
          <a:xfrm>
            <a:off x="3931920" y="6547104"/>
            <a:ext cx="7178040" cy="164592"/>
          </a:xfrm>
          <a:prstGeom prst="rect">
            <a:avLst/>
          </a:prstGeom>
          <a:noFill/>
          <a:ln/>
        </p:spPr>
        <p:txBody>
          <a:bodyPr wrap="square" lIns="0" tIns="0" rIns="0" bIns="0" rtlCol="0" anchor="t">
            <a:normAutofit/>
          </a:bodyPr>
          <a:lstStyle/>
          <a:p>
            <a:pPr algn="r" indent="0" marL="0">
              <a:buNone/>
            </a:pPr>
            <a:r>
              <a:rPr lang="en-US" sz="850" dirty="0">
                <a:solidFill>
                  <a:srgbClr val="626269"/>
                </a:solidFill>
                <a:latin typeface="Arial" pitchFamily="34" charset="0"/>
                <a:ea typeface="Arial" pitchFamily="34" charset="-122"/>
                <a:cs typeface="Arial" pitchFamily="34" charset="-120"/>
              </a:rPr>
              <a:t>docs/HANDOFF.md: Next Task; README: milestones</a:t>
            </a:r>
            <a:endParaRPr lang="en-US" sz="850" dirty="0"/>
          </a:p>
        </p:txBody>
      </p:sp>
      <p:sp>
        <p:nvSpPr>
          <p:cNvPr id="8" name="Text 6"/>
          <p:cNvSpPr/>
          <p:nvPr/>
        </p:nvSpPr>
        <p:spPr>
          <a:xfrm>
            <a:off x="11292840" y="6510528"/>
            <a:ext cx="320040" cy="228600"/>
          </a:xfrm>
          <a:prstGeom prst="rect">
            <a:avLst/>
          </a:prstGeom>
          <a:noFill/>
          <a:ln/>
        </p:spPr>
        <p:txBody>
          <a:bodyPr wrap="square" lIns="0" tIns="0" rIns="0" bIns="0" rtlCol="0" anchor="t">
            <a:normAutofit/>
          </a:bodyPr>
          <a:lstStyle/>
          <a:p>
            <a:pPr algn="r" indent="0" marL="0">
              <a:buNone/>
            </a:pPr>
            <a:r>
              <a:rPr lang="en-US" sz="1100" b="1" dirty="0">
                <a:solidFill>
                  <a:srgbClr val="A80000"/>
                </a:solidFill>
                <a:latin typeface="Arial" pitchFamily="34" charset="0"/>
                <a:ea typeface="Arial" pitchFamily="34" charset="-122"/>
                <a:cs typeface="Arial" pitchFamily="34" charset="-120"/>
              </a:rPr>
              <a:t>19</a:t>
            </a:r>
            <a:endParaRPr lang="en-US" sz="1100" dirty="0"/>
          </a:p>
        </p:txBody>
      </p:sp>
      <p:sp>
        <p:nvSpPr>
          <p:cNvPr id="10" name="Shape 7"/>
          <p:cNvSpPr/>
          <p:nvPr/>
        </p:nvSpPr>
        <p:spPr>
          <a:xfrm>
            <a:off x="594360" y="1783080"/>
            <a:ext cx="914400" cy="475488"/>
          </a:xfrm>
          <a:prstGeom prst="rect">
            <a:avLst/>
          </a:prstGeom>
          <a:solidFill>
            <a:srgbClr val="151515"/>
          </a:solidFill>
          <a:ln w="8890">
            <a:solidFill>
              <a:srgbClr val="151515"/>
            </a:solidFill>
            <a:prstDash val="solid"/>
          </a:ln>
        </p:spPr>
      </p:sp>
      <p:sp>
        <p:nvSpPr>
          <p:cNvPr id="11" name="Text 8"/>
          <p:cNvSpPr/>
          <p:nvPr/>
        </p:nvSpPr>
        <p:spPr>
          <a:xfrm>
            <a:off x="713232" y="1901952"/>
            <a:ext cx="676656" cy="274320"/>
          </a:xfrm>
          <a:prstGeom prst="rect">
            <a:avLst/>
          </a:prstGeom>
          <a:noFill/>
          <a:ln/>
        </p:spPr>
        <p:txBody>
          <a:bodyPr wrap="square" lIns="0" tIns="0" rIns="0" bIns="0" rtlCol="0" anchor="t">
            <a:normAutofit/>
          </a:bodyPr>
          <a:lstStyle/>
          <a:p>
            <a:pPr indent="0" marL="0">
              <a:buNone/>
            </a:pPr>
            <a:r>
              <a:rPr lang="en-US" sz="1300" b="1" dirty="0">
                <a:solidFill>
                  <a:srgbClr val="FFFFFF"/>
                </a:solidFill>
                <a:latin typeface="Arial" pitchFamily="34" charset="0"/>
                <a:ea typeface="Arial" pitchFamily="34" charset="-122"/>
                <a:cs typeface="Arial" pitchFamily="34" charset="-120"/>
              </a:rPr>
              <a:t>ORDEN</a:t>
            </a:r>
            <a:endParaRPr lang="en-US" sz="1300" dirty="0"/>
          </a:p>
        </p:txBody>
      </p:sp>
      <p:sp>
        <p:nvSpPr>
          <p:cNvPr id="12" name="Shape 9"/>
          <p:cNvSpPr/>
          <p:nvPr/>
        </p:nvSpPr>
        <p:spPr>
          <a:xfrm>
            <a:off x="1508760" y="1783080"/>
            <a:ext cx="3840480" cy="475488"/>
          </a:xfrm>
          <a:prstGeom prst="rect">
            <a:avLst/>
          </a:prstGeom>
          <a:solidFill>
            <a:srgbClr val="151515"/>
          </a:solidFill>
          <a:ln w="8890">
            <a:solidFill>
              <a:srgbClr val="151515"/>
            </a:solidFill>
            <a:prstDash val="solid"/>
          </a:ln>
        </p:spPr>
      </p:sp>
      <p:sp>
        <p:nvSpPr>
          <p:cNvPr id="13" name="Text 10"/>
          <p:cNvSpPr/>
          <p:nvPr/>
        </p:nvSpPr>
        <p:spPr>
          <a:xfrm>
            <a:off x="1627632" y="1901952"/>
            <a:ext cx="3602736" cy="274320"/>
          </a:xfrm>
          <a:prstGeom prst="rect">
            <a:avLst/>
          </a:prstGeom>
          <a:noFill/>
          <a:ln/>
        </p:spPr>
        <p:txBody>
          <a:bodyPr wrap="square" lIns="0" tIns="0" rIns="0" bIns="0" rtlCol="0" anchor="t">
            <a:normAutofit/>
          </a:bodyPr>
          <a:lstStyle/>
          <a:p>
            <a:pPr indent="0" marL="0">
              <a:buNone/>
            </a:pPr>
            <a:r>
              <a:rPr lang="en-US" sz="1300" b="1" dirty="0">
                <a:solidFill>
                  <a:srgbClr val="FFFFFF"/>
                </a:solidFill>
                <a:latin typeface="Arial" pitchFamily="34" charset="0"/>
                <a:ea typeface="Arial" pitchFamily="34" charset="-122"/>
                <a:cs typeface="Arial" pitchFamily="34" charset="-120"/>
              </a:rPr>
              <a:t>ENTREGABLE</a:t>
            </a:r>
            <a:endParaRPr lang="en-US" sz="1300" dirty="0"/>
          </a:p>
        </p:txBody>
      </p:sp>
      <p:sp>
        <p:nvSpPr>
          <p:cNvPr id="14" name="Shape 11"/>
          <p:cNvSpPr/>
          <p:nvPr/>
        </p:nvSpPr>
        <p:spPr>
          <a:xfrm>
            <a:off x="5349240" y="1783080"/>
            <a:ext cx="6217920" cy="475488"/>
          </a:xfrm>
          <a:prstGeom prst="rect">
            <a:avLst/>
          </a:prstGeom>
          <a:solidFill>
            <a:srgbClr val="151515"/>
          </a:solidFill>
          <a:ln w="8890">
            <a:solidFill>
              <a:srgbClr val="151515"/>
            </a:solidFill>
            <a:prstDash val="solid"/>
          </a:ln>
        </p:spPr>
      </p:sp>
      <p:sp>
        <p:nvSpPr>
          <p:cNvPr id="15" name="Text 12"/>
          <p:cNvSpPr/>
          <p:nvPr/>
        </p:nvSpPr>
        <p:spPr>
          <a:xfrm>
            <a:off x="5468112" y="1901952"/>
            <a:ext cx="5980176" cy="274320"/>
          </a:xfrm>
          <a:prstGeom prst="rect">
            <a:avLst/>
          </a:prstGeom>
          <a:noFill/>
          <a:ln/>
        </p:spPr>
        <p:txBody>
          <a:bodyPr wrap="square" lIns="0" tIns="0" rIns="0" bIns="0" rtlCol="0" anchor="t">
            <a:normAutofit/>
          </a:bodyPr>
          <a:lstStyle/>
          <a:p>
            <a:pPr indent="0" marL="0">
              <a:buNone/>
            </a:pPr>
            <a:r>
              <a:rPr lang="en-US" sz="1300" b="1" dirty="0">
                <a:solidFill>
                  <a:srgbClr val="FFFFFF"/>
                </a:solidFill>
                <a:latin typeface="Arial" pitchFamily="34" charset="0"/>
                <a:ea typeface="Arial" pitchFamily="34" charset="-122"/>
                <a:cs typeface="Arial" pitchFamily="34" charset="-120"/>
              </a:rPr>
              <a:t>CRITERIO DE SALIDA</a:t>
            </a:r>
            <a:endParaRPr lang="en-US" sz="1300" dirty="0"/>
          </a:p>
        </p:txBody>
      </p:sp>
      <p:sp>
        <p:nvSpPr>
          <p:cNvPr id="16" name="Shape 13"/>
          <p:cNvSpPr/>
          <p:nvPr/>
        </p:nvSpPr>
        <p:spPr>
          <a:xfrm>
            <a:off x="594360" y="2258568"/>
            <a:ext cx="914400" cy="704088"/>
          </a:xfrm>
          <a:prstGeom prst="rect">
            <a:avLst/>
          </a:prstGeom>
          <a:solidFill>
            <a:srgbClr val="FFFFFF"/>
          </a:solidFill>
          <a:ln w="8890">
            <a:solidFill>
              <a:srgbClr val="DEDEE2"/>
            </a:solidFill>
            <a:prstDash val="solid"/>
          </a:ln>
        </p:spPr>
      </p:sp>
      <p:sp>
        <p:nvSpPr>
          <p:cNvPr id="17" name="Text 14"/>
          <p:cNvSpPr/>
          <p:nvPr/>
        </p:nvSpPr>
        <p:spPr>
          <a:xfrm>
            <a:off x="713232" y="2395728"/>
            <a:ext cx="676656" cy="521208"/>
          </a:xfrm>
          <a:prstGeom prst="rect">
            <a:avLst/>
          </a:prstGeom>
          <a:noFill/>
          <a:ln/>
        </p:spPr>
        <p:txBody>
          <a:bodyPr wrap="square" lIns="0" tIns="0" rIns="0" bIns="0" rtlCol="0" anchor="t">
            <a:normAutofit/>
          </a:bodyPr>
          <a:lstStyle/>
          <a:p>
            <a:pPr indent="0" marL="0">
              <a:buNone/>
            </a:pPr>
            <a:r>
              <a:rPr lang="en-US" sz="1800" b="1" dirty="0">
                <a:solidFill>
                  <a:srgbClr val="242426"/>
                </a:solidFill>
                <a:latin typeface="Arial" pitchFamily="34" charset="0"/>
                <a:ea typeface="Arial" pitchFamily="34" charset="-122"/>
                <a:cs typeface="Arial" pitchFamily="34" charset="-120"/>
              </a:rPr>
              <a:t>1</a:t>
            </a:r>
            <a:endParaRPr lang="en-US" sz="1800" dirty="0"/>
          </a:p>
        </p:txBody>
      </p:sp>
      <p:sp>
        <p:nvSpPr>
          <p:cNvPr id="18" name="Shape 15"/>
          <p:cNvSpPr/>
          <p:nvPr/>
        </p:nvSpPr>
        <p:spPr>
          <a:xfrm>
            <a:off x="1508760" y="2258568"/>
            <a:ext cx="3840480" cy="704088"/>
          </a:xfrm>
          <a:prstGeom prst="rect">
            <a:avLst/>
          </a:prstGeom>
          <a:solidFill>
            <a:srgbClr val="FFFFFF"/>
          </a:solidFill>
          <a:ln w="8890">
            <a:solidFill>
              <a:srgbClr val="DEDEE2"/>
            </a:solidFill>
            <a:prstDash val="solid"/>
          </a:ln>
        </p:spPr>
      </p:sp>
      <p:sp>
        <p:nvSpPr>
          <p:cNvPr id="19" name="Text 16"/>
          <p:cNvSpPr/>
          <p:nvPr/>
        </p:nvSpPr>
        <p:spPr>
          <a:xfrm>
            <a:off x="1627632" y="2395728"/>
            <a:ext cx="3602736" cy="521208"/>
          </a:xfrm>
          <a:prstGeom prst="rect">
            <a:avLst/>
          </a:prstGeom>
          <a:noFill/>
          <a:ln/>
        </p:spPr>
        <p:txBody>
          <a:bodyPr wrap="square" lIns="0" tIns="0" rIns="0" bIns="0" rtlCol="0" anchor="t">
            <a:normAutofit/>
          </a:bodyPr>
          <a:lstStyle/>
          <a:p>
            <a:pPr indent="0" marL="0">
              <a:buNone/>
            </a:pPr>
            <a:r>
              <a:rPr lang="en-US" sz="1800" dirty="0">
                <a:solidFill>
                  <a:srgbClr val="626269"/>
                </a:solidFill>
                <a:latin typeface="Arial" pitchFamily="34" charset="0"/>
                <a:ea typeface="Arial" pitchFamily="34" charset="-122"/>
                <a:cs typeface="Arial" pitchFamily="34" charset="-120"/>
              </a:rPr>
              <a:t>Persistencia e historial</a:t>
            </a:r>
            <a:endParaRPr lang="en-US" sz="1800" dirty="0"/>
          </a:p>
        </p:txBody>
      </p:sp>
      <p:sp>
        <p:nvSpPr>
          <p:cNvPr id="20" name="Shape 17"/>
          <p:cNvSpPr/>
          <p:nvPr/>
        </p:nvSpPr>
        <p:spPr>
          <a:xfrm>
            <a:off x="5349240" y="2258568"/>
            <a:ext cx="6217920" cy="704088"/>
          </a:xfrm>
          <a:prstGeom prst="rect">
            <a:avLst/>
          </a:prstGeom>
          <a:solidFill>
            <a:srgbClr val="FFFFFF"/>
          </a:solidFill>
          <a:ln w="8890">
            <a:solidFill>
              <a:srgbClr val="DEDEE2"/>
            </a:solidFill>
            <a:prstDash val="solid"/>
          </a:ln>
        </p:spPr>
      </p:sp>
      <p:sp>
        <p:nvSpPr>
          <p:cNvPr id="21" name="Text 18"/>
          <p:cNvSpPr/>
          <p:nvPr/>
        </p:nvSpPr>
        <p:spPr>
          <a:xfrm>
            <a:off x="5468112" y="2395728"/>
            <a:ext cx="5980176" cy="521208"/>
          </a:xfrm>
          <a:prstGeom prst="rect">
            <a:avLst/>
          </a:prstGeom>
          <a:noFill/>
          <a:ln/>
        </p:spPr>
        <p:txBody>
          <a:bodyPr wrap="square" lIns="0" tIns="0" rIns="0" bIns="0" rtlCol="0" anchor="t">
            <a:normAutofit/>
          </a:bodyPr>
          <a:lstStyle/>
          <a:p>
            <a:pPr indent="0" marL="0">
              <a:buNone/>
            </a:pPr>
            <a:r>
              <a:rPr lang="en-US" sz="1800" dirty="0">
                <a:solidFill>
                  <a:srgbClr val="626269"/>
                </a:solidFill>
                <a:latin typeface="Arial" pitchFamily="34" charset="0"/>
                <a:ea typeface="Arial" pitchFamily="34" charset="-122"/>
                <a:cs typeface="Arial" pitchFamily="34" charset="-120"/>
              </a:rPr>
              <a:t>Runs y revisiones sobreviven a reinicios</a:t>
            </a:r>
            <a:endParaRPr lang="en-US" sz="1800" dirty="0"/>
          </a:p>
        </p:txBody>
      </p:sp>
      <p:sp>
        <p:nvSpPr>
          <p:cNvPr id="22" name="Shape 19"/>
          <p:cNvSpPr/>
          <p:nvPr/>
        </p:nvSpPr>
        <p:spPr>
          <a:xfrm>
            <a:off x="594360" y="2962656"/>
            <a:ext cx="914400" cy="704088"/>
          </a:xfrm>
          <a:prstGeom prst="rect">
            <a:avLst/>
          </a:prstGeom>
          <a:solidFill>
            <a:srgbClr val="EEEEF1"/>
          </a:solidFill>
          <a:ln w="8890">
            <a:solidFill>
              <a:srgbClr val="DEDEE2"/>
            </a:solidFill>
            <a:prstDash val="solid"/>
          </a:ln>
        </p:spPr>
      </p:sp>
      <p:sp>
        <p:nvSpPr>
          <p:cNvPr id="23" name="Text 20"/>
          <p:cNvSpPr/>
          <p:nvPr/>
        </p:nvSpPr>
        <p:spPr>
          <a:xfrm>
            <a:off x="713232" y="3099816"/>
            <a:ext cx="676656" cy="521208"/>
          </a:xfrm>
          <a:prstGeom prst="rect">
            <a:avLst/>
          </a:prstGeom>
          <a:noFill/>
          <a:ln/>
        </p:spPr>
        <p:txBody>
          <a:bodyPr wrap="square" lIns="0" tIns="0" rIns="0" bIns="0" rtlCol="0" anchor="t">
            <a:normAutofit/>
          </a:bodyPr>
          <a:lstStyle/>
          <a:p>
            <a:pPr indent="0" marL="0">
              <a:buNone/>
            </a:pPr>
            <a:r>
              <a:rPr lang="en-US" sz="1800" b="1" dirty="0">
                <a:solidFill>
                  <a:srgbClr val="242426"/>
                </a:solidFill>
                <a:latin typeface="Arial" pitchFamily="34" charset="0"/>
                <a:ea typeface="Arial" pitchFamily="34" charset="-122"/>
                <a:cs typeface="Arial" pitchFamily="34" charset="-120"/>
              </a:rPr>
              <a:t>2</a:t>
            </a:r>
            <a:endParaRPr lang="en-US" sz="1800" dirty="0"/>
          </a:p>
        </p:txBody>
      </p:sp>
      <p:sp>
        <p:nvSpPr>
          <p:cNvPr id="24" name="Shape 21"/>
          <p:cNvSpPr/>
          <p:nvPr/>
        </p:nvSpPr>
        <p:spPr>
          <a:xfrm>
            <a:off x="1508760" y="2962656"/>
            <a:ext cx="3840480" cy="704088"/>
          </a:xfrm>
          <a:prstGeom prst="rect">
            <a:avLst/>
          </a:prstGeom>
          <a:solidFill>
            <a:srgbClr val="EEEEF1"/>
          </a:solidFill>
          <a:ln w="8890">
            <a:solidFill>
              <a:srgbClr val="DEDEE2"/>
            </a:solidFill>
            <a:prstDash val="solid"/>
          </a:ln>
        </p:spPr>
      </p:sp>
      <p:sp>
        <p:nvSpPr>
          <p:cNvPr id="25" name="Text 22"/>
          <p:cNvSpPr/>
          <p:nvPr/>
        </p:nvSpPr>
        <p:spPr>
          <a:xfrm>
            <a:off x="1627632" y="3099816"/>
            <a:ext cx="3602736" cy="521208"/>
          </a:xfrm>
          <a:prstGeom prst="rect">
            <a:avLst/>
          </a:prstGeom>
          <a:noFill/>
          <a:ln/>
        </p:spPr>
        <p:txBody>
          <a:bodyPr wrap="square" lIns="0" tIns="0" rIns="0" bIns="0" rtlCol="0" anchor="t">
            <a:normAutofit/>
          </a:bodyPr>
          <a:lstStyle/>
          <a:p>
            <a:pPr indent="0" marL="0">
              <a:buNone/>
            </a:pPr>
            <a:r>
              <a:rPr lang="en-US" sz="1800" dirty="0">
                <a:solidFill>
                  <a:srgbClr val="626269"/>
                </a:solidFill>
                <a:latin typeface="Arial" pitchFamily="34" charset="0"/>
                <a:ea typeface="Arial" pitchFamily="34" charset="-122"/>
                <a:cs typeface="Arial" pitchFamily="34" charset="-120"/>
              </a:rPr>
              <a:t>Validación Docker end to end</a:t>
            </a:r>
            <a:endParaRPr lang="en-US" sz="1800" dirty="0"/>
          </a:p>
        </p:txBody>
      </p:sp>
      <p:sp>
        <p:nvSpPr>
          <p:cNvPr id="26" name="Shape 23"/>
          <p:cNvSpPr/>
          <p:nvPr/>
        </p:nvSpPr>
        <p:spPr>
          <a:xfrm>
            <a:off x="5349240" y="2962656"/>
            <a:ext cx="6217920" cy="704088"/>
          </a:xfrm>
          <a:prstGeom prst="rect">
            <a:avLst/>
          </a:prstGeom>
          <a:solidFill>
            <a:srgbClr val="EEEEF1"/>
          </a:solidFill>
          <a:ln w="8890">
            <a:solidFill>
              <a:srgbClr val="DEDEE2"/>
            </a:solidFill>
            <a:prstDash val="solid"/>
          </a:ln>
        </p:spPr>
      </p:sp>
      <p:sp>
        <p:nvSpPr>
          <p:cNvPr id="27" name="Text 24"/>
          <p:cNvSpPr/>
          <p:nvPr/>
        </p:nvSpPr>
        <p:spPr>
          <a:xfrm>
            <a:off x="5468112" y="3099816"/>
            <a:ext cx="5980176" cy="521208"/>
          </a:xfrm>
          <a:prstGeom prst="rect">
            <a:avLst/>
          </a:prstGeom>
          <a:noFill/>
          <a:ln/>
        </p:spPr>
        <p:txBody>
          <a:bodyPr wrap="square" lIns="0" tIns="0" rIns="0" bIns="0" rtlCol="0" anchor="t">
            <a:normAutofit/>
          </a:bodyPr>
          <a:lstStyle/>
          <a:p>
            <a:pPr indent="0" marL="0">
              <a:buNone/>
            </a:pPr>
            <a:r>
              <a:rPr lang="en-US" sz="1800" dirty="0">
                <a:solidFill>
                  <a:srgbClr val="626269"/>
                </a:solidFill>
                <a:latin typeface="Arial" pitchFamily="34" charset="0"/>
                <a:ea typeface="Arial" pitchFamily="34" charset="-122"/>
                <a:cs typeface="Arial" pitchFamily="34" charset="-120"/>
              </a:rPr>
              <a:t>Arranque y auditoría reproducibles</a:t>
            </a:r>
            <a:endParaRPr lang="en-US" sz="1800" dirty="0"/>
          </a:p>
        </p:txBody>
      </p:sp>
      <p:sp>
        <p:nvSpPr>
          <p:cNvPr id="28" name="Shape 25"/>
          <p:cNvSpPr/>
          <p:nvPr/>
        </p:nvSpPr>
        <p:spPr>
          <a:xfrm>
            <a:off x="594360" y="3666744"/>
            <a:ext cx="914400" cy="704088"/>
          </a:xfrm>
          <a:prstGeom prst="rect">
            <a:avLst/>
          </a:prstGeom>
          <a:solidFill>
            <a:srgbClr val="FFFFFF"/>
          </a:solidFill>
          <a:ln w="8890">
            <a:solidFill>
              <a:srgbClr val="DEDEE2"/>
            </a:solidFill>
            <a:prstDash val="solid"/>
          </a:ln>
        </p:spPr>
      </p:sp>
      <p:sp>
        <p:nvSpPr>
          <p:cNvPr id="29" name="Text 26"/>
          <p:cNvSpPr/>
          <p:nvPr/>
        </p:nvSpPr>
        <p:spPr>
          <a:xfrm>
            <a:off x="713232" y="3803904"/>
            <a:ext cx="676656" cy="521208"/>
          </a:xfrm>
          <a:prstGeom prst="rect">
            <a:avLst/>
          </a:prstGeom>
          <a:noFill/>
          <a:ln/>
        </p:spPr>
        <p:txBody>
          <a:bodyPr wrap="square" lIns="0" tIns="0" rIns="0" bIns="0" rtlCol="0" anchor="t">
            <a:normAutofit/>
          </a:bodyPr>
          <a:lstStyle/>
          <a:p>
            <a:pPr indent="0" marL="0">
              <a:buNone/>
            </a:pPr>
            <a:r>
              <a:rPr lang="en-US" sz="1800" b="1" dirty="0">
                <a:solidFill>
                  <a:srgbClr val="242426"/>
                </a:solidFill>
                <a:latin typeface="Arial" pitchFamily="34" charset="0"/>
                <a:ea typeface="Arial" pitchFamily="34" charset="-122"/>
                <a:cs typeface="Arial" pitchFamily="34" charset="-120"/>
              </a:rPr>
              <a:t>3</a:t>
            </a:r>
            <a:endParaRPr lang="en-US" sz="1800" dirty="0"/>
          </a:p>
        </p:txBody>
      </p:sp>
      <p:sp>
        <p:nvSpPr>
          <p:cNvPr id="30" name="Shape 27"/>
          <p:cNvSpPr/>
          <p:nvPr/>
        </p:nvSpPr>
        <p:spPr>
          <a:xfrm>
            <a:off x="1508760" y="3666744"/>
            <a:ext cx="3840480" cy="704088"/>
          </a:xfrm>
          <a:prstGeom prst="rect">
            <a:avLst/>
          </a:prstGeom>
          <a:solidFill>
            <a:srgbClr val="FFFFFF"/>
          </a:solidFill>
          <a:ln w="8890">
            <a:solidFill>
              <a:srgbClr val="DEDEE2"/>
            </a:solidFill>
            <a:prstDash val="solid"/>
          </a:ln>
        </p:spPr>
      </p:sp>
      <p:sp>
        <p:nvSpPr>
          <p:cNvPr id="31" name="Text 28"/>
          <p:cNvSpPr/>
          <p:nvPr/>
        </p:nvSpPr>
        <p:spPr>
          <a:xfrm>
            <a:off x="1627632" y="3803904"/>
            <a:ext cx="3602736" cy="521208"/>
          </a:xfrm>
          <a:prstGeom prst="rect">
            <a:avLst/>
          </a:prstGeom>
          <a:noFill/>
          <a:ln/>
        </p:spPr>
        <p:txBody>
          <a:bodyPr wrap="square" lIns="0" tIns="0" rIns="0" bIns="0" rtlCol="0" anchor="t">
            <a:normAutofit/>
          </a:bodyPr>
          <a:lstStyle/>
          <a:p>
            <a:pPr indent="0" marL="0">
              <a:buNone/>
            </a:pPr>
            <a:r>
              <a:rPr lang="en-US" sz="1800" dirty="0">
                <a:solidFill>
                  <a:srgbClr val="626269"/>
                </a:solidFill>
                <a:latin typeface="Arial" pitchFamily="34" charset="0"/>
                <a:ea typeface="Arial" pitchFamily="34" charset="-122"/>
                <a:cs typeface="Arial" pitchFamily="34" charset="-120"/>
              </a:rPr>
              <a:t>Ampliar Links</a:t>
            </a:r>
            <a:endParaRPr lang="en-US" sz="1800" dirty="0"/>
          </a:p>
        </p:txBody>
      </p:sp>
      <p:sp>
        <p:nvSpPr>
          <p:cNvPr id="32" name="Shape 29"/>
          <p:cNvSpPr/>
          <p:nvPr/>
        </p:nvSpPr>
        <p:spPr>
          <a:xfrm>
            <a:off x="5349240" y="3666744"/>
            <a:ext cx="6217920" cy="704088"/>
          </a:xfrm>
          <a:prstGeom prst="rect">
            <a:avLst/>
          </a:prstGeom>
          <a:solidFill>
            <a:srgbClr val="FFFFFF"/>
          </a:solidFill>
          <a:ln w="8890">
            <a:solidFill>
              <a:srgbClr val="DEDEE2"/>
            </a:solidFill>
            <a:prstDash val="solid"/>
          </a:ln>
        </p:spPr>
      </p:sp>
      <p:sp>
        <p:nvSpPr>
          <p:cNvPr id="33" name="Text 30"/>
          <p:cNvSpPr/>
          <p:nvPr/>
        </p:nvSpPr>
        <p:spPr>
          <a:xfrm>
            <a:off x="5468112" y="3803904"/>
            <a:ext cx="5980176" cy="521208"/>
          </a:xfrm>
          <a:prstGeom prst="rect">
            <a:avLst/>
          </a:prstGeom>
          <a:noFill/>
          <a:ln/>
        </p:spPr>
        <p:txBody>
          <a:bodyPr wrap="square" lIns="0" tIns="0" rIns="0" bIns="0" rtlCol="0" anchor="t">
            <a:normAutofit/>
          </a:bodyPr>
          <a:lstStyle/>
          <a:p>
            <a:pPr indent="0" marL="0">
              <a:buNone/>
            </a:pPr>
            <a:r>
              <a:rPr lang="en-US" sz="1800" dirty="0">
                <a:solidFill>
                  <a:srgbClr val="626269"/>
                </a:solidFill>
                <a:latin typeface="Arial" pitchFamily="34" charset="0"/>
                <a:ea typeface="Arial" pitchFamily="34" charset="-122"/>
                <a:cs typeface="Arial" pitchFamily="34" charset="-120"/>
              </a:rPr>
              <a:t>Externos, locale y significado del destino</a:t>
            </a:r>
            <a:endParaRPr lang="en-US" sz="1800" dirty="0"/>
          </a:p>
        </p:txBody>
      </p:sp>
      <p:sp>
        <p:nvSpPr>
          <p:cNvPr id="34" name="Shape 31"/>
          <p:cNvSpPr/>
          <p:nvPr/>
        </p:nvSpPr>
        <p:spPr>
          <a:xfrm>
            <a:off x="594360" y="4370832"/>
            <a:ext cx="914400" cy="704088"/>
          </a:xfrm>
          <a:prstGeom prst="rect">
            <a:avLst/>
          </a:prstGeom>
          <a:solidFill>
            <a:srgbClr val="EEEEF1"/>
          </a:solidFill>
          <a:ln w="8890">
            <a:solidFill>
              <a:srgbClr val="DEDEE2"/>
            </a:solidFill>
            <a:prstDash val="solid"/>
          </a:ln>
        </p:spPr>
      </p:sp>
      <p:sp>
        <p:nvSpPr>
          <p:cNvPr id="35" name="Text 32"/>
          <p:cNvSpPr/>
          <p:nvPr/>
        </p:nvSpPr>
        <p:spPr>
          <a:xfrm>
            <a:off x="713232" y="4507992"/>
            <a:ext cx="676656" cy="521208"/>
          </a:xfrm>
          <a:prstGeom prst="rect">
            <a:avLst/>
          </a:prstGeom>
          <a:noFill/>
          <a:ln/>
        </p:spPr>
        <p:txBody>
          <a:bodyPr wrap="square" lIns="0" tIns="0" rIns="0" bIns="0" rtlCol="0" anchor="t">
            <a:normAutofit/>
          </a:bodyPr>
          <a:lstStyle/>
          <a:p>
            <a:pPr indent="0" marL="0">
              <a:buNone/>
            </a:pPr>
            <a:r>
              <a:rPr lang="en-US" sz="1800" b="1" dirty="0">
                <a:solidFill>
                  <a:srgbClr val="242426"/>
                </a:solidFill>
                <a:latin typeface="Arial" pitchFamily="34" charset="0"/>
                <a:ea typeface="Arial" pitchFamily="34" charset="-122"/>
                <a:cs typeface="Arial" pitchFamily="34" charset="-120"/>
              </a:rPr>
              <a:t>4</a:t>
            </a:r>
            <a:endParaRPr lang="en-US" sz="1800" dirty="0"/>
          </a:p>
        </p:txBody>
      </p:sp>
      <p:sp>
        <p:nvSpPr>
          <p:cNvPr id="36" name="Shape 33"/>
          <p:cNvSpPr/>
          <p:nvPr/>
        </p:nvSpPr>
        <p:spPr>
          <a:xfrm>
            <a:off x="1508760" y="4370832"/>
            <a:ext cx="3840480" cy="704088"/>
          </a:xfrm>
          <a:prstGeom prst="rect">
            <a:avLst/>
          </a:prstGeom>
          <a:solidFill>
            <a:srgbClr val="EEEEF1"/>
          </a:solidFill>
          <a:ln w="8890">
            <a:solidFill>
              <a:srgbClr val="DEDEE2"/>
            </a:solidFill>
            <a:prstDash val="solid"/>
          </a:ln>
        </p:spPr>
      </p:sp>
      <p:sp>
        <p:nvSpPr>
          <p:cNvPr id="37" name="Text 34"/>
          <p:cNvSpPr/>
          <p:nvPr/>
        </p:nvSpPr>
        <p:spPr>
          <a:xfrm>
            <a:off x="1627632" y="4507992"/>
            <a:ext cx="3602736" cy="521208"/>
          </a:xfrm>
          <a:prstGeom prst="rect">
            <a:avLst/>
          </a:prstGeom>
          <a:noFill/>
          <a:ln/>
        </p:spPr>
        <p:txBody>
          <a:bodyPr wrap="square" lIns="0" tIns="0" rIns="0" bIns="0" rtlCol="0" anchor="t">
            <a:normAutofit/>
          </a:bodyPr>
          <a:lstStyle/>
          <a:p>
            <a:pPr indent="0" marL="0">
              <a:buNone/>
            </a:pPr>
            <a:r>
              <a:rPr lang="en-US" sz="1800" dirty="0">
                <a:solidFill>
                  <a:srgbClr val="626269"/>
                </a:solidFill>
                <a:latin typeface="Arial" pitchFamily="34" charset="0"/>
                <a:ea typeface="Arial" pitchFamily="34" charset="-122"/>
                <a:cs typeface="Arial" pitchFamily="34" charset="-120"/>
              </a:rPr>
              <a:t>Ensayo con sitio desconocido</a:t>
            </a:r>
            <a:endParaRPr lang="en-US" sz="1800" dirty="0"/>
          </a:p>
        </p:txBody>
      </p:sp>
      <p:sp>
        <p:nvSpPr>
          <p:cNvPr id="38" name="Shape 35"/>
          <p:cNvSpPr/>
          <p:nvPr/>
        </p:nvSpPr>
        <p:spPr>
          <a:xfrm>
            <a:off x="5349240" y="4370832"/>
            <a:ext cx="6217920" cy="704088"/>
          </a:xfrm>
          <a:prstGeom prst="rect">
            <a:avLst/>
          </a:prstGeom>
          <a:solidFill>
            <a:srgbClr val="EEEEF1"/>
          </a:solidFill>
          <a:ln w="8890">
            <a:solidFill>
              <a:srgbClr val="DEDEE2"/>
            </a:solidFill>
            <a:prstDash val="solid"/>
          </a:ln>
        </p:spPr>
      </p:sp>
      <p:sp>
        <p:nvSpPr>
          <p:cNvPr id="39" name="Text 36"/>
          <p:cNvSpPr/>
          <p:nvPr/>
        </p:nvSpPr>
        <p:spPr>
          <a:xfrm>
            <a:off x="5468112" y="4507992"/>
            <a:ext cx="5980176" cy="521208"/>
          </a:xfrm>
          <a:prstGeom prst="rect">
            <a:avLst/>
          </a:prstGeom>
          <a:noFill/>
          <a:ln/>
        </p:spPr>
        <p:txBody>
          <a:bodyPr wrap="square" lIns="0" tIns="0" rIns="0" bIns="0" rtlCol="0" anchor="t">
            <a:normAutofit/>
          </a:bodyPr>
          <a:lstStyle/>
          <a:p>
            <a:pPr indent="0" marL="0">
              <a:buNone/>
            </a:pPr>
            <a:r>
              <a:rPr lang="en-US" sz="1800" dirty="0">
                <a:solidFill>
                  <a:srgbClr val="626269"/>
                </a:solidFill>
                <a:latin typeface="Arial" pitchFamily="34" charset="0"/>
                <a:ea typeface="Arial" pitchFamily="34" charset="-122"/>
                <a:cs typeface="Arial" pitchFamily="34" charset="-120"/>
              </a:rPr>
              <a:t>Sin cambios de código + revisión de calidad</a:t>
            </a:r>
            <a:endParaRPr lang="en-US" sz="1800" dirty="0"/>
          </a:p>
        </p:txBody>
      </p:sp>
      <p:sp>
        <p:nvSpPr>
          <p:cNvPr id="40" name="Shape 37"/>
          <p:cNvSpPr/>
          <p:nvPr/>
        </p:nvSpPr>
        <p:spPr>
          <a:xfrm>
            <a:off x="594360" y="5074920"/>
            <a:ext cx="914400" cy="704088"/>
          </a:xfrm>
          <a:prstGeom prst="rect">
            <a:avLst/>
          </a:prstGeom>
          <a:solidFill>
            <a:srgbClr val="FFFFFF"/>
          </a:solidFill>
          <a:ln w="8890">
            <a:solidFill>
              <a:srgbClr val="DEDEE2"/>
            </a:solidFill>
            <a:prstDash val="solid"/>
          </a:ln>
        </p:spPr>
      </p:sp>
      <p:sp>
        <p:nvSpPr>
          <p:cNvPr id="41" name="Text 38"/>
          <p:cNvSpPr/>
          <p:nvPr/>
        </p:nvSpPr>
        <p:spPr>
          <a:xfrm>
            <a:off x="713232" y="5212080"/>
            <a:ext cx="676656" cy="521208"/>
          </a:xfrm>
          <a:prstGeom prst="rect">
            <a:avLst/>
          </a:prstGeom>
          <a:noFill/>
          <a:ln/>
        </p:spPr>
        <p:txBody>
          <a:bodyPr wrap="square" lIns="0" tIns="0" rIns="0" bIns="0" rtlCol="0" anchor="t">
            <a:normAutofit/>
          </a:bodyPr>
          <a:lstStyle/>
          <a:p>
            <a:pPr indent="0" marL="0">
              <a:buNone/>
            </a:pPr>
            <a:r>
              <a:rPr lang="en-US" sz="1800" b="1" dirty="0">
                <a:solidFill>
                  <a:srgbClr val="242426"/>
                </a:solidFill>
                <a:latin typeface="Arial" pitchFamily="34" charset="0"/>
                <a:ea typeface="Arial" pitchFamily="34" charset="-122"/>
                <a:cs typeface="Arial" pitchFamily="34" charset="-120"/>
              </a:rPr>
              <a:t>5</a:t>
            </a:r>
            <a:endParaRPr lang="en-US" sz="1800" dirty="0"/>
          </a:p>
        </p:txBody>
      </p:sp>
      <p:sp>
        <p:nvSpPr>
          <p:cNvPr id="42" name="Shape 39"/>
          <p:cNvSpPr/>
          <p:nvPr/>
        </p:nvSpPr>
        <p:spPr>
          <a:xfrm>
            <a:off x="1508760" y="5074920"/>
            <a:ext cx="3840480" cy="704088"/>
          </a:xfrm>
          <a:prstGeom prst="rect">
            <a:avLst/>
          </a:prstGeom>
          <a:solidFill>
            <a:srgbClr val="FFFFFF"/>
          </a:solidFill>
          <a:ln w="8890">
            <a:solidFill>
              <a:srgbClr val="DEDEE2"/>
            </a:solidFill>
            <a:prstDash val="solid"/>
          </a:ln>
        </p:spPr>
      </p:sp>
      <p:sp>
        <p:nvSpPr>
          <p:cNvPr id="43" name="Text 40"/>
          <p:cNvSpPr/>
          <p:nvPr/>
        </p:nvSpPr>
        <p:spPr>
          <a:xfrm>
            <a:off x="1627632" y="5212080"/>
            <a:ext cx="3602736" cy="521208"/>
          </a:xfrm>
          <a:prstGeom prst="rect">
            <a:avLst/>
          </a:prstGeom>
          <a:noFill/>
          <a:ln/>
        </p:spPr>
        <p:txBody>
          <a:bodyPr wrap="square" lIns="0" tIns="0" rIns="0" bIns="0" rtlCol="0" anchor="t">
            <a:normAutofit/>
          </a:bodyPr>
          <a:lstStyle/>
          <a:p>
            <a:pPr indent="0" marL="0">
              <a:buNone/>
            </a:pPr>
            <a:r>
              <a:rPr lang="en-US" sz="1800" dirty="0">
                <a:solidFill>
                  <a:srgbClr val="626269"/>
                </a:solidFill>
                <a:latin typeface="Arial" pitchFamily="34" charset="0"/>
                <a:ea typeface="Arial" pitchFamily="34" charset="-122"/>
                <a:cs typeface="Arial" pitchFamily="34" charset="-120"/>
              </a:rPr>
              <a:t>Robustez y límites</a:t>
            </a:r>
            <a:endParaRPr lang="en-US" sz="1800" dirty="0"/>
          </a:p>
        </p:txBody>
      </p:sp>
      <p:sp>
        <p:nvSpPr>
          <p:cNvPr id="44" name="Shape 41"/>
          <p:cNvSpPr/>
          <p:nvPr/>
        </p:nvSpPr>
        <p:spPr>
          <a:xfrm>
            <a:off x="5349240" y="5074920"/>
            <a:ext cx="6217920" cy="704088"/>
          </a:xfrm>
          <a:prstGeom prst="rect">
            <a:avLst/>
          </a:prstGeom>
          <a:solidFill>
            <a:srgbClr val="FFFFFF"/>
          </a:solidFill>
          <a:ln w="8890">
            <a:solidFill>
              <a:srgbClr val="DEDEE2"/>
            </a:solidFill>
            <a:prstDash val="solid"/>
          </a:ln>
        </p:spPr>
      </p:sp>
      <p:sp>
        <p:nvSpPr>
          <p:cNvPr id="45" name="Text 42"/>
          <p:cNvSpPr/>
          <p:nvPr/>
        </p:nvSpPr>
        <p:spPr>
          <a:xfrm>
            <a:off x="5468112" y="5212080"/>
            <a:ext cx="5980176" cy="521208"/>
          </a:xfrm>
          <a:prstGeom prst="rect">
            <a:avLst/>
          </a:prstGeom>
          <a:noFill/>
          <a:ln/>
        </p:spPr>
        <p:txBody>
          <a:bodyPr wrap="square" lIns="0" tIns="0" rIns="0" bIns="0" rtlCol="0" anchor="t">
            <a:normAutofit/>
          </a:bodyPr>
          <a:lstStyle/>
          <a:p>
            <a:pPr indent="0" marL="0">
              <a:buNone/>
            </a:pPr>
            <a:r>
              <a:rPr lang="en-US" sz="1800" dirty="0">
                <a:solidFill>
                  <a:srgbClr val="626269"/>
                </a:solidFill>
                <a:latin typeface="Arial" pitchFamily="34" charset="0"/>
                <a:ea typeface="Arial" pitchFamily="34" charset="-122"/>
                <a:cs typeface="Arial" pitchFamily="34" charset="-120"/>
              </a:rPr>
              <a:t>Chunking y explicaciones consistentes</a:t>
            </a:r>
            <a:endParaRPr lang="en-US" sz="1800" dirty="0"/>
          </a:p>
        </p:txBody>
      </p:sp>
      <p:sp>
        <p:nvSpPr>
          <p:cNvPr id="46" name="Text 43"/>
          <p:cNvSpPr/>
          <p:nvPr/>
        </p:nvSpPr>
        <p:spPr>
          <a:xfrm>
            <a:off x="594360" y="6053328"/>
            <a:ext cx="10972800" cy="274320"/>
          </a:xfrm>
          <a:prstGeom prst="rect">
            <a:avLst/>
          </a:prstGeom>
          <a:noFill/>
          <a:ln/>
        </p:spPr>
        <p:txBody>
          <a:bodyPr wrap="square" lIns="0" tIns="0" rIns="0" bIns="0" rtlCol="0" anchor="t">
            <a:normAutofit/>
          </a:bodyPr>
          <a:lstStyle/>
          <a:p>
            <a:pPr indent="0" marL="0">
              <a:buNone/>
            </a:pPr>
            <a:r>
              <a:rPr lang="en-US" sz="1600" b="1" dirty="0">
                <a:solidFill>
                  <a:srgbClr val="A80000"/>
                </a:solidFill>
                <a:latin typeface="Arial" pitchFamily="34" charset="0"/>
                <a:ea typeface="Arial" pitchFamily="34" charset="-122"/>
                <a:cs typeface="Arial" pitchFamily="34" charset="-120"/>
              </a:rPr>
              <a:t>Prioridad para acordar hoy: consolidar la base antes de ampliar el alcance.</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4F5"/>
        </a:solidFill>
      </p:bgPr>
    </p:bg>
    <p:spTree>
      <p:nvGrpSpPr>
        <p:cNvPr id="1" name=""/>
        <p:cNvGrpSpPr/>
        <p:nvPr/>
      </p:nvGrpSpPr>
      <p:grpSpPr>
        <a:xfrm>
          <a:off x="0" y="0"/>
          <a:ext cx="0" cy="0"/>
          <a:chOff x="0" y="0"/>
          <a:chExt cx="0" cy="0"/>
        </a:xfrm>
      </p:grpSpPr>
      <p:sp>
        <p:nvSpPr>
          <p:cNvPr id="2" name="Shape 0"/>
          <p:cNvSpPr/>
          <p:nvPr/>
        </p:nvSpPr>
        <p:spPr>
          <a:xfrm>
            <a:off x="0" y="0"/>
            <a:ext cx="12192000" cy="68580"/>
          </a:xfrm>
          <a:prstGeom prst="rect">
            <a:avLst/>
          </a:prstGeom>
          <a:solidFill>
            <a:srgbClr val="A80000"/>
          </a:solidFill>
          <a:ln w="8890">
            <a:solidFill>
              <a:srgbClr val="A80000"/>
            </a:solidFill>
            <a:prstDash val="solid"/>
          </a:ln>
        </p:spPr>
      </p:sp>
      <p:sp>
        <p:nvSpPr>
          <p:cNvPr id="3" name="Text 1"/>
          <p:cNvSpPr/>
          <p:nvPr/>
        </p:nvSpPr>
        <p:spPr>
          <a:xfrm>
            <a:off x="594360" y="274320"/>
            <a:ext cx="10058400" cy="219456"/>
          </a:xfrm>
          <a:prstGeom prst="rect">
            <a:avLst/>
          </a:prstGeom>
          <a:noFill/>
          <a:ln/>
        </p:spPr>
        <p:txBody>
          <a:bodyPr wrap="square" lIns="0" tIns="0" rIns="0" bIns="0" rtlCol="0" anchor="t">
            <a:normAutofit/>
          </a:bodyPr>
          <a:lstStyle/>
          <a:p>
            <a:pPr indent="0" marL="0">
              <a:buNone/>
            </a:pPr>
            <a:r>
              <a:rPr lang="en-US" sz="1000" b="1" dirty="0">
                <a:solidFill>
                  <a:srgbClr val="A80000"/>
                </a:solidFill>
                <a:latin typeface="Arial" pitchFamily="34" charset="0"/>
                <a:ea typeface="Arial" pitchFamily="34" charset="-122"/>
                <a:cs typeface="Arial" pitchFamily="34" charset="-120"/>
              </a:rPr>
              <a:t>CIERRE</a:t>
            </a:r>
            <a:endParaRPr lang="en-US" sz="1000" dirty="0"/>
          </a:p>
        </p:txBody>
      </p:sp>
      <p:sp>
        <p:nvSpPr>
          <p:cNvPr id="4" name="Text 2"/>
          <p:cNvSpPr/>
          <p:nvPr/>
        </p:nvSpPr>
        <p:spPr>
          <a:xfrm>
            <a:off x="594360" y="667512"/>
            <a:ext cx="10972800" cy="594360"/>
          </a:xfrm>
          <a:prstGeom prst="rect">
            <a:avLst/>
          </a:prstGeom>
          <a:noFill/>
          <a:ln/>
        </p:spPr>
        <p:txBody>
          <a:bodyPr wrap="square" lIns="0" tIns="0" rIns="0" bIns="0" rtlCol="0" anchor="t">
            <a:normAutofit/>
          </a:bodyPr>
          <a:lstStyle/>
          <a:p>
            <a:pPr indent="0" marL="0">
              <a:buNone/>
            </a:pPr>
            <a:r>
              <a:rPr lang="en-US" sz="3000" b="1" dirty="0">
                <a:solidFill>
                  <a:srgbClr val="242426"/>
                </a:solidFill>
                <a:latin typeface="Arial" pitchFamily="34" charset="0"/>
                <a:ea typeface="Arial" pitchFamily="34" charset="-122"/>
                <a:cs typeface="Arial" pitchFamily="34" charset="-120"/>
              </a:rPr>
              <a:t>Guion para la demo y conversación del equipo</a:t>
            </a:r>
            <a:endParaRPr lang="en-US" sz="3000" dirty="0"/>
          </a:p>
        </p:txBody>
      </p:sp>
      <p:sp>
        <p:nvSpPr>
          <p:cNvPr id="5" name="Shape 3"/>
          <p:cNvSpPr/>
          <p:nvPr/>
        </p:nvSpPr>
        <p:spPr>
          <a:xfrm>
            <a:off x="594360" y="6428232"/>
            <a:ext cx="10972800" cy="0"/>
          </a:xfrm>
          <a:prstGeom prst="line">
            <a:avLst/>
          </a:prstGeom>
          <a:noFill/>
          <a:ln w="17780">
            <a:solidFill>
              <a:srgbClr val="DEDEE2"/>
            </a:solidFill>
            <a:prstDash val="solid"/>
          </a:ln>
        </p:spPr>
      </p:sp>
      <p:sp>
        <p:nvSpPr>
          <p:cNvPr id="6" name="Text 4"/>
          <p:cNvSpPr/>
          <p:nvPr/>
        </p:nvSpPr>
        <p:spPr>
          <a:xfrm>
            <a:off x="594360" y="6547104"/>
            <a:ext cx="3749040" cy="164592"/>
          </a:xfrm>
          <a:prstGeom prst="rect">
            <a:avLst/>
          </a:prstGeom>
          <a:noFill/>
          <a:ln/>
        </p:spPr>
        <p:txBody>
          <a:bodyPr wrap="square" lIns="0" tIns="0" rIns="0" bIns="0" rtlCol="0" anchor="t">
            <a:normAutofit/>
          </a:bodyPr>
          <a:lstStyle/>
          <a:p>
            <a:pPr indent="0" marL="0">
              <a:buNone/>
            </a:pPr>
            <a:r>
              <a:rPr lang="en-US" sz="900" dirty="0">
                <a:solidFill>
                  <a:srgbClr val="626269"/>
                </a:solidFill>
                <a:latin typeface="Arial" pitchFamily="34" charset="0"/>
                <a:ea typeface="Arial" pitchFamily="34" charset="-122"/>
                <a:cs typeface="Arial" pitchFamily="34" charset="-120"/>
              </a:rPr>
              <a:t>SKYNET · 15 OCT 2026 · PRELIMINAR</a:t>
            </a:r>
            <a:endParaRPr lang="en-US" sz="900" dirty="0"/>
          </a:p>
        </p:txBody>
      </p:sp>
      <p:sp>
        <p:nvSpPr>
          <p:cNvPr id="7" name="Text 5"/>
          <p:cNvSpPr/>
          <p:nvPr/>
        </p:nvSpPr>
        <p:spPr>
          <a:xfrm>
            <a:off x="3931920" y="6547104"/>
            <a:ext cx="7178040" cy="164592"/>
          </a:xfrm>
          <a:prstGeom prst="rect">
            <a:avLst/>
          </a:prstGeom>
          <a:noFill/>
          <a:ln/>
        </p:spPr>
        <p:txBody>
          <a:bodyPr wrap="square" lIns="0" tIns="0" rIns="0" bIns="0" rtlCol="0" anchor="t">
            <a:normAutofit/>
          </a:bodyPr>
          <a:lstStyle/>
          <a:p>
            <a:pPr algn="r" indent="0" marL="0">
              <a:buNone/>
            </a:pPr>
            <a:r>
              <a:rPr lang="en-US" sz="850" dirty="0">
                <a:solidFill>
                  <a:srgbClr val="626269"/>
                </a:solidFill>
                <a:latin typeface="Arial" pitchFamily="34" charset="0"/>
                <a:ea typeface="Arial" pitchFamily="34" charset="-122"/>
                <a:cs typeface="Arial" pitchFamily="34" charset="-120"/>
              </a:rPr>
              <a:t>Aplicación local; funcionalidades implementadas</a:t>
            </a:r>
            <a:endParaRPr lang="en-US" sz="850" dirty="0"/>
          </a:p>
        </p:txBody>
      </p:sp>
      <p:sp>
        <p:nvSpPr>
          <p:cNvPr id="8" name="Text 6"/>
          <p:cNvSpPr/>
          <p:nvPr/>
        </p:nvSpPr>
        <p:spPr>
          <a:xfrm>
            <a:off x="11292840" y="6510528"/>
            <a:ext cx="320040" cy="228600"/>
          </a:xfrm>
          <a:prstGeom prst="rect">
            <a:avLst/>
          </a:prstGeom>
          <a:noFill/>
          <a:ln/>
        </p:spPr>
        <p:txBody>
          <a:bodyPr wrap="square" lIns="0" tIns="0" rIns="0" bIns="0" rtlCol="0" anchor="t">
            <a:normAutofit/>
          </a:bodyPr>
          <a:lstStyle/>
          <a:p>
            <a:pPr algn="r" indent="0" marL="0">
              <a:buNone/>
            </a:pPr>
            <a:r>
              <a:rPr lang="en-US" sz="1100" b="1" dirty="0">
                <a:solidFill>
                  <a:srgbClr val="A80000"/>
                </a:solidFill>
                <a:latin typeface="Arial" pitchFamily="34" charset="0"/>
                <a:ea typeface="Arial" pitchFamily="34" charset="-122"/>
                <a:cs typeface="Arial" pitchFamily="34" charset="-120"/>
              </a:rPr>
              <a:t>20</a:t>
            </a:r>
            <a:endParaRPr lang="en-US" sz="1100" dirty="0"/>
          </a:p>
        </p:txBody>
      </p:sp>
      <p:sp>
        <p:nvSpPr>
          <p:cNvPr id="10" name="Shape 7"/>
          <p:cNvSpPr/>
          <p:nvPr/>
        </p:nvSpPr>
        <p:spPr>
          <a:xfrm>
            <a:off x="731520" y="1892808"/>
            <a:ext cx="64008" cy="64008"/>
          </a:xfrm>
          <a:prstGeom prst="rect">
            <a:avLst/>
          </a:prstGeom>
          <a:solidFill>
            <a:srgbClr val="A80000"/>
          </a:solidFill>
          <a:ln w="8890">
            <a:solidFill>
              <a:srgbClr val="A80000"/>
            </a:solidFill>
            <a:prstDash val="solid"/>
          </a:ln>
        </p:spPr>
      </p:sp>
      <p:sp>
        <p:nvSpPr>
          <p:cNvPr id="11" name="Text 8"/>
          <p:cNvSpPr/>
          <p:nvPr/>
        </p:nvSpPr>
        <p:spPr>
          <a:xfrm>
            <a:off x="932688" y="1783080"/>
            <a:ext cx="10314432" cy="713232"/>
          </a:xfrm>
          <a:prstGeom prst="rect">
            <a:avLst/>
          </a:prstGeom>
          <a:noFill/>
          <a:ln/>
        </p:spPr>
        <p:txBody>
          <a:bodyPr wrap="square" lIns="0" tIns="0" rIns="0" bIns="0" rtlCol="0" anchor="t">
            <a:normAutofit/>
          </a:bodyPr>
          <a:lstStyle/>
          <a:p>
            <a:pPr indent="0" marL="0">
              <a:buNone/>
            </a:pPr>
            <a:r>
              <a:rPr lang="en-US" sz="2200" dirty="0">
                <a:solidFill>
                  <a:srgbClr val="242426"/>
                </a:solidFill>
                <a:latin typeface="Arial" pitchFamily="34" charset="0"/>
                <a:ea typeface="Arial" pitchFamily="34" charset="-122"/>
                <a:cs typeface="Arial" pitchFamily="34" charset="-120"/>
              </a:rPr>
              <a:t>Mostrar la corrida actual: 22 hallazgos y cobertura real.</a:t>
            </a:r>
            <a:endParaRPr lang="en-US" sz="2200" dirty="0"/>
          </a:p>
        </p:txBody>
      </p:sp>
      <p:sp>
        <p:nvSpPr>
          <p:cNvPr id="12" name="Shape 9"/>
          <p:cNvSpPr/>
          <p:nvPr/>
        </p:nvSpPr>
        <p:spPr>
          <a:xfrm>
            <a:off x="731520" y="2715768"/>
            <a:ext cx="64008" cy="64008"/>
          </a:xfrm>
          <a:prstGeom prst="rect">
            <a:avLst/>
          </a:prstGeom>
          <a:solidFill>
            <a:srgbClr val="A80000"/>
          </a:solidFill>
          <a:ln w="8890">
            <a:solidFill>
              <a:srgbClr val="A80000"/>
            </a:solidFill>
            <a:prstDash val="solid"/>
          </a:ln>
        </p:spPr>
      </p:sp>
      <p:sp>
        <p:nvSpPr>
          <p:cNvPr id="13" name="Text 10"/>
          <p:cNvSpPr/>
          <p:nvPr/>
        </p:nvSpPr>
        <p:spPr>
          <a:xfrm>
            <a:off x="932688" y="2606040"/>
            <a:ext cx="10314432" cy="713232"/>
          </a:xfrm>
          <a:prstGeom prst="rect">
            <a:avLst/>
          </a:prstGeom>
          <a:noFill/>
          <a:ln/>
        </p:spPr>
        <p:txBody>
          <a:bodyPr wrap="square" lIns="0" tIns="0" rIns="0" bIns="0" rtlCol="0" anchor="t">
            <a:normAutofit/>
          </a:bodyPr>
          <a:lstStyle/>
          <a:p>
            <a:pPr indent="0" marL="0">
              <a:buNone/>
            </a:pPr>
            <a:r>
              <a:rPr lang="en-US" sz="2200" dirty="0">
                <a:solidFill>
                  <a:srgbClr val="242426"/>
                </a:solidFill>
                <a:latin typeface="Arial" pitchFamily="34" charset="0"/>
                <a:ea typeface="Arial" pitchFamily="34" charset="-122"/>
                <a:cs typeface="Arial" pitchFamily="34" charset="-120"/>
              </a:rPr>
              <a:t>Abrir View activity: agentes, no aplicable y detalles técnicos.</a:t>
            </a:r>
            <a:endParaRPr lang="en-US" sz="2200" dirty="0"/>
          </a:p>
        </p:txBody>
      </p:sp>
      <p:sp>
        <p:nvSpPr>
          <p:cNvPr id="14" name="Shape 11"/>
          <p:cNvSpPr/>
          <p:nvPr/>
        </p:nvSpPr>
        <p:spPr>
          <a:xfrm>
            <a:off x="731520" y="3538728"/>
            <a:ext cx="64008" cy="64008"/>
          </a:xfrm>
          <a:prstGeom prst="rect">
            <a:avLst/>
          </a:prstGeom>
          <a:solidFill>
            <a:srgbClr val="A80000"/>
          </a:solidFill>
          <a:ln w="8890">
            <a:solidFill>
              <a:srgbClr val="A80000"/>
            </a:solidFill>
            <a:prstDash val="solid"/>
          </a:ln>
        </p:spPr>
      </p:sp>
      <p:sp>
        <p:nvSpPr>
          <p:cNvPr id="15" name="Text 12"/>
          <p:cNvSpPr/>
          <p:nvPr/>
        </p:nvSpPr>
        <p:spPr>
          <a:xfrm>
            <a:off x="932688" y="3429000"/>
            <a:ext cx="10314432" cy="713232"/>
          </a:xfrm>
          <a:prstGeom prst="rect">
            <a:avLst/>
          </a:prstGeom>
          <a:noFill/>
          <a:ln/>
        </p:spPr>
        <p:txBody>
          <a:bodyPr wrap="square" lIns="0" tIns="0" rIns="0" bIns="0" rtlCol="0" anchor="t">
            <a:normAutofit/>
          </a:bodyPr>
          <a:lstStyle/>
          <a:p>
            <a:pPr indent="0" marL="0">
              <a:buNone/>
            </a:pPr>
            <a:r>
              <a:rPr lang="en-US" sz="2200" dirty="0">
                <a:solidFill>
                  <a:srgbClr val="242426"/>
                </a:solidFill>
                <a:latin typeface="Arial" pitchFamily="34" charset="0"/>
                <a:ea typeface="Arial" pitchFamily="34" charset="-122"/>
                <a:cs typeface="Arial" pitchFamily="34" charset="-120"/>
              </a:rPr>
              <a:t>Abrir una tarjeta: evidencia, corrección y ubicación en el sitio.</a:t>
            </a:r>
            <a:endParaRPr lang="en-US" sz="2200" dirty="0"/>
          </a:p>
        </p:txBody>
      </p:sp>
      <p:sp>
        <p:nvSpPr>
          <p:cNvPr id="16" name="Shape 13"/>
          <p:cNvSpPr/>
          <p:nvPr/>
        </p:nvSpPr>
        <p:spPr>
          <a:xfrm>
            <a:off x="731520" y="4361688"/>
            <a:ext cx="64008" cy="64008"/>
          </a:xfrm>
          <a:prstGeom prst="rect">
            <a:avLst/>
          </a:prstGeom>
          <a:solidFill>
            <a:srgbClr val="A80000"/>
          </a:solidFill>
          <a:ln w="8890">
            <a:solidFill>
              <a:srgbClr val="A80000"/>
            </a:solidFill>
            <a:prstDash val="solid"/>
          </a:ln>
        </p:spPr>
      </p:sp>
      <p:sp>
        <p:nvSpPr>
          <p:cNvPr id="17" name="Text 14"/>
          <p:cNvSpPr/>
          <p:nvPr/>
        </p:nvSpPr>
        <p:spPr>
          <a:xfrm>
            <a:off x="932688" y="4251960"/>
            <a:ext cx="10314432" cy="713232"/>
          </a:xfrm>
          <a:prstGeom prst="rect">
            <a:avLst/>
          </a:prstGeom>
          <a:noFill/>
          <a:ln/>
        </p:spPr>
        <p:txBody>
          <a:bodyPr wrap="square" lIns="0" tIns="0" rIns="0" bIns="0" rtlCol="0" anchor="t">
            <a:normAutofit/>
          </a:bodyPr>
          <a:lstStyle/>
          <a:p>
            <a:pPr indent="0" marL="0">
              <a:buNone/>
            </a:pPr>
            <a:r>
              <a:rPr lang="en-US" sz="2200" dirty="0">
                <a:solidFill>
                  <a:srgbClr val="242426"/>
                </a:solidFill>
                <a:latin typeface="Arial" pitchFamily="34" charset="0"/>
                <a:ea typeface="Arial" pitchFamily="34" charset="-122"/>
                <a:cs typeface="Arial" pitchFamily="34" charset="-120"/>
              </a:rPr>
              <a:t>Explicar Verify / Dismiss / Escalate y Clear results.</a:t>
            </a:r>
            <a:endParaRPr lang="en-US" sz="2200" dirty="0"/>
          </a:p>
        </p:txBody>
      </p:sp>
      <p:sp>
        <p:nvSpPr>
          <p:cNvPr id="18" name="Shape 15"/>
          <p:cNvSpPr/>
          <p:nvPr/>
        </p:nvSpPr>
        <p:spPr>
          <a:xfrm>
            <a:off x="594360" y="5669280"/>
            <a:ext cx="10972800" cy="438912"/>
          </a:xfrm>
          <a:prstGeom prst="rect">
            <a:avLst/>
          </a:prstGeom>
          <a:solidFill>
            <a:srgbClr val="151515"/>
          </a:solidFill>
          <a:ln w="8890">
            <a:solidFill>
              <a:srgbClr val="151515"/>
            </a:solidFill>
            <a:prstDash val="solid"/>
          </a:ln>
        </p:spPr>
      </p:sp>
      <p:sp>
        <p:nvSpPr>
          <p:cNvPr id="19" name="Text 16"/>
          <p:cNvSpPr/>
          <p:nvPr/>
        </p:nvSpPr>
        <p:spPr>
          <a:xfrm>
            <a:off x="777240" y="5760720"/>
            <a:ext cx="10607040" cy="274320"/>
          </a:xfrm>
          <a:prstGeom prst="rect">
            <a:avLst/>
          </a:prstGeom>
          <a:noFill/>
          <a:ln/>
        </p:spPr>
        <p:txBody>
          <a:bodyPr wrap="square" lIns="0" tIns="0" rIns="0" bIns="0" rtlCol="0" anchor="t">
            <a:normAutofit/>
          </a:bodyPr>
          <a:lstStyle/>
          <a:p>
            <a:pPr indent="0" marL="0">
              <a:buNone/>
            </a:pPr>
            <a:r>
              <a:rPr lang="en-US" sz="1500" b="1" dirty="0">
                <a:solidFill>
                  <a:srgbClr val="FFFFFF"/>
                </a:solidFill>
                <a:latin typeface="Arial" pitchFamily="34" charset="0"/>
                <a:ea typeface="Arial" pitchFamily="34" charset="-122"/>
                <a:cs typeface="Arial" pitchFamily="34" charset="-120"/>
              </a:rPr>
              <a:t>Para acordar: prioridad de persistencia, responsables y criterio de calidad para el siguiente ensayo.</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4F5"/>
        </a:solidFill>
      </p:bgPr>
    </p:bg>
    <p:spTree>
      <p:nvGrpSpPr>
        <p:cNvPr id="1" name=""/>
        <p:cNvGrpSpPr/>
        <p:nvPr/>
      </p:nvGrpSpPr>
      <p:grpSpPr>
        <a:xfrm>
          <a:off x="0" y="0"/>
          <a:ext cx="0" cy="0"/>
          <a:chOff x="0" y="0"/>
          <a:chExt cx="0" cy="0"/>
        </a:xfrm>
      </p:grpSpPr>
      <p:sp>
        <p:nvSpPr>
          <p:cNvPr id="2" name="Shape 0"/>
          <p:cNvSpPr/>
          <p:nvPr/>
        </p:nvSpPr>
        <p:spPr>
          <a:xfrm>
            <a:off x="0" y="0"/>
            <a:ext cx="12192000" cy="68580"/>
          </a:xfrm>
          <a:prstGeom prst="rect">
            <a:avLst/>
          </a:prstGeom>
          <a:solidFill>
            <a:srgbClr val="A80000"/>
          </a:solidFill>
          <a:ln w="8890">
            <a:solidFill>
              <a:srgbClr val="A80000"/>
            </a:solidFill>
            <a:prstDash val="solid"/>
          </a:ln>
        </p:spPr>
      </p:sp>
      <p:sp>
        <p:nvSpPr>
          <p:cNvPr id="3" name="Text 1"/>
          <p:cNvSpPr/>
          <p:nvPr/>
        </p:nvSpPr>
        <p:spPr>
          <a:xfrm>
            <a:off x="594360" y="274320"/>
            <a:ext cx="10058400" cy="219456"/>
          </a:xfrm>
          <a:prstGeom prst="rect">
            <a:avLst/>
          </a:prstGeom>
          <a:noFill/>
          <a:ln/>
        </p:spPr>
        <p:txBody>
          <a:bodyPr wrap="square" lIns="0" tIns="0" rIns="0" bIns="0" rtlCol="0" anchor="t">
            <a:normAutofit/>
          </a:bodyPr>
          <a:lstStyle/>
          <a:p>
            <a:pPr indent="0" marL="0">
              <a:buNone/>
            </a:pPr>
            <a:r>
              <a:rPr lang="en-US" sz="1000" b="1" dirty="0">
                <a:solidFill>
                  <a:srgbClr val="A80000"/>
                </a:solidFill>
                <a:latin typeface="Arial" pitchFamily="34" charset="0"/>
                <a:ea typeface="Arial" pitchFamily="34" charset="-122"/>
                <a:cs typeface="Arial" pitchFamily="34" charset="-120"/>
              </a:rPr>
              <a:t>REFERENCIA TÉCNICA</a:t>
            </a:r>
            <a:endParaRPr lang="en-US" sz="1000" dirty="0"/>
          </a:p>
        </p:txBody>
      </p:sp>
      <p:sp>
        <p:nvSpPr>
          <p:cNvPr id="4" name="Text 2"/>
          <p:cNvSpPr/>
          <p:nvPr/>
        </p:nvSpPr>
        <p:spPr>
          <a:xfrm>
            <a:off x="594360" y="667512"/>
            <a:ext cx="10972800" cy="594360"/>
          </a:xfrm>
          <a:prstGeom prst="rect">
            <a:avLst/>
          </a:prstGeom>
          <a:noFill/>
          <a:ln/>
        </p:spPr>
        <p:txBody>
          <a:bodyPr wrap="square" lIns="0" tIns="0" rIns="0" bIns="0" rtlCol="0" anchor="t">
            <a:normAutofit/>
          </a:bodyPr>
          <a:lstStyle/>
          <a:p>
            <a:pPr indent="0" marL="0">
              <a:buNone/>
            </a:pPr>
            <a:r>
              <a:rPr lang="en-US" sz="3000" b="1" dirty="0">
                <a:solidFill>
                  <a:srgbClr val="242426"/>
                </a:solidFill>
                <a:latin typeface="Arial" pitchFamily="34" charset="0"/>
                <a:ea typeface="Arial" pitchFamily="34" charset="-122"/>
                <a:cs typeface="Arial" pitchFamily="34" charset="-120"/>
              </a:rPr>
              <a:t>Anexo A · API disponible</a:t>
            </a:r>
            <a:endParaRPr lang="en-US" sz="3000" dirty="0"/>
          </a:p>
        </p:txBody>
      </p:sp>
      <p:sp>
        <p:nvSpPr>
          <p:cNvPr id="5" name="Shape 3"/>
          <p:cNvSpPr/>
          <p:nvPr/>
        </p:nvSpPr>
        <p:spPr>
          <a:xfrm>
            <a:off x="594360" y="6428232"/>
            <a:ext cx="10972800" cy="0"/>
          </a:xfrm>
          <a:prstGeom prst="line">
            <a:avLst/>
          </a:prstGeom>
          <a:noFill/>
          <a:ln w="17780">
            <a:solidFill>
              <a:srgbClr val="DEDEE2"/>
            </a:solidFill>
            <a:prstDash val="solid"/>
          </a:ln>
        </p:spPr>
      </p:sp>
      <p:sp>
        <p:nvSpPr>
          <p:cNvPr id="6" name="Text 4"/>
          <p:cNvSpPr/>
          <p:nvPr/>
        </p:nvSpPr>
        <p:spPr>
          <a:xfrm>
            <a:off x="594360" y="6547104"/>
            <a:ext cx="3749040" cy="164592"/>
          </a:xfrm>
          <a:prstGeom prst="rect">
            <a:avLst/>
          </a:prstGeom>
          <a:noFill/>
          <a:ln/>
        </p:spPr>
        <p:txBody>
          <a:bodyPr wrap="square" lIns="0" tIns="0" rIns="0" bIns="0" rtlCol="0" anchor="t">
            <a:normAutofit/>
          </a:bodyPr>
          <a:lstStyle/>
          <a:p>
            <a:pPr indent="0" marL="0">
              <a:buNone/>
            </a:pPr>
            <a:r>
              <a:rPr lang="en-US" sz="900" dirty="0">
                <a:solidFill>
                  <a:srgbClr val="626269"/>
                </a:solidFill>
                <a:latin typeface="Arial" pitchFamily="34" charset="0"/>
                <a:ea typeface="Arial" pitchFamily="34" charset="-122"/>
                <a:cs typeface="Arial" pitchFamily="34" charset="-120"/>
              </a:rPr>
              <a:t>SKYNET · 15 OCT 2026 · PRELIMINAR</a:t>
            </a:r>
            <a:endParaRPr lang="en-US" sz="900" dirty="0"/>
          </a:p>
        </p:txBody>
      </p:sp>
      <p:sp>
        <p:nvSpPr>
          <p:cNvPr id="7" name="Text 5"/>
          <p:cNvSpPr/>
          <p:nvPr/>
        </p:nvSpPr>
        <p:spPr>
          <a:xfrm>
            <a:off x="3931920" y="6547104"/>
            <a:ext cx="7178040" cy="164592"/>
          </a:xfrm>
          <a:prstGeom prst="rect">
            <a:avLst/>
          </a:prstGeom>
          <a:noFill/>
          <a:ln/>
        </p:spPr>
        <p:txBody>
          <a:bodyPr wrap="square" lIns="0" tIns="0" rIns="0" bIns="0" rtlCol="0" anchor="t">
            <a:normAutofit/>
          </a:bodyPr>
          <a:lstStyle/>
          <a:p>
            <a:pPr algn="r" indent="0" marL="0">
              <a:buNone/>
            </a:pPr>
            <a:r>
              <a:rPr lang="en-US" sz="850" dirty="0">
                <a:solidFill>
                  <a:srgbClr val="626269"/>
                </a:solidFill>
                <a:latin typeface="Arial" pitchFamily="34" charset="0"/>
                <a:ea typeface="Arial" pitchFamily="34" charset="-122"/>
                <a:cs typeface="Arial" pitchFamily="34" charset="-120"/>
              </a:rPr>
              <a:t>src/server.ts</a:t>
            </a:r>
            <a:endParaRPr lang="en-US" sz="850" dirty="0"/>
          </a:p>
        </p:txBody>
      </p:sp>
      <p:sp>
        <p:nvSpPr>
          <p:cNvPr id="8" name="Text 6"/>
          <p:cNvSpPr/>
          <p:nvPr/>
        </p:nvSpPr>
        <p:spPr>
          <a:xfrm>
            <a:off x="11292840" y="6510528"/>
            <a:ext cx="320040" cy="228600"/>
          </a:xfrm>
          <a:prstGeom prst="rect">
            <a:avLst/>
          </a:prstGeom>
          <a:noFill/>
          <a:ln/>
        </p:spPr>
        <p:txBody>
          <a:bodyPr wrap="square" lIns="0" tIns="0" rIns="0" bIns="0" rtlCol="0" anchor="t">
            <a:normAutofit/>
          </a:bodyPr>
          <a:lstStyle/>
          <a:p>
            <a:pPr algn="r" indent="0" marL="0">
              <a:buNone/>
            </a:pPr>
            <a:r>
              <a:rPr lang="en-US" sz="1100" b="1" dirty="0">
                <a:solidFill>
                  <a:srgbClr val="A80000"/>
                </a:solidFill>
                <a:latin typeface="Arial" pitchFamily="34" charset="0"/>
                <a:ea typeface="Arial" pitchFamily="34" charset="-122"/>
                <a:cs typeface="Arial" pitchFamily="34" charset="-120"/>
              </a:rPr>
              <a:t>21</a:t>
            </a:r>
            <a:endParaRPr lang="en-US" sz="1100" dirty="0"/>
          </a:p>
        </p:txBody>
      </p:sp>
      <p:sp>
        <p:nvSpPr>
          <p:cNvPr id="10" name="Shape 7"/>
          <p:cNvSpPr/>
          <p:nvPr/>
        </p:nvSpPr>
        <p:spPr>
          <a:xfrm>
            <a:off x="594360" y="1572768"/>
            <a:ext cx="4800600" cy="475488"/>
          </a:xfrm>
          <a:prstGeom prst="rect">
            <a:avLst/>
          </a:prstGeom>
          <a:solidFill>
            <a:srgbClr val="151515"/>
          </a:solidFill>
          <a:ln w="8890">
            <a:solidFill>
              <a:srgbClr val="151515"/>
            </a:solidFill>
            <a:prstDash val="solid"/>
          </a:ln>
        </p:spPr>
      </p:sp>
      <p:sp>
        <p:nvSpPr>
          <p:cNvPr id="11" name="Text 8"/>
          <p:cNvSpPr/>
          <p:nvPr/>
        </p:nvSpPr>
        <p:spPr>
          <a:xfrm>
            <a:off x="713232" y="1691640"/>
            <a:ext cx="4562856" cy="274320"/>
          </a:xfrm>
          <a:prstGeom prst="rect">
            <a:avLst/>
          </a:prstGeom>
          <a:noFill/>
          <a:ln/>
        </p:spPr>
        <p:txBody>
          <a:bodyPr wrap="square" lIns="0" tIns="0" rIns="0" bIns="0" rtlCol="0" anchor="t">
            <a:normAutofit/>
          </a:bodyPr>
          <a:lstStyle/>
          <a:p>
            <a:pPr indent="0" marL="0">
              <a:buNone/>
            </a:pPr>
            <a:r>
              <a:rPr lang="en-US" sz="1300" b="1" dirty="0">
                <a:solidFill>
                  <a:srgbClr val="FFFFFF"/>
                </a:solidFill>
                <a:latin typeface="Arial" pitchFamily="34" charset="0"/>
                <a:ea typeface="Arial" pitchFamily="34" charset="-122"/>
                <a:cs typeface="Arial" pitchFamily="34" charset="-120"/>
              </a:rPr>
              <a:t>ENDPOINT</a:t>
            </a:r>
            <a:endParaRPr lang="en-US" sz="1300" dirty="0"/>
          </a:p>
        </p:txBody>
      </p:sp>
      <p:sp>
        <p:nvSpPr>
          <p:cNvPr id="12" name="Shape 9"/>
          <p:cNvSpPr/>
          <p:nvPr/>
        </p:nvSpPr>
        <p:spPr>
          <a:xfrm>
            <a:off x="5394960" y="1572768"/>
            <a:ext cx="6172200" cy="475488"/>
          </a:xfrm>
          <a:prstGeom prst="rect">
            <a:avLst/>
          </a:prstGeom>
          <a:solidFill>
            <a:srgbClr val="151515"/>
          </a:solidFill>
          <a:ln w="8890">
            <a:solidFill>
              <a:srgbClr val="151515"/>
            </a:solidFill>
            <a:prstDash val="solid"/>
          </a:ln>
        </p:spPr>
      </p:sp>
      <p:sp>
        <p:nvSpPr>
          <p:cNvPr id="13" name="Text 10"/>
          <p:cNvSpPr/>
          <p:nvPr/>
        </p:nvSpPr>
        <p:spPr>
          <a:xfrm>
            <a:off x="5513832" y="1691640"/>
            <a:ext cx="5934456" cy="274320"/>
          </a:xfrm>
          <a:prstGeom prst="rect">
            <a:avLst/>
          </a:prstGeom>
          <a:noFill/>
          <a:ln/>
        </p:spPr>
        <p:txBody>
          <a:bodyPr wrap="square" lIns="0" tIns="0" rIns="0" bIns="0" rtlCol="0" anchor="t">
            <a:normAutofit/>
          </a:bodyPr>
          <a:lstStyle/>
          <a:p>
            <a:pPr indent="0" marL="0">
              <a:buNone/>
            </a:pPr>
            <a:r>
              <a:rPr lang="en-US" sz="1300" b="1" dirty="0">
                <a:solidFill>
                  <a:srgbClr val="FFFFFF"/>
                </a:solidFill>
                <a:latin typeface="Arial" pitchFamily="34" charset="0"/>
                <a:ea typeface="Arial" pitchFamily="34" charset="-122"/>
                <a:cs typeface="Arial" pitchFamily="34" charset="-120"/>
              </a:rPr>
              <a:t>USO</a:t>
            </a:r>
            <a:endParaRPr lang="en-US" sz="1300" dirty="0"/>
          </a:p>
        </p:txBody>
      </p:sp>
      <p:sp>
        <p:nvSpPr>
          <p:cNvPr id="14" name="Shape 11"/>
          <p:cNvSpPr/>
          <p:nvPr/>
        </p:nvSpPr>
        <p:spPr>
          <a:xfrm>
            <a:off x="594360" y="2048256"/>
            <a:ext cx="4800600" cy="557784"/>
          </a:xfrm>
          <a:prstGeom prst="rect">
            <a:avLst/>
          </a:prstGeom>
          <a:solidFill>
            <a:srgbClr val="FFFFFF"/>
          </a:solidFill>
          <a:ln w="8890">
            <a:solidFill>
              <a:srgbClr val="DEDEE2"/>
            </a:solidFill>
            <a:prstDash val="solid"/>
          </a:ln>
        </p:spPr>
      </p:sp>
      <p:sp>
        <p:nvSpPr>
          <p:cNvPr id="15" name="Text 12"/>
          <p:cNvSpPr/>
          <p:nvPr/>
        </p:nvSpPr>
        <p:spPr>
          <a:xfrm>
            <a:off x="713232" y="2185416"/>
            <a:ext cx="4562856" cy="374904"/>
          </a:xfrm>
          <a:prstGeom prst="rect">
            <a:avLst/>
          </a:prstGeom>
          <a:noFill/>
          <a:ln/>
        </p:spPr>
        <p:txBody>
          <a:bodyPr wrap="square" lIns="0" tIns="0" rIns="0" bIns="0" rtlCol="0" anchor="t">
            <a:normAutofit/>
          </a:bodyPr>
          <a:lstStyle/>
          <a:p>
            <a:pPr indent="0" marL="0">
              <a:buNone/>
            </a:pPr>
            <a:r>
              <a:rPr lang="en-US" sz="1600" b="1" dirty="0">
                <a:solidFill>
                  <a:srgbClr val="242426"/>
                </a:solidFill>
                <a:latin typeface="Arial" pitchFamily="34" charset="0"/>
                <a:ea typeface="Arial" pitchFamily="34" charset="-122"/>
                <a:cs typeface="Arial" pitchFamily="34" charset="-120"/>
              </a:rPr>
              <a:t>POST /api/audits</a:t>
            </a:r>
            <a:endParaRPr lang="en-US" sz="1600" dirty="0"/>
          </a:p>
        </p:txBody>
      </p:sp>
      <p:sp>
        <p:nvSpPr>
          <p:cNvPr id="16" name="Shape 13"/>
          <p:cNvSpPr/>
          <p:nvPr/>
        </p:nvSpPr>
        <p:spPr>
          <a:xfrm>
            <a:off x="5394960" y="2048256"/>
            <a:ext cx="6172200" cy="557784"/>
          </a:xfrm>
          <a:prstGeom prst="rect">
            <a:avLst/>
          </a:prstGeom>
          <a:solidFill>
            <a:srgbClr val="FFFFFF"/>
          </a:solidFill>
          <a:ln w="8890">
            <a:solidFill>
              <a:srgbClr val="DEDEE2"/>
            </a:solidFill>
            <a:prstDash val="solid"/>
          </a:ln>
        </p:spPr>
      </p:sp>
      <p:sp>
        <p:nvSpPr>
          <p:cNvPr id="17" name="Text 14"/>
          <p:cNvSpPr/>
          <p:nvPr/>
        </p:nvSpPr>
        <p:spPr>
          <a:xfrm>
            <a:off x="5513832" y="2185416"/>
            <a:ext cx="5934456" cy="374904"/>
          </a:xfrm>
          <a:prstGeom prst="rect">
            <a:avLst/>
          </a:prstGeom>
          <a:noFill/>
          <a:ln/>
        </p:spPr>
        <p:txBody>
          <a:bodyPr wrap="square" lIns="0" tIns="0" rIns="0" bIns="0" rtlCol="0" anchor="t">
            <a:normAutofit/>
          </a:bodyPr>
          <a:lstStyle/>
          <a:p>
            <a:pPr indent="0" marL="0">
              <a:buNone/>
            </a:pPr>
            <a:r>
              <a:rPr lang="en-US" sz="1600" dirty="0">
                <a:solidFill>
                  <a:srgbClr val="626269"/>
                </a:solidFill>
                <a:latin typeface="Arial" pitchFamily="34" charset="0"/>
                <a:ea typeface="Arial" pitchFamily="34" charset="-122"/>
                <a:cs typeface="Arial" pitchFamily="34" charset="-120"/>
              </a:rPr>
              <a:t>Inicia auditoría en segundo plano; devuelve 202</a:t>
            </a:r>
            <a:endParaRPr lang="en-US" sz="1600" dirty="0"/>
          </a:p>
        </p:txBody>
      </p:sp>
      <p:sp>
        <p:nvSpPr>
          <p:cNvPr id="18" name="Shape 15"/>
          <p:cNvSpPr/>
          <p:nvPr/>
        </p:nvSpPr>
        <p:spPr>
          <a:xfrm>
            <a:off x="594360" y="2606040"/>
            <a:ext cx="4800600" cy="557784"/>
          </a:xfrm>
          <a:prstGeom prst="rect">
            <a:avLst/>
          </a:prstGeom>
          <a:solidFill>
            <a:srgbClr val="EEEEF1"/>
          </a:solidFill>
          <a:ln w="8890">
            <a:solidFill>
              <a:srgbClr val="DEDEE2"/>
            </a:solidFill>
            <a:prstDash val="solid"/>
          </a:ln>
        </p:spPr>
      </p:sp>
      <p:sp>
        <p:nvSpPr>
          <p:cNvPr id="19" name="Text 16"/>
          <p:cNvSpPr/>
          <p:nvPr/>
        </p:nvSpPr>
        <p:spPr>
          <a:xfrm>
            <a:off x="713232" y="2743200"/>
            <a:ext cx="4562856" cy="374904"/>
          </a:xfrm>
          <a:prstGeom prst="rect">
            <a:avLst/>
          </a:prstGeom>
          <a:noFill/>
          <a:ln/>
        </p:spPr>
        <p:txBody>
          <a:bodyPr wrap="square" lIns="0" tIns="0" rIns="0" bIns="0" rtlCol="0" anchor="t">
            <a:normAutofit/>
          </a:bodyPr>
          <a:lstStyle/>
          <a:p>
            <a:pPr indent="0" marL="0">
              <a:buNone/>
            </a:pPr>
            <a:r>
              <a:rPr lang="en-US" sz="1600" b="1" dirty="0">
                <a:solidFill>
                  <a:srgbClr val="242426"/>
                </a:solidFill>
                <a:latin typeface="Arial" pitchFamily="34" charset="0"/>
                <a:ea typeface="Arial" pitchFamily="34" charset="-122"/>
                <a:cs typeface="Arial" pitchFamily="34" charset="-120"/>
              </a:rPr>
              <a:t>GET /api/audits/latest</a:t>
            </a:r>
            <a:endParaRPr lang="en-US" sz="1600" dirty="0"/>
          </a:p>
        </p:txBody>
      </p:sp>
      <p:sp>
        <p:nvSpPr>
          <p:cNvPr id="20" name="Shape 17"/>
          <p:cNvSpPr/>
          <p:nvPr/>
        </p:nvSpPr>
        <p:spPr>
          <a:xfrm>
            <a:off x="5394960" y="2606040"/>
            <a:ext cx="6172200" cy="557784"/>
          </a:xfrm>
          <a:prstGeom prst="rect">
            <a:avLst/>
          </a:prstGeom>
          <a:solidFill>
            <a:srgbClr val="EEEEF1"/>
          </a:solidFill>
          <a:ln w="8890">
            <a:solidFill>
              <a:srgbClr val="DEDEE2"/>
            </a:solidFill>
            <a:prstDash val="solid"/>
          </a:ln>
        </p:spPr>
      </p:sp>
      <p:sp>
        <p:nvSpPr>
          <p:cNvPr id="21" name="Text 18"/>
          <p:cNvSpPr/>
          <p:nvPr/>
        </p:nvSpPr>
        <p:spPr>
          <a:xfrm>
            <a:off x="5513832" y="2743200"/>
            <a:ext cx="5934456" cy="374904"/>
          </a:xfrm>
          <a:prstGeom prst="rect">
            <a:avLst/>
          </a:prstGeom>
          <a:noFill/>
          <a:ln/>
        </p:spPr>
        <p:txBody>
          <a:bodyPr wrap="square" lIns="0" tIns="0" rIns="0" bIns="0" rtlCol="0" anchor="t">
            <a:normAutofit/>
          </a:bodyPr>
          <a:lstStyle/>
          <a:p>
            <a:pPr indent="0" marL="0">
              <a:buNone/>
            </a:pPr>
            <a:r>
              <a:rPr lang="en-US" sz="1600" dirty="0">
                <a:solidFill>
                  <a:srgbClr val="626269"/>
                </a:solidFill>
                <a:latin typeface="Arial" pitchFamily="34" charset="0"/>
                <a:ea typeface="Arial" pitchFamily="34" charset="-122"/>
                <a:cs typeface="Arial" pitchFamily="34" charset="-120"/>
              </a:rPr>
              <a:t>Estado, workers, cobertura y hallazgos</a:t>
            </a:r>
            <a:endParaRPr lang="en-US" sz="1600" dirty="0"/>
          </a:p>
        </p:txBody>
      </p:sp>
      <p:sp>
        <p:nvSpPr>
          <p:cNvPr id="22" name="Shape 19"/>
          <p:cNvSpPr/>
          <p:nvPr/>
        </p:nvSpPr>
        <p:spPr>
          <a:xfrm>
            <a:off x="594360" y="3163824"/>
            <a:ext cx="4800600" cy="557784"/>
          </a:xfrm>
          <a:prstGeom prst="rect">
            <a:avLst/>
          </a:prstGeom>
          <a:solidFill>
            <a:srgbClr val="FFFFFF"/>
          </a:solidFill>
          <a:ln w="8890">
            <a:solidFill>
              <a:srgbClr val="DEDEE2"/>
            </a:solidFill>
            <a:prstDash val="solid"/>
          </a:ln>
        </p:spPr>
      </p:sp>
      <p:sp>
        <p:nvSpPr>
          <p:cNvPr id="23" name="Text 20"/>
          <p:cNvSpPr/>
          <p:nvPr/>
        </p:nvSpPr>
        <p:spPr>
          <a:xfrm>
            <a:off x="713232" y="3300984"/>
            <a:ext cx="4562856" cy="374904"/>
          </a:xfrm>
          <a:prstGeom prst="rect">
            <a:avLst/>
          </a:prstGeom>
          <a:noFill/>
          <a:ln/>
        </p:spPr>
        <p:txBody>
          <a:bodyPr wrap="square" lIns="0" tIns="0" rIns="0" bIns="0" rtlCol="0" anchor="t">
            <a:normAutofit/>
          </a:bodyPr>
          <a:lstStyle/>
          <a:p>
            <a:pPr indent="0" marL="0">
              <a:buNone/>
            </a:pPr>
            <a:r>
              <a:rPr lang="en-US" sz="1600" b="1" dirty="0">
                <a:solidFill>
                  <a:srgbClr val="242426"/>
                </a:solidFill>
                <a:latin typeface="Arial" pitchFamily="34" charset="0"/>
                <a:ea typeface="Arial" pitchFamily="34" charset="-122"/>
                <a:cs typeface="Arial" pitchFamily="34" charset="-120"/>
              </a:rPr>
              <a:t>POST /api/crawl</a:t>
            </a:r>
            <a:endParaRPr lang="en-US" sz="1600" dirty="0"/>
          </a:p>
        </p:txBody>
      </p:sp>
      <p:sp>
        <p:nvSpPr>
          <p:cNvPr id="24" name="Shape 21"/>
          <p:cNvSpPr/>
          <p:nvPr/>
        </p:nvSpPr>
        <p:spPr>
          <a:xfrm>
            <a:off x="5394960" y="3163824"/>
            <a:ext cx="6172200" cy="557784"/>
          </a:xfrm>
          <a:prstGeom prst="rect">
            <a:avLst/>
          </a:prstGeom>
          <a:solidFill>
            <a:srgbClr val="FFFFFF"/>
          </a:solidFill>
          <a:ln w="8890">
            <a:solidFill>
              <a:srgbClr val="DEDEE2"/>
            </a:solidFill>
            <a:prstDash val="solid"/>
          </a:ln>
        </p:spPr>
      </p:sp>
      <p:sp>
        <p:nvSpPr>
          <p:cNvPr id="25" name="Text 22"/>
          <p:cNvSpPr/>
          <p:nvPr/>
        </p:nvSpPr>
        <p:spPr>
          <a:xfrm>
            <a:off x="5513832" y="3300984"/>
            <a:ext cx="5934456" cy="374904"/>
          </a:xfrm>
          <a:prstGeom prst="rect">
            <a:avLst/>
          </a:prstGeom>
          <a:noFill/>
          <a:ln/>
        </p:spPr>
        <p:txBody>
          <a:bodyPr wrap="square" lIns="0" tIns="0" rIns="0" bIns="0" rtlCol="0" anchor="t">
            <a:normAutofit/>
          </a:bodyPr>
          <a:lstStyle/>
          <a:p>
            <a:pPr indent="0" marL="0">
              <a:buNone/>
            </a:pPr>
            <a:r>
              <a:rPr lang="en-US" sz="1600" dirty="0">
                <a:solidFill>
                  <a:srgbClr val="626269"/>
                </a:solidFill>
                <a:latin typeface="Arial" pitchFamily="34" charset="0"/>
                <a:ea typeface="Arial" pitchFamily="34" charset="-122"/>
                <a:cs typeface="Arial" pitchFamily="34" charset="-120"/>
              </a:rPr>
              <a:t>Crawl y Links sin llamadas al modelo</a:t>
            </a:r>
            <a:endParaRPr lang="en-US" sz="1600" dirty="0"/>
          </a:p>
        </p:txBody>
      </p:sp>
      <p:sp>
        <p:nvSpPr>
          <p:cNvPr id="26" name="Shape 23"/>
          <p:cNvSpPr/>
          <p:nvPr/>
        </p:nvSpPr>
        <p:spPr>
          <a:xfrm>
            <a:off x="594360" y="3721608"/>
            <a:ext cx="4800600" cy="557784"/>
          </a:xfrm>
          <a:prstGeom prst="rect">
            <a:avLst/>
          </a:prstGeom>
          <a:solidFill>
            <a:srgbClr val="EEEEF1"/>
          </a:solidFill>
          <a:ln w="8890">
            <a:solidFill>
              <a:srgbClr val="DEDEE2"/>
            </a:solidFill>
            <a:prstDash val="solid"/>
          </a:ln>
        </p:spPr>
      </p:sp>
      <p:sp>
        <p:nvSpPr>
          <p:cNvPr id="27" name="Text 24"/>
          <p:cNvSpPr/>
          <p:nvPr/>
        </p:nvSpPr>
        <p:spPr>
          <a:xfrm>
            <a:off x="713232" y="3858768"/>
            <a:ext cx="4562856" cy="374904"/>
          </a:xfrm>
          <a:prstGeom prst="rect">
            <a:avLst/>
          </a:prstGeom>
          <a:noFill/>
          <a:ln/>
        </p:spPr>
        <p:txBody>
          <a:bodyPr wrap="square" lIns="0" tIns="0" rIns="0" bIns="0" rtlCol="0" anchor="t">
            <a:normAutofit/>
          </a:bodyPr>
          <a:lstStyle/>
          <a:p>
            <a:pPr indent="0" marL="0">
              <a:buNone/>
            </a:pPr>
            <a:r>
              <a:rPr lang="en-US" sz="1600" b="1" dirty="0">
                <a:solidFill>
                  <a:srgbClr val="242426"/>
                </a:solidFill>
                <a:latin typeface="Arial" pitchFamily="34" charset="0"/>
                <a:ea typeface="Arial" pitchFamily="34" charset="-122"/>
                <a:cs typeface="Arial" pitchFamily="34" charset="-120"/>
              </a:rPr>
              <a:t>GET /api/pages · GET /api/issues</a:t>
            </a:r>
            <a:endParaRPr lang="en-US" sz="1600" dirty="0"/>
          </a:p>
        </p:txBody>
      </p:sp>
      <p:sp>
        <p:nvSpPr>
          <p:cNvPr id="28" name="Shape 25"/>
          <p:cNvSpPr/>
          <p:nvPr/>
        </p:nvSpPr>
        <p:spPr>
          <a:xfrm>
            <a:off x="5394960" y="3721608"/>
            <a:ext cx="6172200" cy="557784"/>
          </a:xfrm>
          <a:prstGeom prst="rect">
            <a:avLst/>
          </a:prstGeom>
          <a:solidFill>
            <a:srgbClr val="EEEEF1"/>
          </a:solidFill>
          <a:ln w="8890">
            <a:solidFill>
              <a:srgbClr val="DEDEE2"/>
            </a:solidFill>
            <a:prstDash val="solid"/>
          </a:ln>
        </p:spPr>
      </p:sp>
      <p:sp>
        <p:nvSpPr>
          <p:cNvPr id="29" name="Text 26"/>
          <p:cNvSpPr/>
          <p:nvPr/>
        </p:nvSpPr>
        <p:spPr>
          <a:xfrm>
            <a:off x="5513832" y="3858768"/>
            <a:ext cx="5934456" cy="374904"/>
          </a:xfrm>
          <a:prstGeom prst="rect">
            <a:avLst/>
          </a:prstGeom>
          <a:noFill/>
          <a:ln/>
        </p:spPr>
        <p:txBody>
          <a:bodyPr wrap="square" lIns="0" tIns="0" rIns="0" bIns="0" rtlCol="0" anchor="t">
            <a:normAutofit/>
          </a:bodyPr>
          <a:lstStyle/>
          <a:p>
            <a:pPr indent="0" marL="0">
              <a:buNone/>
            </a:pPr>
            <a:r>
              <a:rPr lang="en-US" sz="1600" dirty="0">
                <a:solidFill>
                  <a:srgbClr val="626269"/>
                </a:solidFill>
                <a:latin typeface="Arial" pitchFamily="34" charset="0"/>
                <a:ea typeface="Arial" pitchFamily="34" charset="-122"/>
                <a:cs typeface="Arial" pitchFamily="34" charset="-120"/>
              </a:rPr>
              <a:t>Consulta los resultados actuales</a:t>
            </a:r>
            <a:endParaRPr lang="en-US" sz="1600" dirty="0"/>
          </a:p>
        </p:txBody>
      </p:sp>
      <p:sp>
        <p:nvSpPr>
          <p:cNvPr id="30" name="Shape 27"/>
          <p:cNvSpPr/>
          <p:nvPr/>
        </p:nvSpPr>
        <p:spPr>
          <a:xfrm>
            <a:off x="594360" y="4279392"/>
            <a:ext cx="4800600" cy="557784"/>
          </a:xfrm>
          <a:prstGeom prst="rect">
            <a:avLst/>
          </a:prstGeom>
          <a:solidFill>
            <a:srgbClr val="FFFFFF"/>
          </a:solidFill>
          <a:ln w="8890">
            <a:solidFill>
              <a:srgbClr val="DEDEE2"/>
            </a:solidFill>
            <a:prstDash val="solid"/>
          </a:ln>
        </p:spPr>
      </p:sp>
      <p:sp>
        <p:nvSpPr>
          <p:cNvPr id="31" name="Text 28"/>
          <p:cNvSpPr/>
          <p:nvPr/>
        </p:nvSpPr>
        <p:spPr>
          <a:xfrm>
            <a:off x="713232" y="4416552"/>
            <a:ext cx="4562856" cy="374904"/>
          </a:xfrm>
          <a:prstGeom prst="rect">
            <a:avLst/>
          </a:prstGeom>
          <a:noFill/>
          <a:ln/>
        </p:spPr>
        <p:txBody>
          <a:bodyPr wrap="square" lIns="0" tIns="0" rIns="0" bIns="0" rtlCol="0" anchor="t">
            <a:normAutofit/>
          </a:bodyPr>
          <a:lstStyle/>
          <a:p>
            <a:pPr indent="0" marL="0">
              <a:buNone/>
            </a:pPr>
            <a:r>
              <a:rPr lang="en-US" sz="1600" b="1" dirty="0">
                <a:solidFill>
                  <a:srgbClr val="242426"/>
                </a:solidFill>
                <a:latin typeface="Arial" pitchFamily="34" charset="0"/>
                <a:ea typeface="Arial" pitchFamily="34" charset="-122"/>
                <a:cs typeface="Arial" pitchFamily="34" charset="-120"/>
              </a:rPr>
              <a:t>PATCH /api/issues/:id/status</a:t>
            </a:r>
            <a:endParaRPr lang="en-US" sz="1600" dirty="0"/>
          </a:p>
        </p:txBody>
      </p:sp>
      <p:sp>
        <p:nvSpPr>
          <p:cNvPr id="32" name="Shape 29"/>
          <p:cNvSpPr/>
          <p:nvPr/>
        </p:nvSpPr>
        <p:spPr>
          <a:xfrm>
            <a:off x="5394960" y="4279392"/>
            <a:ext cx="6172200" cy="557784"/>
          </a:xfrm>
          <a:prstGeom prst="rect">
            <a:avLst/>
          </a:prstGeom>
          <a:solidFill>
            <a:srgbClr val="FFFFFF"/>
          </a:solidFill>
          <a:ln w="8890">
            <a:solidFill>
              <a:srgbClr val="DEDEE2"/>
            </a:solidFill>
            <a:prstDash val="solid"/>
          </a:ln>
        </p:spPr>
      </p:sp>
      <p:sp>
        <p:nvSpPr>
          <p:cNvPr id="33" name="Text 30"/>
          <p:cNvSpPr/>
          <p:nvPr/>
        </p:nvSpPr>
        <p:spPr>
          <a:xfrm>
            <a:off x="5513832" y="4416552"/>
            <a:ext cx="5934456" cy="374904"/>
          </a:xfrm>
          <a:prstGeom prst="rect">
            <a:avLst/>
          </a:prstGeom>
          <a:noFill/>
          <a:ln/>
        </p:spPr>
        <p:txBody>
          <a:bodyPr wrap="square" lIns="0" tIns="0" rIns="0" bIns="0" rtlCol="0" anchor="t">
            <a:normAutofit/>
          </a:bodyPr>
          <a:lstStyle/>
          <a:p>
            <a:pPr indent="0" marL="0">
              <a:buNone/>
            </a:pPr>
            <a:r>
              <a:rPr lang="en-US" sz="1600" dirty="0">
                <a:solidFill>
                  <a:srgbClr val="626269"/>
                </a:solidFill>
                <a:latin typeface="Arial" pitchFamily="34" charset="0"/>
                <a:ea typeface="Arial" pitchFamily="34" charset="-122"/>
                <a:cs typeface="Arial" pitchFamily="34" charset="-120"/>
              </a:rPr>
              <a:t>verified / dismissed / escalated</a:t>
            </a:r>
            <a:endParaRPr lang="en-US" sz="1600" dirty="0"/>
          </a:p>
        </p:txBody>
      </p:sp>
      <p:sp>
        <p:nvSpPr>
          <p:cNvPr id="34" name="Shape 31"/>
          <p:cNvSpPr/>
          <p:nvPr/>
        </p:nvSpPr>
        <p:spPr>
          <a:xfrm>
            <a:off x="594360" y="4837176"/>
            <a:ext cx="4800600" cy="557784"/>
          </a:xfrm>
          <a:prstGeom prst="rect">
            <a:avLst/>
          </a:prstGeom>
          <a:solidFill>
            <a:srgbClr val="EEEEF1"/>
          </a:solidFill>
          <a:ln w="8890">
            <a:solidFill>
              <a:srgbClr val="DEDEE2"/>
            </a:solidFill>
            <a:prstDash val="solid"/>
          </a:ln>
        </p:spPr>
      </p:sp>
      <p:sp>
        <p:nvSpPr>
          <p:cNvPr id="35" name="Text 32"/>
          <p:cNvSpPr/>
          <p:nvPr/>
        </p:nvSpPr>
        <p:spPr>
          <a:xfrm>
            <a:off x="713232" y="4974336"/>
            <a:ext cx="4562856" cy="374904"/>
          </a:xfrm>
          <a:prstGeom prst="rect">
            <a:avLst/>
          </a:prstGeom>
          <a:noFill/>
          <a:ln/>
        </p:spPr>
        <p:txBody>
          <a:bodyPr wrap="square" lIns="0" tIns="0" rIns="0" bIns="0" rtlCol="0" anchor="t">
            <a:normAutofit/>
          </a:bodyPr>
          <a:lstStyle/>
          <a:p>
            <a:pPr indent="0" marL="0">
              <a:buNone/>
            </a:pPr>
            <a:r>
              <a:rPr lang="en-US" sz="1600" b="1" dirty="0">
                <a:solidFill>
                  <a:srgbClr val="242426"/>
                </a:solidFill>
                <a:latin typeface="Arial" pitchFamily="34" charset="0"/>
                <a:ea typeface="Arial" pitchFamily="34" charset="-122"/>
                <a:cs typeface="Arial" pitchFamily="34" charset="-120"/>
              </a:rPr>
              <a:t>DELETE /api/results</a:t>
            </a:r>
            <a:endParaRPr lang="en-US" sz="1600" dirty="0"/>
          </a:p>
        </p:txBody>
      </p:sp>
      <p:sp>
        <p:nvSpPr>
          <p:cNvPr id="36" name="Shape 33"/>
          <p:cNvSpPr/>
          <p:nvPr/>
        </p:nvSpPr>
        <p:spPr>
          <a:xfrm>
            <a:off x="5394960" y="4837176"/>
            <a:ext cx="6172200" cy="557784"/>
          </a:xfrm>
          <a:prstGeom prst="rect">
            <a:avLst/>
          </a:prstGeom>
          <a:solidFill>
            <a:srgbClr val="EEEEF1"/>
          </a:solidFill>
          <a:ln w="8890">
            <a:solidFill>
              <a:srgbClr val="DEDEE2"/>
            </a:solidFill>
            <a:prstDash val="solid"/>
          </a:ln>
        </p:spPr>
      </p:sp>
      <p:sp>
        <p:nvSpPr>
          <p:cNvPr id="37" name="Text 34"/>
          <p:cNvSpPr/>
          <p:nvPr/>
        </p:nvSpPr>
        <p:spPr>
          <a:xfrm>
            <a:off x="5513832" y="4974336"/>
            <a:ext cx="5934456" cy="374904"/>
          </a:xfrm>
          <a:prstGeom prst="rect">
            <a:avLst/>
          </a:prstGeom>
          <a:noFill/>
          <a:ln/>
        </p:spPr>
        <p:txBody>
          <a:bodyPr wrap="square" lIns="0" tIns="0" rIns="0" bIns="0" rtlCol="0" anchor="t">
            <a:normAutofit/>
          </a:bodyPr>
          <a:lstStyle/>
          <a:p>
            <a:pPr indent="0" marL="0">
              <a:buNone/>
            </a:pPr>
            <a:r>
              <a:rPr lang="en-US" sz="1600" dirty="0">
                <a:solidFill>
                  <a:srgbClr val="626269"/>
                </a:solidFill>
                <a:latin typeface="Arial" pitchFamily="34" charset="0"/>
                <a:ea typeface="Arial" pitchFamily="34" charset="-122"/>
                <a:cs typeface="Arial" pitchFamily="34" charset="-120"/>
              </a:rPr>
              <a:t>Borra resultados y decisiones de revisión</a:t>
            </a:r>
            <a:endParaRPr lang="en-US" sz="1600" dirty="0"/>
          </a:p>
        </p:txBody>
      </p:sp>
      <p:sp>
        <p:nvSpPr>
          <p:cNvPr id="38" name="Shape 35"/>
          <p:cNvSpPr/>
          <p:nvPr/>
        </p:nvSpPr>
        <p:spPr>
          <a:xfrm>
            <a:off x="594360" y="5394960"/>
            <a:ext cx="4800600" cy="557784"/>
          </a:xfrm>
          <a:prstGeom prst="rect">
            <a:avLst/>
          </a:prstGeom>
          <a:solidFill>
            <a:srgbClr val="FFFFFF"/>
          </a:solidFill>
          <a:ln w="8890">
            <a:solidFill>
              <a:srgbClr val="DEDEE2"/>
            </a:solidFill>
            <a:prstDash val="solid"/>
          </a:ln>
        </p:spPr>
      </p:sp>
      <p:sp>
        <p:nvSpPr>
          <p:cNvPr id="39" name="Text 36"/>
          <p:cNvSpPr/>
          <p:nvPr/>
        </p:nvSpPr>
        <p:spPr>
          <a:xfrm>
            <a:off x="713232" y="5532120"/>
            <a:ext cx="4562856" cy="374904"/>
          </a:xfrm>
          <a:prstGeom prst="rect">
            <a:avLst/>
          </a:prstGeom>
          <a:noFill/>
          <a:ln/>
        </p:spPr>
        <p:txBody>
          <a:bodyPr wrap="square" lIns="0" tIns="0" rIns="0" bIns="0" rtlCol="0" anchor="t">
            <a:normAutofit/>
          </a:bodyPr>
          <a:lstStyle/>
          <a:p>
            <a:pPr indent="0" marL="0">
              <a:buNone/>
            </a:pPr>
            <a:r>
              <a:rPr lang="en-US" sz="1600" b="1" dirty="0">
                <a:solidFill>
                  <a:srgbClr val="242426"/>
                </a:solidFill>
                <a:latin typeface="Arial" pitchFamily="34" charset="0"/>
                <a:ea typeface="Arial" pitchFamily="34" charset="-122"/>
                <a:cs typeface="Arial" pitchFamily="34" charset="-120"/>
              </a:rPr>
              <a:t>GET /api/health · POST /api/test-model</a:t>
            </a:r>
            <a:endParaRPr lang="en-US" sz="1600" dirty="0"/>
          </a:p>
        </p:txBody>
      </p:sp>
      <p:sp>
        <p:nvSpPr>
          <p:cNvPr id="40" name="Shape 37"/>
          <p:cNvSpPr/>
          <p:nvPr/>
        </p:nvSpPr>
        <p:spPr>
          <a:xfrm>
            <a:off x="5394960" y="5394960"/>
            <a:ext cx="6172200" cy="557784"/>
          </a:xfrm>
          <a:prstGeom prst="rect">
            <a:avLst/>
          </a:prstGeom>
          <a:solidFill>
            <a:srgbClr val="FFFFFF"/>
          </a:solidFill>
          <a:ln w="8890">
            <a:solidFill>
              <a:srgbClr val="DEDEE2"/>
            </a:solidFill>
            <a:prstDash val="solid"/>
          </a:ln>
        </p:spPr>
      </p:sp>
      <p:sp>
        <p:nvSpPr>
          <p:cNvPr id="41" name="Text 38"/>
          <p:cNvSpPr/>
          <p:nvPr/>
        </p:nvSpPr>
        <p:spPr>
          <a:xfrm>
            <a:off x="5513832" y="5532120"/>
            <a:ext cx="5934456" cy="374904"/>
          </a:xfrm>
          <a:prstGeom prst="rect">
            <a:avLst/>
          </a:prstGeom>
          <a:noFill/>
          <a:ln/>
        </p:spPr>
        <p:txBody>
          <a:bodyPr wrap="square" lIns="0" tIns="0" rIns="0" bIns="0" rtlCol="0" anchor="t">
            <a:normAutofit/>
          </a:bodyPr>
          <a:lstStyle/>
          <a:p>
            <a:pPr indent="0" marL="0">
              <a:buNone/>
            </a:pPr>
            <a:r>
              <a:rPr lang="en-US" sz="1600" dirty="0">
                <a:solidFill>
                  <a:srgbClr val="626269"/>
                </a:solidFill>
                <a:latin typeface="Arial" pitchFamily="34" charset="0"/>
                <a:ea typeface="Arial" pitchFamily="34" charset="-122"/>
                <a:cs typeface="Arial" pitchFamily="34" charset="-120"/>
              </a:rPr>
              <a:t>Estado del servidor y conexión con el modelo</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4F5"/>
        </a:solidFill>
      </p:bgPr>
    </p:bg>
    <p:spTree>
      <p:nvGrpSpPr>
        <p:cNvPr id="1" name=""/>
        <p:cNvGrpSpPr/>
        <p:nvPr/>
      </p:nvGrpSpPr>
      <p:grpSpPr>
        <a:xfrm>
          <a:off x="0" y="0"/>
          <a:ext cx="0" cy="0"/>
          <a:chOff x="0" y="0"/>
          <a:chExt cx="0" cy="0"/>
        </a:xfrm>
      </p:grpSpPr>
      <p:sp>
        <p:nvSpPr>
          <p:cNvPr id="2" name="Shape 0"/>
          <p:cNvSpPr/>
          <p:nvPr/>
        </p:nvSpPr>
        <p:spPr>
          <a:xfrm>
            <a:off x="0" y="0"/>
            <a:ext cx="12192000" cy="68580"/>
          </a:xfrm>
          <a:prstGeom prst="rect">
            <a:avLst/>
          </a:prstGeom>
          <a:solidFill>
            <a:srgbClr val="A80000"/>
          </a:solidFill>
          <a:ln w="8890">
            <a:solidFill>
              <a:srgbClr val="A80000"/>
            </a:solidFill>
            <a:prstDash val="solid"/>
          </a:ln>
        </p:spPr>
      </p:sp>
      <p:sp>
        <p:nvSpPr>
          <p:cNvPr id="3" name="Text 1"/>
          <p:cNvSpPr/>
          <p:nvPr/>
        </p:nvSpPr>
        <p:spPr>
          <a:xfrm>
            <a:off x="594360" y="274320"/>
            <a:ext cx="10058400" cy="219456"/>
          </a:xfrm>
          <a:prstGeom prst="rect">
            <a:avLst/>
          </a:prstGeom>
          <a:noFill/>
          <a:ln/>
        </p:spPr>
        <p:txBody>
          <a:bodyPr wrap="square" lIns="0" tIns="0" rIns="0" bIns="0" rtlCol="0" anchor="t">
            <a:normAutofit/>
          </a:bodyPr>
          <a:lstStyle/>
          <a:p>
            <a:pPr indent="0" marL="0">
              <a:buNone/>
            </a:pPr>
            <a:r>
              <a:rPr lang="en-US" sz="1000" b="1" dirty="0">
                <a:solidFill>
                  <a:srgbClr val="A80000"/>
                </a:solidFill>
                <a:latin typeface="Arial" pitchFamily="34" charset="0"/>
                <a:ea typeface="Arial" pitchFamily="34" charset="-122"/>
                <a:cs typeface="Arial" pitchFamily="34" charset="-120"/>
              </a:rPr>
              <a:t>REFERENCIA TÉCNICA</a:t>
            </a:r>
            <a:endParaRPr lang="en-US" sz="1000" dirty="0"/>
          </a:p>
        </p:txBody>
      </p:sp>
      <p:sp>
        <p:nvSpPr>
          <p:cNvPr id="4" name="Text 2"/>
          <p:cNvSpPr/>
          <p:nvPr/>
        </p:nvSpPr>
        <p:spPr>
          <a:xfrm>
            <a:off x="594360" y="667512"/>
            <a:ext cx="10972800" cy="594360"/>
          </a:xfrm>
          <a:prstGeom prst="rect">
            <a:avLst/>
          </a:prstGeom>
          <a:noFill/>
          <a:ln/>
        </p:spPr>
        <p:txBody>
          <a:bodyPr wrap="square" lIns="0" tIns="0" rIns="0" bIns="0" rtlCol="0" anchor="t">
            <a:normAutofit/>
          </a:bodyPr>
          <a:lstStyle/>
          <a:p>
            <a:pPr indent="0" marL="0">
              <a:buNone/>
            </a:pPr>
            <a:r>
              <a:rPr lang="en-US" sz="3000" b="1" dirty="0">
                <a:solidFill>
                  <a:srgbClr val="242426"/>
                </a:solidFill>
                <a:latin typeface="Arial" pitchFamily="34" charset="0"/>
                <a:ea typeface="Arial" pitchFamily="34" charset="-122"/>
                <a:cs typeface="Arial" pitchFamily="34" charset="-120"/>
              </a:rPr>
              <a:t>Anexo B · Mapa del código y fuentes</a:t>
            </a:r>
            <a:endParaRPr lang="en-US" sz="3000" dirty="0"/>
          </a:p>
        </p:txBody>
      </p:sp>
      <p:sp>
        <p:nvSpPr>
          <p:cNvPr id="5" name="Shape 3"/>
          <p:cNvSpPr/>
          <p:nvPr/>
        </p:nvSpPr>
        <p:spPr>
          <a:xfrm>
            <a:off x="594360" y="6428232"/>
            <a:ext cx="10972800" cy="0"/>
          </a:xfrm>
          <a:prstGeom prst="line">
            <a:avLst/>
          </a:prstGeom>
          <a:noFill/>
          <a:ln w="17780">
            <a:solidFill>
              <a:srgbClr val="DEDEE2"/>
            </a:solidFill>
            <a:prstDash val="solid"/>
          </a:ln>
        </p:spPr>
      </p:sp>
      <p:sp>
        <p:nvSpPr>
          <p:cNvPr id="6" name="Text 4"/>
          <p:cNvSpPr/>
          <p:nvPr/>
        </p:nvSpPr>
        <p:spPr>
          <a:xfrm>
            <a:off x="594360" y="6547104"/>
            <a:ext cx="3749040" cy="164592"/>
          </a:xfrm>
          <a:prstGeom prst="rect">
            <a:avLst/>
          </a:prstGeom>
          <a:noFill/>
          <a:ln/>
        </p:spPr>
        <p:txBody>
          <a:bodyPr wrap="square" lIns="0" tIns="0" rIns="0" bIns="0" rtlCol="0" anchor="t">
            <a:normAutofit/>
          </a:bodyPr>
          <a:lstStyle/>
          <a:p>
            <a:pPr indent="0" marL="0">
              <a:buNone/>
            </a:pPr>
            <a:r>
              <a:rPr lang="en-US" sz="900" dirty="0">
                <a:solidFill>
                  <a:srgbClr val="626269"/>
                </a:solidFill>
                <a:latin typeface="Arial" pitchFamily="34" charset="0"/>
                <a:ea typeface="Arial" pitchFamily="34" charset="-122"/>
                <a:cs typeface="Arial" pitchFamily="34" charset="-120"/>
              </a:rPr>
              <a:t>SKYNET · 15 OCT 2026 · PRELIMINAR</a:t>
            </a:r>
            <a:endParaRPr lang="en-US" sz="900" dirty="0"/>
          </a:p>
        </p:txBody>
      </p:sp>
      <p:sp>
        <p:nvSpPr>
          <p:cNvPr id="7" name="Text 5"/>
          <p:cNvSpPr/>
          <p:nvPr/>
        </p:nvSpPr>
        <p:spPr>
          <a:xfrm>
            <a:off x="3931920" y="6547104"/>
            <a:ext cx="7178040" cy="164592"/>
          </a:xfrm>
          <a:prstGeom prst="rect">
            <a:avLst/>
          </a:prstGeom>
          <a:noFill/>
          <a:ln/>
        </p:spPr>
        <p:txBody>
          <a:bodyPr wrap="square" lIns="0" tIns="0" rIns="0" bIns="0" rtlCol="0" anchor="t">
            <a:normAutofit/>
          </a:bodyPr>
          <a:lstStyle/>
          <a:p>
            <a:pPr algn="r" indent="0" marL="0">
              <a:buNone/>
            </a:pPr>
            <a:r>
              <a:rPr lang="en-US" sz="850" dirty="0">
                <a:solidFill>
                  <a:srgbClr val="626269"/>
                </a:solidFill>
                <a:latin typeface="Arial" pitchFamily="34" charset="0"/>
                <a:ea typeface="Arial" pitchFamily="34" charset="-122"/>
                <a:cs typeface="Arial" pitchFamily="34" charset="-120"/>
              </a:rPr>
              <a:t>Repositorio 7c89229 · documentación y captura actual</a:t>
            </a:r>
            <a:endParaRPr lang="en-US" sz="850" dirty="0"/>
          </a:p>
        </p:txBody>
      </p:sp>
      <p:sp>
        <p:nvSpPr>
          <p:cNvPr id="8" name="Text 6"/>
          <p:cNvSpPr/>
          <p:nvPr/>
        </p:nvSpPr>
        <p:spPr>
          <a:xfrm>
            <a:off x="11292840" y="6510528"/>
            <a:ext cx="320040" cy="228600"/>
          </a:xfrm>
          <a:prstGeom prst="rect">
            <a:avLst/>
          </a:prstGeom>
          <a:noFill/>
          <a:ln/>
        </p:spPr>
        <p:txBody>
          <a:bodyPr wrap="square" lIns="0" tIns="0" rIns="0" bIns="0" rtlCol="0" anchor="t">
            <a:normAutofit/>
          </a:bodyPr>
          <a:lstStyle/>
          <a:p>
            <a:pPr algn="r" indent="0" marL="0">
              <a:buNone/>
            </a:pPr>
            <a:r>
              <a:rPr lang="en-US" sz="1100" b="1" dirty="0">
                <a:solidFill>
                  <a:srgbClr val="A80000"/>
                </a:solidFill>
                <a:latin typeface="Arial" pitchFamily="34" charset="0"/>
                <a:ea typeface="Arial" pitchFamily="34" charset="-122"/>
                <a:cs typeface="Arial" pitchFamily="34" charset="-120"/>
              </a:rPr>
              <a:t>22</a:t>
            </a:r>
            <a:endParaRPr lang="en-US" sz="1100" dirty="0"/>
          </a:p>
        </p:txBody>
      </p:sp>
      <p:sp>
        <p:nvSpPr>
          <p:cNvPr id="10" name="Shape 7"/>
          <p:cNvSpPr/>
          <p:nvPr/>
        </p:nvSpPr>
        <p:spPr>
          <a:xfrm>
            <a:off x="594360" y="1572768"/>
            <a:ext cx="5760720" cy="475488"/>
          </a:xfrm>
          <a:prstGeom prst="rect">
            <a:avLst/>
          </a:prstGeom>
          <a:solidFill>
            <a:srgbClr val="151515"/>
          </a:solidFill>
          <a:ln w="8890">
            <a:solidFill>
              <a:srgbClr val="151515"/>
            </a:solidFill>
            <a:prstDash val="solid"/>
          </a:ln>
        </p:spPr>
      </p:sp>
      <p:sp>
        <p:nvSpPr>
          <p:cNvPr id="11" name="Text 8"/>
          <p:cNvSpPr/>
          <p:nvPr/>
        </p:nvSpPr>
        <p:spPr>
          <a:xfrm>
            <a:off x="713232" y="1691640"/>
            <a:ext cx="5522976" cy="274320"/>
          </a:xfrm>
          <a:prstGeom prst="rect">
            <a:avLst/>
          </a:prstGeom>
          <a:noFill/>
          <a:ln/>
        </p:spPr>
        <p:txBody>
          <a:bodyPr wrap="square" lIns="0" tIns="0" rIns="0" bIns="0" rtlCol="0" anchor="t">
            <a:normAutofit/>
          </a:bodyPr>
          <a:lstStyle/>
          <a:p>
            <a:pPr indent="0" marL="0">
              <a:buNone/>
            </a:pPr>
            <a:r>
              <a:rPr lang="en-US" sz="1300" b="1" dirty="0">
                <a:solidFill>
                  <a:srgbClr val="FFFFFF"/>
                </a:solidFill>
                <a:latin typeface="Arial" pitchFamily="34" charset="0"/>
                <a:ea typeface="Arial" pitchFamily="34" charset="-122"/>
                <a:cs typeface="Arial" pitchFamily="34" charset="-120"/>
              </a:rPr>
              <a:t>RUTA</a:t>
            </a:r>
            <a:endParaRPr lang="en-US" sz="1300" dirty="0"/>
          </a:p>
        </p:txBody>
      </p:sp>
      <p:sp>
        <p:nvSpPr>
          <p:cNvPr id="12" name="Shape 9"/>
          <p:cNvSpPr/>
          <p:nvPr/>
        </p:nvSpPr>
        <p:spPr>
          <a:xfrm>
            <a:off x="6355080" y="1572768"/>
            <a:ext cx="5212080" cy="475488"/>
          </a:xfrm>
          <a:prstGeom prst="rect">
            <a:avLst/>
          </a:prstGeom>
          <a:solidFill>
            <a:srgbClr val="151515"/>
          </a:solidFill>
          <a:ln w="8890">
            <a:solidFill>
              <a:srgbClr val="151515"/>
            </a:solidFill>
            <a:prstDash val="solid"/>
          </a:ln>
        </p:spPr>
      </p:sp>
      <p:sp>
        <p:nvSpPr>
          <p:cNvPr id="13" name="Text 10"/>
          <p:cNvSpPr/>
          <p:nvPr/>
        </p:nvSpPr>
        <p:spPr>
          <a:xfrm>
            <a:off x="6473952" y="1691640"/>
            <a:ext cx="4974336" cy="274320"/>
          </a:xfrm>
          <a:prstGeom prst="rect">
            <a:avLst/>
          </a:prstGeom>
          <a:noFill/>
          <a:ln/>
        </p:spPr>
        <p:txBody>
          <a:bodyPr wrap="square" lIns="0" tIns="0" rIns="0" bIns="0" rtlCol="0" anchor="t">
            <a:normAutofit/>
          </a:bodyPr>
          <a:lstStyle/>
          <a:p>
            <a:pPr indent="0" marL="0">
              <a:buNone/>
            </a:pPr>
            <a:r>
              <a:rPr lang="en-US" sz="1300" b="1" dirty="0">
                <a:solidFill>
                  <a:srgbClr val="FFFFFF"/>
                </a:solidFill>
                <a:latin typeface="Arial" pitchFamily="34" charset="0"/>
                <a:ea typeface="Arial" pitchFamily="34" charset="-122"/>
                <a:cs typeface="Arial" pitchFamily="34" charset="-120"/>
              </a:rPr>
              <a:t>QUÉ ENCONTRAR</a:t>
            </a:r>
            <a:endParaRPr lang="en-US" sz="1300" dirty="0"/>
          </a:p>
        </p:txBody>
      </p:sp>
      <p:sp>
        <p:nvSpPr>
          <p:cNvPr id="14" name="Shape 11"/>
          <p:cNvSpPr/>
          <p:nvPr/>
        </p:nvSpPr>
        <p:spPr>
          <a:xfrm>
            <a:off x="594360" y="2048256"/>
            <a:ext cx="5760720" cy="557784"/>
          </a:xfrm>
          <a:prstGeom prst="rect">
            <a:avLst/>
          </a:prstGeom>
          <a:solidFill>
            <a:srgbClr val="FFFFFF"/>
          </a:solidFill>
          <a:ln w="8890">
            <a:solidFill>
              <a:srgbClr val="DEDEE2"/>
            </a:solidFill>
            <a:prstDash val="solid"/>
          </a:ln>
        </p:spPr>
      </p:sp>
      <p:sp>
        <p:nvSpPr>
          <p:cNvPr id="15" name="Text 12"/>
          <p:cNvSpPr/>
          <p:nvPr/>
        </p:nvSpPr>
        <p:spPr>
          <a:xfrm>
            <a:off x="713232" y="2185416"/>
            <a:ext cx="5522976" cy="374904"/>
          </a:xfrm>
          <a:prstGeom prst="rect">
            <a:avLst/>
          </a:prstGeom>
          <a:noFill/>
          <a:ln/>
        </p:spPr>
        <p:txBody>
          <a:bodyPr wrap="square" lIns="0" tIns="0" rIns="0" bIns="0" rtlCol="0" anchor="t">
            <a:normAutofit/>
          </a:bodyPr>
          <a:lstStyle/>
          <a:p>
            <a:pPr indent="0" marL="0">
              <a:buNone/>
            </a:pPr>
            <a:r>
              <a:rPr lang="en-US" sz="1600" b="1" dirty="0">
                <a:solidFill>
                  <a:srgbClr val="242426"/>
                </a:solidFill>
                <a:latin typeface="Arial" pitchFamily="34" charset="0"/>
                <a:ea typeface="Arial" pitchFamily="34" charset="-122"/>
                <a:cs typeface="Arial" pitchFamily="34" charset="-120"/>
              </a:rPr>
              <a:t>src/server.ts · src/config.ts</a:t>
            </a:r>
            <a:endParaRPr lang="en-US" sz="1600" dirty="0"/>
          </a:p>
        </p:txBody>
      </p:sp>
      <p:sp>
        <p:nvSpPr>
          <p:cNvPr id="16" name="Shape 13"/>
          <p:cNvSpPr/>
          <p:nvPr/>
        </p:nvSpPr>
        <p:spPr>
          <a:xfrm>
            <a:off x="6355080" y="2048256"/>
            <a:ext cx="5212080" cy="557784"/>
          </a:xfrm>
          <a:prstGeom prst="rect">
            <a:avLst/>
          </a:prstGeom>
          <a:solidFill>
            <a:srgbClr val="FFFFFF"/>
          </a:solidFill>
          <a:ln w="8890">
            <a:solidFill>
              <a:srgbClr val="DEDEE2"/>
            </a:solidFill>
            <a:prstDash val="solid"/>
          </a:ln>
        </p:spPr>
      </p:sp>
      <p:sp>
        <p:nvSpPr>
          <p:cNvPr id="17" name="Text 14"/>
          <p:cNvSpPr/>
          <p:nvPr/>
        </p:nvSpPr>
        <p:spPr>
          <a:xfrm>
            <a:off x="6473952" y="2185416"/>
            <a:ext cx="4974336" cy="374904"/>
          </a:xfrm>
          <a:prstGeom prst="rect">
            <a:avLst/>
          </a:prstGeom>
          <a:noFill/>
          <a:ln/>
        </p:spPr>
        <p:txBody>
          <a:bodyPr wrap="square" lIns="0" tIns="0" rIns="0" bIns="0" rtlCol="0" anchor="t">
            <a:normAutofit/>
          </a:bodyPr>
          <a:lstStyle/>
          <a:p>
            <a:pPr indent="0" marL="0">
              <a:buNone/>
            </a:pPr>
            <a:r>
              <a:rPr lang="en-US" sz="1600" dirty="0">
                <a:solidFill>
                  <a:srgbClr val="626269"/>
                </a:solidFill>
                <a:latin typeface="Arial" pitchFamily="34" charset="0"/>
                <a:ea typeface="Arial" pitchFamily="34" charset="-122"/>
                <a:cs typeface="Arial" pitchFamily="34" charset="-120"/>
              </a:rPr>
              <a:t>API, configuración y estado actual</a:t>
            </a:r>
            <a:endParaRPr lang="en-US" sz="1600" dirty="0"/>
          </a:p>
        </p:txBody>
      </p:sp>
      <p:sp>
        <p:nvSpPr>
          <p:cNvPr id="18" name="Shape 15"/>
          <p:cNvSpPr/>
          <p:nvPr/>
        </p:nvSpPr>
        <p:spPr>
          <a:xfrm>
            <a:off x="594360" y="2606040"/>
            <a:ext cx="5760720" cy="557784"/>
          </a:xfrm>
          <a:prstGeom prst="rect">
            <a:avLst/>
          </a:prstGeom>
          <a:solidFill>
            <a:srgbClr val="EEEEF1"/>
          </a:solidFill>
          <a:ln w="8890">
            <a:solidFill>
              <a:srgbClr val="DEDEE2"/>
            </a:solidFill>
            <a:prstDash val="solid"/>
          </a:ln>
        </p:spPr>
      </p:sp>
      <p:sp>
        <p:nvSpPr>
          <p:cNvPr id="19" name="Text 16"/>
          <p:cNvSpPr/>
          <p:nvPr/>
        </p:nvSpPr>
        <p:spPr>
          <a:xfrm>
            <a:off x="713232" y="2743200"/>
            <a:ext cx="5522976" cy="374904"/>
          </a:xfrm>
          <a:prstGeom prst="rect">
            <a:avLst/>
          </a:prstGeom>
          <a:noFill/>
          <a:ln/>
        </p:spPr>
        <p:txBody>
          <a:bodyPr wrap="square" lIns="0" tIns="0" rIns="0" bIns="0" rtlCol="0" anchor="t">
            <a:normAutofit/>
          </a:bodyPr>
          <a:lstStyle/>
          <a:p>
            <a:pPr indent="0" marL="0">
              <a:buNone/>
            </a:pPr>
            <a:r>
              <a:rPr lang="en-US" sz="1600" b="1" dirty="0">
                <a:solidFill>
                  <a:srgbClr val="242426"/>
                </a:solidFill>
                <a:latin typeface="Arial" pitchFamily="34" charset="0"/>
                <a:ea typeface="Arial" pitchFamily="34" charset="-122"/>
                <a:cs typeface="Arial" pitchFamily="34" charset="-120"/>
              </a:rPr>
              <a:t>src/crawler/crawl.ts</a:t>
            </a:r>
            <a:endParaRPr lang="en-US" sz="1600" dirty="0"/>
          </a:p>
        </p:txBody>
      </p:sp>
      <p:sp>
        <p:nvSpPr>
          <p:cNvPr id="20" name="Shape 17"/>
          <p:cNvSpPr/>
          <p:nvPr/>
        </p:nvSpPr>
        <p:spPr>
          <a:xfrm>
            <a:off x="6355080" y="2606040"/>
            <a:ext cx="5212080" cy="557784"/>
          </a:xfrm>
          <a:prstGeom prst="rect">
            <a:avLst/>
          </a:prstGeom>
          <a:solidFill>
            <a:srgbClr val="EEEEF1"/>
          </a:solidFill>
          <a:ln w="8890">
            <a:solidFill>
              <a:srgbClr val="DEDEE2"/>
            </a:solidFill>
            <a:prstDash val="solid"/>
          </a:ln>
        </p:spPr>
      </p:sp>
      <p:sp>
        <p:nvSpPr>
          <p:cNvPr id="21" name="Text 18"/>
          <p:cNvSpPr/>
          <p:nvPr/>
        </p:nvSpPr>
        <p:spPr>
          <a:xfrm>
            <a:off x="6473952" y="2743200"/>
            <a:ext cx="4974336" cy="374904"/>
          </a:xfrm>
          <a:prstGeom prst="rect">
            <a:avLst/>
          </a:prstGeom>
          <a:noFill/>
          <a:ln/>
        </p:spPr>
        <p:txBody>
          <a:bodyPr wrap="square" lIns="0" tIns="0" rIns="0" bIns="0" rtlCol="0" anchor="t">
            <a:normAutofit/>
          </a:bodyPr>
          <a:lstStyle/>
          <a:p>
            <a:pPr indent="0" marL="0">
              <a:buNone/>
            </a:pPr>
            <a:r>
              <a:rPr lang="en-US" sz="1600" dirty="0">
                <a:solidFill>
                  <a:srgbClr val="626269"/>
                </a:solidFill>
                <a:latin typeface="Arial" pitchFamily="34" charset="0"/>
                <a:ea typeface="Arial" pitchFamily="34" charset="-122"/>
                <a:cs typeface="Arial" pitchFamily="34" charset="-120"/>
              </a:rPr>
              <a:t>Descubrimiento y extracción HTML</a:t>
            </a:r>
            <a:endParaRPr lang="en-US" sz="1600" dirty="0"/>
          </a:p>
        </p:txBody>
      </p:sp>
      <p:sp>
        <p:nvSpPr>
          <p:cNvPr id="22" name="Shape 19"/>
          <p:cNvSpPr/>
          <p:nvPr/>
        </p:nvSpPr>
        <p:spPr>
          <a:xfrm>
            <a:off x="594360" y="3163824"/>
            <a:ext cx="5760720" cy="557784"/>
          </a:xfrm>
          <a:prstGeom prst="rect">
            <a:avLst/>
          </a:prstGeom>
          <a:solidFill>
            <a:srgbClr val="FFFFFF"/>
          </a:solidFill>
          <a:ln w="8890">
            <a:solidFill>
              <a:srgbClr val="DEDEE2"/>
            </a:solidFill>
            <a:prstDash val="solid"/>
          </a:ln>
        </p:spPr>
      </p:sp>
      <p:sp>
        <p:nvSpPr>
          <p:cNvPr id="23" name="Text 20"/>
          <p:cNvSpPr/>
          <p:nvPr/>
        </p:nvSpPr>
        <p:spPr>
          <a:xfrm>
            <a:off x="713232" y="3300984"/>
            <a:ext cx="5522976" cy="374904"/>
          </a:xfrm>
          <a:prstGeom prst="rect">
            <a:avLst/>
          </a:prstGeom>
          <a:noFill/>
          <a:ln/>
        </p:spPr>
        <p:txBody>
          <a:bodyPr wrap="square" lIns="0" tIns="0" rIns="0" bIns="0" rtlCol="0" anchor="t">
            <a:normAutofit/>
          </a:bodyPr>
          <a:lstStyle/>
          <a:p>
            <a:pPr indent="0" marL="0">
              <a:buNone/>
            </a:pPr>
            <a:r>
              <a:rPr lang="en-US" sz="1600" b="1" dirty="0">
                <a:solidFill>
                  <a:srgbClr val="242426"/>
                </a:solidFill>
                <a:latin typeface="Arial" pitchFamily="34" charset="0"/>
                <a:ea typeface="Arial" pitchFamily="34" charset="-122"/>
                <a:cs typeface="Arial" pitchFamily="34" charset="-120"/>
              </a:rPr>
              <a:t>src/orchestrator/audit.ts</a:t>
            </a:r>
            <a:endParaRPr lang="en-US" sz="1600" dirty="0"/>
          </a:p>
        </p:txBody>
      </p:sp>
      <p:sp>
        <p:nvSpPr>
          <p:cNvPr id="24" name="Shape 21"/>
          <p:cNvSpPr/>
          <p:nvPr/>
        </p:nvSpPr>
        <p:spPr>
          <a:xfrm>
            <a:off x="6355080" y="3163824"/>
            <a:ext cx="5212080" cy="557784"/>
          </a:xfrm>
          <a:prstGeom prst="rect">
            <a:avLst/>
          </a:prstGeom>
          <a:solidFill>
            <a:srgbClr val="FFFFFF"/>
          </a:solidFill>
          <a:ln w="8890">
            <a:solidFill>
              <a:srgbClr val="DEDEE2"/>
            </a:solidFill>
            <a:prstDash val="solid"/>
          </a:ln>
        </p:spPr>
      </p:sp>
      <p:sp>
        <p:nvSpPr>
          <p:cNvPr id="25" name="Text 22"/>
          <p:cNvSpPr/>
          <p:nvPr/>
        </p:nvSpPr>
        <p:spPr>
          <a:xfrm>
            <a:off x="6473952" y="3300984"/>
            <a:ext cx="4974336" cy="374904"/>
          </a:xfrm>
          <a:prstGeom prst="rect">
            <a:avLst/>
          </a:prstGeom>
          <a:noFill/>
          <a:ln/>
        </p:spPr>
        <p:txBody>
          <a:bodyPr wrap="square" lIns="0" tIns="0" rIns="0" bIns="0" rtlCol="0" anchor="t">
            <a:normAutofit/>
          </a:bodyPr>
          <a:lstStyle/>
          <a:p>
            <a:pPr indent="0" marL="0">
              <a:buNone/>
            </a:pPr>
            <a:r>
              <a:rPr lang="en-US" sz="1600" dirty="0">
                <a:solidFill>
                  <a:srgbClr val="626269"/>
                </a:solidFill>
                <a:latin typeface="Arial" pitchFamily="34" charset="0"/>
                <a:ea typeface="Arial" pitchFamily="34" charset="-122"/>
                <a:cs typeface="Arial" pitchFamily="34" charset="-120"/>
              </a:rPr>
              <a:t>Registro, despacho y concurrencia</a:t>
            </a:r>
            <a:endParaRPr lang="en-US" sz="1600" dirty="0"/>
          </a:p>
        </p:txBody>
      </p:sp>
      <p:sp>
        <p:nvSpPr>
          <p:cNvPr id="26" name="Shape 23"/>
          <p:cNvSpPr/>
          <p:nvPr/>
        </p:nvSpPr>
        <p:spPr>
          <a:xfrm>
            <a:off x="594360" y="3721608"/>
            <a:ext cx="5760720" cy="557784"/>
          </a:xfrm>
          <a:prstGeom prst="rect">
            <a:avLst/>
          </a:prstGeom>
          <a:solidFill>
            <a:srgbClr val="EEEEF1"/>
          </a:solidFill>
          <a:ln w="8890">
            <a:solidFill>
              <a:srgbClr val="DEDEE2"/>
            </a:solidFill>
            <a:prstDash val="solid"/>
          </a:ln>
        </p:spPr>
      </p:sp>
      <p:sp>
        <p:nvSpPr>
          <p:cNvPr id="27" name="Text 24"/>
          <p:cNvSpPr/>
          <p:nvPr/>
        </p:nvSpPr>
        <p:spPr>
          <a:xfrm>
            <a:off x="713232" y="3858768"/>
            <a:ext cx="5522976" cy="374904"/>
          </a:xfrm>
          <a:prstGeom prst="rect">
            <a:avLst/>
          </a:prstGeom>
          <a:noFill/>
          <a:ln/>
        </p:spPr>
        <p:txBody>
          <a:bodyPr wrap="square" lIns="0" tIns="0" rIns="0" bIns="0" rtlCol="0" anchor="t">
            <a:normAutofit/>
          </a:bodyPr>
          <a:lstStyle/>
          <a:p>
            <a:pPr indent="0" marL="0">
              <a:buNone/>
            </a:pPr>
            <a:r>
              <a:rPr lang="en-US" sz="1600" b="1" dirty="0">
                <a:solidFill>
                  <a:srgbClr val="242426"/>
                </a:solidFill>
                <a:latin typeface="Arial" pitchFamily="34" charset="0"/>
                <a:ea typeface="Arial" pitchFamily="34" charset="-122"/>
                <a:cs typeface="Arial" pitchFamily="34" charset="-120"/>
              </a:rPr>
              <a:t>src/agents/</a:t>
            </a:r>
            <a:endParaRPr lang="en-US" sz="1600" dirty="0"/>
          </a:p>
        </p:txBody>
      </p:sp>
      <p:sp>
        <p:nvSpPr>
          <p:cNvPr id="28" name="Shape 25"/>
          <p:cNvSpPr/>
          <p:nvPr/>
        </p:nvSpPr>
        <p:spPr>
          <a:xfrm>
            <a:off x="6355080" y="3721608"/>
            <a:ext cx="5212080" cy="557784"/>
          </a:xfrm>
          <a:prstGeom prst="rect">
            <a:avLst/>
          </a:prstGeom>
          <a:solidFill>
            <a:srgbClr val="EEEEF1"/>
          </a:solidFill>
          <a:ln w="8890">
            <a:solidFill>
              <a:srgbClr val="DEDEE2"/>
            </a:solidFill>
            <a:prstDash val="solid"/>
          </a:ln>
        </p:spPr>
      </p:sp>
      <p:sp>
        <p:nvSpPr>
          <p:cNvPr id="29" name="Text 26"/>
          <p:cNvSpPr/>
          <p:nvPr/>
        </p:nvSpPr>
        <p:spPr>
          <a:xfrm>
            <a:off x="6473952" y="3858768"/>
            <a:ext cx="4974336" cy="374904"/>
          </a:xfrm>
          <a:prstGeom prst="rect">
            <a:avLst/>
          </a:prstGeom>
          <a:noFill/>
          <a:ln/>
        </p:spPr>
        <p:txBody>
          <a:bodyPr wrap="square" lIns="0" tIns="0" rIns="0" bIns="0" rtlCol="0" anchor="t">
            <a:normAutofit/>
          </a:bodyPr>
          <a:lstStyle/>
          <a:p>
            <a:pPr indent="0" marL="0">
              <a:buNone/>
            </a:pPr>
            <a:r>
              <a:rPr lang="en-US" sz="1600" dirty="0">
                <a:solidFill>
                  <a:srgbClr val="626269"/>
                </a:solidFill>
                <a:latin typeface="Arial" pitchFamily="34" charset="0"/>
                <a:ea typeface="Arial" pitchFamily="34" charset="-122"/>
                <a:cs typeface="Arial" pitchFamily="34" charset="-120"/>
              </a:rPr>
              <a:t>Checks y cliente compartido de modelos</a:t>
            </a:r>
            <a:endParaRPr lang="en-US" sz="1600" dirty="0"/>
          </a:p>
        </p:txBody>
      </p:sp>
      <p:sp>
        <p:nvSpPr>
          <p:cNvPr id="30" name="Shape 27"/>
          <p:cNvSpPr/>
          <p:nvPr/>
        </p:nvSpPr>
        <p:spPr>
          <a:xfrm>
            <a:off x="594360" y="4279392"/>
            <a:ext cx="5760720" cy="557784"/>
          </a:xfrm>
          <a:prstGeom prst="rect">
            <a:avLst/>
          </a:prstGeom>
          <a:solidFill>
            <a:srgbClr val="FFFFFF"/>
          </a:solidFill>
          <a:ln w="8890">
            <a:solidFill>
              <a:srgbClr val="DEDEE2"/>
            </a:solidFill>
            <a:prstDash val="solid"/>
          </a:ln>
        </p:spPr>
      </p:sp>
      <p:sp>
        <p:nvSpPr>
          <p:cNvPr id="31" name="Text 28"/>
          <p:cNvSpPr/>
          <p:nvPr/>
        </p:nvSpPr>
        <p:spPr>
          <a:xfrm>
            <a:off x="713232" y="4416552"/>
            <a:ext cx="5522976" cy="374904"/>
          </a:xfrm>
          <a:prstGeom prst="rect">
            <a:avLst/>
          </a:prstGeom>
          <a:noFill/>
          <a:ln/>
        </p:spPr>
        <p:txBody>
          <a:bodyPr wrap="square" lIns="0" tIns="0" rIns="0" bIns="0" rtlCol="0" anchor="t">
            <a:normAutofit/>
          </a:bodyPr>
          <a:lstStyle/>
          <a:p>
            <a:pPr indent="0" marL="0">
              <a:buNone/>
            </a:pPr>
            <a:r>
              <a:rPr lang="en-US" sz="1600" b="1" dirty="0">
                <a:solidFill>
                  <a:srgbClr val="242426"/>
                </a:solidFill>
                <a:latin typeface="Arial" pitchFamily="34" charset="0"/>
                <a:ea typeface="Arial" pitchFamily="34" charset="-122"/>
                <a:cs typeface="Arial" pitchFamily="34" charset="-120"/>
              </a:rPr>
              <a:t>src/dashboard/public/</a:t>
            </a:r>
            <a:endParaRPr lang="en-US" sz="1600" dirty="0"/>
          </a:p>
        </p:txBody>
      </p:sp>
      <p:sp>
        <p:nvSpPr>
          <p:cNvPr id="32" name="Shape 29"/>
          <p:cNvSpPr/>
          <p:nvPr/>
        </p:nvSpPr>
        <p:spPr>
          <a:xfrm>
            <a:off x="6355080" y="4279392"/>
            <a:ext cx="5212080" cy="557784"/>
          </a:xfrm>
          <a:prstGeom prst="rect">
            <a:avLst/>
          </a:prstGeom>
          <a:solidFill>
            <a:srgbClr val="FFFFFF"/>
          </a:solidFill>
          <a:ln w="8890">
            <a:solidFill>
              <a:srgbClr val="DEDEE2"/>
            </a:solidFill>
            <a:prstDash val="solid"/>
          </a:ln>
        </p:spPr>
      </p:sp>
      <p:sp>
        <p:nvSpPr>
          <p:cNvPr id="33" name="Text 30"/>
          <p:cNvSpPr/>
          <p:nvPr/>
        </p:nvSpPr>
        <p:spPr>
          <a:xfrm>
            <a:off x="6473952" y="4416552"/>
            <a:ext cx="4974336" cy="374904"/>
          </a:xfrm>
          <a:prstGeom prst="rect">
            <a:avLst/>
          </a:prstGeom>
          <a:noFill/>
          <a:ln/>
        </p:spPr>
        <p:txBody>
          <a:bodyPr wrap="square" lIns="0" tIns="0" rIns="0" bIns="0" rtlCol="0" anchor="t">
            <a:normAutofit/>
          </a:bodyPr>
          <a:lstStyle/>
          <a:p>
            <a:pPr indent="0" marL="0">
              <a:buNone/>
            </a:pPr>
            <a:r>
              <a:rPr lang="en-US" sz="1600" dirty="0">
                <a:solidFill>
                  <a:srgbClr val="626269"/>
                </a:solidFill>
                <a:latin typeface="Arial" pitchFamily="34" charset="0"/>
                <a:ea typeface="Arial" pitchFamily="34" charset="-122"/>
                <a:cs typeface="Arial" pitchFamily="34" charset="-120"/>
              </a:rPr>
              <a:t>Interfaz, actividad y tarjetas de hallazgos</a:t>
            </a:r>
            <a:endParaRPr lang="en-US" sz="1600" dirty="0"/>
          </a:p>
        </p:txBody>
      </p:sp>
      <p:sp>
        <p:nvSpPr>
          <p:cNvPr id="34" name="Shape 31"/>
          <p:cNvSpPr/>
          <p:nvPr/>
        </p:nvSpPr>
        <p:spPr>
          <a:xfrm>
            <a:off x="594360" y="4837176"/>
            <a:ext cx="5760720" cy="557784"/>
          </a:xfrm>
          <a:prstGeom prst="rect">
            <a:avLst/>
          </a:prstGeom>
          <a:solidFill>
            <a:srgbClr val="EEEEF1"/>
          </a:solidFill>
          <a:ln w="8890">
            <a:solidFill>
              <a:srgbClr val="DEDEE2"/>
            </a:solidFill>
            <a:prstDash val="solid"/>
          </a:ln>
        </p:spPr>
      </p:sp>
      <p:sp>
        <p:nvSpPr>
          <p:cNvPr id="35" name="Text 32"/>
          <p:cNvSpPr/>
          <p:nvPr/>
        </p:nvSpPr>
        <p:spPr>
          <a:xfrm>
            <a:off x="713232" y="4974336"/>
            <a:ext cx="5522976" cy="374904"/>
          </a:xfrm>
          <a:prstGeom prst="rect">
            <a:avLst/>
          </a:prstGeom>
          <a:noFill/>
          <a:ln/>
        </p:spPr>
        <p:txBody>
          <a:bodyPr wrap="square" lIns="0" tIns="0" rIns="0" bIns="0" rtlCol="0" anchor="t">
            <a:normAutofit/>
          </a:bodyPr>
          <a:lstStyle/>
          <a:p>
            <a:pPr indent="0" marL="0">
              <a:buNone/>
            </a:pPr>
            <a:r>
              <a:rPr lang="en-US" sz="1600" b="1" dirty="0">
                <a:solidFill>
                  <a:srgbClr val="242426"/>
                </a:solidFill>
                <a:latin typeface="Arial" pitchFamily="34" charset="0"/>
                <a:ea typeface="Arial" pitchFamily="34" charset="-122"/>
                <a:cs typeface="Arial" pitchFamily="34" charset="-120"/>
              </a:rPr>
              <a:t>test/ · docs/ISSUE_SCHEMA.json</a:t>
            </a:r>
            <a:endParaRPr lang="en-US" sz="1600" dirty="0"/>
          </a:p>
        </p:txBody>
      </p:sp>
      <p:sp>
        <p:nvSpPr>
          <p:cNvPr id="36" name="Shape 33"/>
          <p:cNvSpPr/>
          <p:nvPr/>
        </p:nvSpPr>
        <p:spPr>
          <a:xfrm>
            <a:off x="6355080" y="4837176"/>
            <a:ext cx="5212080" cy="557784"/>
          </a:xfrm>
          <a:prstGeom prst="rect">
            <a:avLst/>
          </a:prstGeom>
          <a:solidFill>
            <a:srgbClr val="EEEEF1"/>
          </a:solidFill>
          <a:ln w="8890">
            <a:solidFill>
              <a:srgbClr val="DEDEE2"/>
            </a:solidFill>
            <a:prstDash val="solid"/>
          </a:ln>
        </p:spPr>
      </p:sp>
      <p:sp>
        <p:nvSpPr>
          <p:cNvPr id="37" name="Text 34"/>
          <p:cNvSpPr/>
          <p:nvPr/>
        </p:nvSpPr>
        <p:spPr>
          <a:xfrm>
            <a:off x="6473952" y="4974336"/>
            <a:ext cx="4974336" cy="374904"/>
          </a:xfrm>
          <a:prstGeom prst="rect">
            <a:avLst/>
          </a:prstGeom>
          <a:noFill/>
          <a:ln/>
        </p:spPr>
        <p:txBody>
          <a:bodyPr wrap="square" lIns="0" tIns="0" rIns="0" bIns="0" rtlCol="0" anchor="t">
            <a:normAutofit/>
          </a:bodyPr>
          <a:lstStyle/>
          <a:p>
            <a:pPr indent="0" marL="0">
              <a:buNone/>
            </a:pPr>
            <a:r>
              <a:rPr lang="en-US" sz="1600" dirty="0">
                <a:solidFill>
                  <a:srgbClr val="626269"/>
                </a:solidFill>
                <a:latin typeface="Arial" pitchFamily="34" charset="0"/>
                <a:ea typeface="Arial" pitchFamily="34" charset="-122"/>
                <a:cs typeface="Arial" pitchFamily="34" charset="-120"/>
              </a:rPr>
              <a:t>Pruebas y contrato de salida</a:t>
            </a:r>
            <a:endParaRPr lang="en-US" sz="1600" dirty="0"/>
          </a:p>
        </p:txBody>
      </p:sp>
      <p:sp>
        <p:nvSpPr>
          <p:cNvPr id="38" name="Shape 35"/>
          <p:cNvSpPr/>
          <p:nvPr/>
        </p:nvSpPr>
        <p:spPr>
          <a:xfrm>
            <a:off x="594360" y="5394960"/>
            <a:ext cx="5760720" cy="557784"/>
          </a:xfrm>
          <a:prstGeom prst="rect">
            <a:avLst/>
          </a:prstGeom>
          <a:solidFill>
            <a:srgbClr val="FFFFFF"/>
          </a:solidFill>
          <a:ln w="8890">
            <a:solidFill>
              <a:srgbClr val="DEDEE2"/>
            </a:solidFill>
            <a:prstDash val="solid"/>
          </a:ln>
        </p:spPr>
      </p:sp>
      <p:sp>
        <p:nvSpPr>
          <p:cNvPr id="39" name="Text 36"/>
          <p:cNvSpPr/>
          <p:nvPr/>
        </p:nvSpPr>
        <p:spPr>
          <a:xfrm>
            <a:off x="713232" y="5532120"/>
            <a:ext cx="5522976" cy="374904"/>
          </a:xfrm>
          <a:prstGeom prst="rect">
            <a:avLst/>
          </a:prstGeom>
          <a:noFill/>
          <a:ln/>
        </p:spPr>
        <p:txBody>
          <a:bodyPr wrap="square" lIns="0" tIns="0" rIns="0" bIns="0" rtlCol="0" anchor="t">
            <a:normAutofit/>
          </a:bodyPr>
          <a:lstStyle/>
          <a:p>
            <a:pPr indent="0" marL="0">
              <a:buNone/>
            </a:pPr>
            <a:r>
              <a:rPr lang="en-US" sz="1600" b="1" dirty="0">
                <a:solidFill>
                  <a:srgbClr val="242426"/>
                </a:solidFill>
                <a:latin typeface="Arial" pitchFamily="34" charset="0"/>
                <a:ea typeface="Arial" pitchFamily="34" charset="-122"/>
                <a:cs typeface="Arial" pitchFamily="34" charset="-120"/>
              </a:rPr>
              <a:t>platform-template/README.md · docs/HANDOFF.md</a:t>
            </a:r>
            <a:endParaRPr lang="en-US" sz="1600" dirty="0"/>
          </a:p>
        </p:txBody>
      </p:sp>
      <p:sp>
        <p:nvSpPr>
          <p:cNvPr id="40" name="Shape 37"/>
          <p:cNvSpPr/>
          <p:nvPr/>
        </p:nvSpPr>
        <p:spPr>
          <a:xfrm>
            <a:off x="6355080" y="5394960"/>
            <a:ext cx="5212080" cy="557784"/>
          </a:xfrm>
          <a:prstGeom prst="rect">
            <a:avLst/>
          </a:prstGeom>
          <a:solidFill>
            <a:srgbClr val="FFFFFF"/>
          </a:solidFill>
          <a:ln w="8890">
            <a:solidFill>
              <a:srgbClr val="DEDEE2"/>
            </a:solidFill>
            <a:prstDash val="solid"/>
          </a:ln>
        </p:spPr>
      </p:sp>
      <p:sp>
        <p:nvSpPr>
          <p:cNvPr id="41" name="Text 38"/>
          <p:cNvSpPr/>
          <p:nvPr/>
        </p:nvSpPr>
        <p:spPr>
          <a:xfrm>
            <a:off x="6473952" y="5532120"/>
            <a:ext cx="4974336" cy="374904"/>
          </a:xfrm>
          <a:prstGeom prst="rect">
            <a:avLst/>
          </a:prstGeom>
          <a:noFill/>
          <a:ln/>
        </p:spPr>
        <p:txBody>
          <a:bodyPr wrap="square" lIns="0" tIns="0" rIns="0" bIns="0" rtlCol="0" anchor="t">
            <a:normAutofit/>
          </a:bodyPr>
          <a:lstStyle/>
          <a:p>
            <a:pPr indent="0" marL="0">
              <a:buNone/>
            </a:pPr>
            <a:r>
              <a:rPr lang="en-US" sz="1600" dirty="0">
                <a:solidFill>
                  <a:srgbClr val="626269"/>
                </a:solidFill>
                <a:latin typeface="Arial" pitchFamily="34" charset="0"/>
                <a:ea typeface="Arial" pitchFamily="34" charset="-122"/>
                <a:cs typeface="Arial" pitchFamily="34" charset="-120"/>
              </a:rPr>
              <a:t>Operación, límites y próximos hitos</a:t>
            </a:r>
            <a:endParaRPr lang="en-US" sz="1600" dirty="0"/>
          </a:p>
        </p:txBody>
      </p:sp>
      <p:sp>
        <p:nvSpPr>
          <p:cNvPr id="42" name="Text 39"/>
          <p:cNvSpPr/>
          <p:nvPr/>
        </p:nvSpPr>
        <p:spPr>
          <a:xfrm>
            <a:off x="594360" y="6108192"/>
            <a:ext cx="10972800" cy="182880"/>
          </a:xfrm>
          <a:prstGeom prst="rect">
            <a:avLst/>
          </a:prstGeom>
          <a:noFill/>
          <a:ln/>
        </p:spPr>
        <p:txBody>
          <a:bodyPr wrap="square" lIns="0" tIns="0" rIns="0" bIns="0" rtlCol="0" anchor="t">
            <a:normAutofit/>
          </a:bodyPr>
          <a:lstStyle/>
          <a:p>
            <a:pPr indent="0" marL="0">
              <a:buNone/>
            </a:pPr>
            <a:r>
              <a:rPr lang="en-US" sz="1200" dirty="0">
                <a:solidFill>
                  <a:srgbClr val="626269"/>
                </a:solidFill>
                <a:latin typeface="Arial" pitchFamily="34" charset="0"/>
                <a:ea typeface="Arial" pitchFamily="34" charset="-122"/>
                <a:cs typeface="Arial" pitchFamily="34" charset="-120"/>
              </a:rPr>
              <a:t>Rutas src/ y test/ relativas a platform-template/.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Endava · Hackathon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Skynet — Autonomous QA Platform</dc:title>
  <dc:subject>Estado preliminar del proyecto — 15 de octubre de 2026</dc:subject>
  <dc:creator>Equipo Skynet</dc:creator>
  <cp:lastModifiedBy>Equipo Skynet</cp:lastModifiedBy>
  <cp:revision>1</cp:revision>
  <dcterms:created xsi:type="dcterms:W3CDTF">2026-10-15T18:09:27Z</dcterms:created>
  <dcterms:modified xsi:type="dcterms:W3CDTF">2026-10-15T18:09:27Z</dcterms:modified>
</cp:coreProperties>
</file>